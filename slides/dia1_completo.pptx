
<file path=[Content_Types].xml><?xml version="1.0" encoding="utf-8"?>
<Types xmlns="http://schemas.openxmlformats.org/package/2006/content-types">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42"/>
  </p:notesMasterIdLst>
  <p:sldIdLst>
    <p:sldId id="256" r:id="rId2"/>
    <p:sldId id="295" r:id="rId3"/>
    <p:sldId id="257" r:id="rId4"/>
    <p:sldId id="258" r:id="rId5"/>
    <p:sldId id="259" r:id="rId6"/>
    <p:sldId id="260" r:id="rId7"/>
    <p:sldId id="261" r:id="rId8"/>
    <p:sldId id="262" r:id="rId9"/>
    <p:sldId id="263" r:id="rId10"/>
    <p:sldId id="264" r:id="rId11"/>
    <p:sldId id="265" r:id="rId12"/>
    <p:sldId id="266" r:id="rId13"/>
    <p:sldId id="267" r:id="rId14"/>
    <p:sldId id="268" r:id="rId15"/>
    <p:sldId id="269" r:id="rId16"/>
    <p:sldId id="270" r:id="rId17"/>
    <p:sldId id="271" r:id="rId18"/>
    <p:sldId id="272" r:id="rId19"/>
    <p:sldId id="273" r:id="rId20"/>
    <p:sldId id="274" r:id="rId21"/>
    <p:sldId id="275" r:id="rId22"/>
    <p:sldId id="276" r:id="rId23"/>
    <p:sldId id="277" r:id="rId24"/>
    <p:sldId id="278" r:id="rId25"/>
    <p:sldId id="279" r:id="rId26"/>
    <p:sldId id="280" r:id="rId27"/>
    <p:sldId id="281" r:id="rId28"/>
    <p:sldId id="282" r:id="rId29"/>
    <p:sldId id="283" r:id="rId30"/>
    <p:sldId id="284" r:id="rId31"/>
    <p:sldId id="285" r:id="rId32"/>
    <p:sldId id="286" r:id="rId33"/>
    <p:sldId id="287" r:id="rId34"/>
    <p:sldId id="288" r:id="rId35"/>
    <p:sldId id="289" r:id="rId36"/>
    <p:sldId id="290" r:id="rId37"/>
    <p:sldId id="291" r:id="rId38"/>
    <p:sldId id="292" r:id="rId39"/>
    <p:sldId id="293" r:id="rId40"/>
    <p:sldId id="294" r:id="rId41"/>
  </p:sldIdLst>
  <p:sldSz cx="9144000" cy="5143500" type="screen16x9"/>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621"/>
    <p:restoredTop sz="94610"/>
  </p:normalViewPr>
  <p:slideViewPr>
    <p:cSldViewPr snapToGrid="0" snapToObjects="1">
      <p:cViewPr varScale="1">
        <p:scale>
          <a:sx n="139" d="100"/>
          <a:sy n="139" d="100"/>
        </p:scale>
        <p:origin x="1352" y="11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notesMaster" Target="notesMasters/notesMaster1.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presProps" Target="presProps.xml"/><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tableStyles" Target="tableStyles.xml"/><Relationship Id="rId20" Type="http://schemas.openxmlformats.org/officeDocument/2006/relationships/slide" Target="slides/slide19.xml"/><Relationship Id="rId41" Type="http://schemas.openxmlformats.org/officeDocument/2006/relationships/slide" Target="slides/slide40.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631603748"/>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Portada M1.</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Diferencia clave.</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DEMO EN VIVO. Instruccion: 'Lee este paper y el repositorio. Hazme un plan de reimplementacion del nucleo TFA en Python moderno. Espera mi confirmacion antes de ejecutar.'</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Mostrar el repo real en GitHub en vivo: github.com/cristinamunoz/curso-analisis-claude. Navegar cada carpeta. docs/ tiene el programa y los pasos de cada mañana — los alumnos los usarán como guía durante el curso.</a:t>
            </a:r>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clave para motivar el uso de Git. El punto central: en ciencia con IA, el CLAUDE.md y los prompts son tan importantes como el codigo — y Git es lo que los versiona. Sin Git, el analisis no es reproducible aunque el codigo funcione.</a:t>
            </a:r>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El punto central: no es la complejidad del analisis lo que consume tokens, sino cuantos archivos cargas al contexto. Bray-Curtis simple vs. multicapa es solo un ejemplo — lo mismo aplica a cualquier analisis donde el alumno tenga la tentacion de cargar todo a la vez.</a:t>
            </a:r>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clave para el dia 2 — cuando los alumnos vayan a correr analisis largos, necesitan saber que el contexto tiene un limite y que se reinicia cada 5 horas. La idea de planificar la sesion en torno a ese ciclo es fundamental.</a:t>
            </a:r>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Este slide resume las practicas mas importantes del dia. /memory es especialmente util para el curso — pedirle al agente que recuerde el nombre del proyecto y las convenciones de guardado evita tener que repetirlas en cada sesion.</a:t>
            </a:r>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Contaminacion de contexto entre proyectos — produce resultados incorrectos sin dar error. La solucion es /clear + CLAUDE.md por proyecto.</a:t>
            </a:r>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EJERCICIO 3 MEJORADO. El punto es que Haiku tipicamente dira 'si, p&lt;0.05 es significativo, el resultado es valido'. Sonnet deberia notar: (1) R2=0.08 es muy bajo, (2) n=5 por grupo limita las permutaciones posibles a 625 para 4 grupos, haciendo que 999 permutaciones no cubra el espacio, (3) el p=0.048 borderline en ese contexto es debil evidencia. Esa diferencia de razonamiento es lo que justifica usar Sonnet para analisis reales.</a:t>
            </a:r>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Este slide establece los tipos de skills antes de mostrar como se escribe una. Los 4 tipos son los mas comunes en contextos cientificos. El trigger es la palabra o frase que el agente detecta en el prompt para activar la skill.</a:t>
            </a:r>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 diferencia estructural es el frontmatter YAML con 'name' y 'trigger'. Sin ese header, el archivo es solo texto de contexto. Con el header, Claude Code sabe que es una skill y la activa cuando detecta el trigger en el prompt.</a:t>
            </a:r>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Este slide muestra el futuro proximo del trabajo cientifico con IA. Los MCPs de literatura (PubMed) ya estan disponibles. Los de bases de datos biologicas estan en desarrollo activo. Los skills de microbioma y modelado metabolico son exactamente lo que este curso esta construyendo como prototipo.</a:t>
            </a:r>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40</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1.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1.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1.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1.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1.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1.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1.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1.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1.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1.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1.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1.xml"/></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30.xml"/><Relationship Id="rId1" Type="http://schemas.openxmlformats.org/officeDocument/2006/relationships/slideLayout" Target="../slideLayouts/slideLayout1.xml"/></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31.xml"/><Relationship Id="rId1" Type="http://schemas.openxmlformats.org/officeDocument/2006/relationships/slideLayout" Target="../slideLayouts/slideLayout1.xml"/></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32.xml"/><Relationship Id="rId1" Type="http://schemas.openxmlformats.org/officeDocument/2006/relationships/slideLayout" Target="../slideLayouts/slideLayout1.xml"/></Relationships>
</file>

<file path=ppt/slides/_rels/slide33.xml.rels><?xml version="1.0" encoding="UTF-8" standalone="yes"?>
<Relationships xmlns="http://schemas.openxmlformats.org/package/2006/relationships"><Relationship Id="rId2" Type="http://schemas.openxmlformats.org/officeDocument/2006/relationships/notesSlide" Target="../notesSlides/notesSlide33.xml"/><Relationship Id="rId1" Type="http://schemas.openxmlformats.org/officeDocument/2006/relationships/slideLayout" Target="../slideLayouts/slideLayout1.xml"/></Relationships>
</file>

<file path=ppt/slides/_rels/slide34.xml.rels><?xml version="1.0" encoding="UTF-8" standalone="yes"?>
<Relationships xmlns="http://schemas.openxmlformats.org/package/2006/relationships"><Relationship Id="rId2" Type="http://schemas.openxmlformats.org/officeDocument/2006/relationships/notesSlide" Target="../notesSlides/notesSlide34.xml"/><Relationship Id="rId1" Type="http://schemas.openxmlformats.org/officeDocument/2006/relationships/slideLayout" Target="../slideLayouts/slideLayout1.xml"/></Relationships>
</file>

<file path=ppt/slides/_rels/slide35.xml.rels><?xml version="1.0" encoding="UTF-8" standalone="yes"?>
<Relationships xmlns="http://schemas.openxmlformats.org/package/2006/relationships"><Relationship Id="rId2" Type="http://schemas.openxmlformats.org/officeDocument/2006/relationships/notesSlide" Target="../notesSlides/notesSlide35.xml"/><Relationship Id="rId1" Type="http://schemas.openxmlformats.org/officeDocument/2006/relationships/slideLayout" Target="../slideLayouts/slideLayout1.xml"/></Relationships>
</file>

<file path=ppt/slides/_rels/slide36.xml.rels><?xml version="1.0" encoding="UTF-8" standalone="yes"?>
<Relationships xmlns="http://schemas.openxmlformats.org/package/2006/relationships"><Relationship Id="rId2" Type="http://schemas.openxmlformats.org/officeDocument/2006/relationships/notesSlide" Target="../notesSlides/notesSlide36.xml"/><Relationship Id="rId1" Type="http://schemas.openxmlformats.org/officeDocument/2006/relationships/slideLayout" Target="../slideLayouts/slideLayout1.xml"/></Relationships>
</file>

<file path=ppt/slides/_rels/slide37.xml.rels><?xml version="1.0" encoding="UTF-8" standalone="yes"?>
<Relationships xmlns="http://schemas.openxmlformats.org/package/2006/relationships"><Relationship Id="rId2" Type="http://schemas.openxmlformats.org/officeDocument/2006/relationships/notesSlide" Target="../notesSlides/notesSlide37.xml"/><Relationship Id="rId1" Type="http://schemas.openxmlformats.org/officeDocument/2006/relationships/slideLayout" Target="../slideLayouts/slideLayout1.xml"/></Relationships>
</file>

<file path=ppt/slides/_rels/slide38.xml.rels><?xml version="1.0" encoding="UTF-8" standalone="yes"?>
<Relationships xmlns="http://schemas.openxmlformats.org/package/2006/relationships"><Relationship Id="rId2" Type="http://schemas.openxmlformats.org/officeDocument/2006/relationships/notesSlide" Target="../notesSlides/notesSlide38.xml"/><Relationship Id="rId1" Type="http://schemas.openxmlformats.org/officeDocument/2006/relationships/slideLayout" Target="../slideLayouts/slideLayout1.xml"/></Relationships>
</file>

<file path=ppt/slides/_rels/slide39.xml.rels><?xml version="1.0" encoding="UTF-8" standalone="yes"?>
<Relationships xmlns="http://schemas.openxmlformats.org/package/2006/relationships"><Relationship Id="rId2" Type="http://schemas.openxmlformats.org/officeDocument/2006/relationships/notesSlide" Target="../notesSlides/notesSlide39.xml"/><Relationship Id="rId1" Type="http://schemas.openxmlformats.org/officeDocument/2006/relationships/slideLayout" Target="../slideLayouts/slideLayout1.xml"/></Relationships>
</file>

<file path=ppt/slides/_rels/slide40.xml.rels><?xml version="1.0" encoding="UTF-8" standalone="yes"?>
<Relationships xmlns="http://schemas.openxmlformats.org/package/2006/relationships"><Relationship Id="rId2" Type="http://schemas.openxmlformats.org/officeDocument/2006/relationships/notesSlide" Target="../notesSlides/notesSlide40.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A1A2E"/>
        </a:solidFill>
        <a:effectLst/>
      </p:bgPr>
    </p:bg>
    <p:spTree>
      <p:nvGrpSpPr>
        <p:cNvPr id="1" name=""/>
        <p:cNvGrpSpPr/>
        <p:nvPr/>
      </p:nvGrpSpPr>
      <p:grpSpPr>
        <a:xfrm>
          <a:off x="0" y="0"/>
          <a:ext cx="0" cy="0"/>
          <a:chOff x="0" y="0"/>
          <a:chExt cx="0" cy="0"/>
        </a:xfrm>
      </p:grpSpPr>
      <p:sp>
        <p:nvSpPr>
          <p:cNvPr id="2" name="Shape 0"/>
          <p:cNvSpPr/>
          <p:nvPr/>
        </p:nvSpPr>
        <p:spPr>
          <a:xfrm>
            <a:off x="5943600" y="-1097280"/>
            <a:ext cx="5029200" cy="5029200"/>
          </a:xfrm>
          <a:prstGeom prst="ellipse">
            <a:avLst/>
          </a:prstGeom>
          <a:solidFill>
            <a:srgbClr val="534AB7">
              <a:alpha val="25000"/>
            </a:srgbClr>
          </a:solidFill>
          <a:ln w="12700">
            <a:solidFill>
              <a:srgbClr val="534AB7">
                <a:alpha val="25000"/>
              </a:srgbClr>
            </a:solidFill>
            <a:prstDash val="solid"/>
          </a:ln>
        </p:spPr>
        <p:txBody>
          <a:bodyPr/>
          <a:lstStyle/>
          <a:p>
            <a:endParaRPr lang="es-ES_tradnl"/>
          </a:p>
        </p:txBody>
      </p:sp>
      <p:sp>
        <p:nvSpPr>
          <p:cNvPr id="3" name="Shape 1"/>
          <p:cNvSpPr/>
          <p:nvPr/>
        </p:nvSpPr>
        <p:spPr>
          <a:xfrm>
            <a:off x="-1371600" y="3200400"/>
            <a:ext cx="3657600" cy="3657600"/>
          </a:xfrm>
          <a:prstGeom prst="ellipse">
            <a:avLst/>
          </a:prstGeom>
          <a:solidFill>
            <a:srgbClr val="1D9E75">
              <a:alpha val="20000"/>
            </a:srgbClr>
          </a:solidFill>
          <a:ln w="12700">
            <a:solidFill>
              <a:srgbClr val="1D9E75">
                <a:alpha val="20000"/>
              </a:srgbClr>
            </a:solidFill>
            <a:prstDash val="solid"/>
          </a:ln>
        </p:spPr>
        <p:txBody>
          <a:bodyPr/>
          <a:lstStyle/>
          <a:p>
            <a:endParaRPr lang="es-ES_tradnl"/>
          </a:p>
        </p:txBody>
      </p:sp>
      <p:sp>
        <p:nvSpPr>
          <p:cNvPr id="4" name="Text 2"/>
          <p:cNvSpPr/>
          <p:nvPr/>
        </p:nvSpPr>
        <p:spPr>
          <a:xfrm>
            <a:off x="640080" y="914400"/>
            <a:ext cx="7772400" cy="411480"/>
          </a:xfrm>
          <a:prstGeom prst="rect">
            <a:avLst/>
          </a:prstGeom>
          <a:noFill/>
          <a:ln/>
        </p:spPr>
        <p:txBody>
          <a:bodyPr wrap="square" lIns="0" tIns="0" rIns="0" bIns="0" rtlCol="0" anchor="ctr"/>
          <a:lstStyle/>
          <a:p>
            <a:pPr marL="0" indent="0">
              <a:buNone/>
            </a:pPr>
            <a:r>
              <a:rPr lang="en-US" sz="1300" b="1" kern="0" spc="400" dirty="0">
                <a:solidFill>
                  <a:srgbClr val="7B74D4"/>
                </a:solidFill>
                <a:latin typeface="Calibri" pitchFamily="34" charset="0"/>
                <a:ea typeface="Calibri" pitchFamily="34" charset="-122"/>
                <a:cs typeface="Calibri" pitchFamily="34" charset="-120"/>
              </a:rPr>
              <a:t>Módulo 1</a:t>
            </a:r>
            <a:endParaRPr lang="en-US" sz="1300" dirty="0"/>
          </a:p>
        </p:txBody>
      </p:sp>
      <p:sp>
        <p:nvSpPr>
          <p:cNvPr id="5" name="Text 3"/>
          <p:cNvSpPr/>
          <p:nvPr/>
        </p:nvSpPr>
        <p:spPr>
          <a:xfrm>
            <a:off x="640080" y="1371600"/>
            <a:ext cx="7772400" cy="1097280"/>
          </a:xfrm>
          <a:prstGeom prst="rect">
            <a:avLst/>
          </a:prstGeom>
          <a:noFill/>
          <a:ln/>
        </p:spPr>
        <p:txBody>
          <a:bodyPr wrap="square" lIns="0" tIns="0" rIns="0" bIns="0" rtlCol="0" anchor="ctr"/>
          <a:lstStyle/>
          <a:p>
            <a:pPr marL="0" indent="0">
              <a:buNone/>
            </a:pPr>
            <a:r>
              <a:rPr lang="en-US" sz="4000" b="1" dirty="0">
                <a:solidFill>
                  <a:srgbClr val="FFFFFF"/>
                </a:solidFill>
                <a:latin typeface="Cambria" pitchFamily="34" charset="0"/>
                <a:ea typeface="Cambria" pitchFamily="34" charset="-122"/>
                <a:cs typeface="Cambria" pitchFamily="34" charset="-120"/>
              </a:rPr>
              <a:t>¿Qué es un agente de IA?</a:t>
            </a:r>
            <a:endParaRPr lang="en-US" sz="4000" dirty="0"/>
          </a:p>
        </p:txBody>
      </p:sp>
      <p:sp>
        <p:nvSpPr>
          <p:cNvPr id="6" name="Text 4"/>
          <p:cNvSpPr/>
          <p:nvPr/>
        </p:nvSpPr>
        <p:spPr>
          <a:xfrm>
            <a:off x="640080" y="2606040"/>
            <a:ext cx="6858000" cy="640080"/>
          </a:xfrm>
          <a:prstGeom prst="rect">
            <a:avLst/>
          </a:prstGeom>
          <a:noFill/>
          <a:ln/>
        </p:spPr>
        <p:txBody>
          <a:bodyPr wrap="square" lIns="0" tIns="0" rIns="0" bIns="0" rtlCol="0" anchor="ctr"/>
          <a:lstStyle/>
          <a:p>
            <a:pPr marL="0" indent="0">
              <a:buNone/>
            </a:pPr>
            <a:r>
              <a:rPr lang="en-US" sz="1500" i="1" dirty="0">
                <a:solidFill>
                  <a:srgbClr val="7B74D4"/>
                </a:solidFill>
                <a:latin typeface="Calibri" pitchFamily="34" charset="0"/>
                <a:ea typeface="Calibri" pitchFamily="34" charset="-122"/>
                <a:cs typeface="Calibri" pitchFamily="34" charset="-120"/>
              </a:rPr>
              <a:t>Y por qué cambia todo cuando puede leer tus datos y ejecutar código</a:t>
            </a:r>
            <a:endParaRPr lang="en-US" sz="1500" dirty="0"/>
          </a:p>
        </p:txBody>
      </p:sp>
      <p:sp>
        <p:nvSpPr>
          <p:cNvPr id="7" name="Shape 5"/>
          <p:cNvSpPr/>
          <p:nvPr/>
        </p:nvSpPr>
        <p:spPr>
          <a:xfrm>
            <a:off x="640080" y="3383280"/>
            <a:ext cx="2286000" cy="0"/>
          </a:xfrm>
          <a:prstGeom prst="line">
            <a:avLst/>
          </a:prstGeom>
          <a:noFill/>
          <a:ln w="31750">
            <a:solidFill>
              <a:srgbClr val="1D9E75"/>
            </a:solidFill>
            <a:prstDash val="solid"/>
          </a:ln>
        </p:spPr>
        <p:txBody>
          <a:bodyPr/>
          <a:lstStyle/>
          <a:p>
            <a:endParaRPr lang="es-ES_tradnl"/>
          </a:p>
        </p:txBody>
      </p:sp>
      <p:sp>
        <p:nvSpPr>
          <p:cNvPr id="8" name="Text 6"/>
          <p:cNvSpPr/>
          <p:nvPr/>
        </p:nvSpPr>
        <p:spPr>
          <a:xfrm>
            <a:off x="640080" y="4480560"/>
            <a:ext cx="7772400" cy="320040"/>
          </a:xfrm>
          <a:prstGeom prst="rect">
            <a:avLst/>
          </a:prstGeom>
          <a:noFill/>
          <a:ln/>
        </p:spPr>
        <p:txBody>
          <a:bodyPr wrap="square" lIns="0" tIns="0" rIns="0" bIns="0" rtlCol="0" anchor="ctr"/>
          <a:lstStyle/>
          <a:p>
            <a:pPr marL="0" indent="0">
              <a:buNone/>
            </a:pPr>
            <a:r>
              <a:rPr lang="en-US" sz="1000" dirty="0">
                <a:solidFill>
                  <a:srgbClr val="888780"/>
                </a:solidFill>
                <a:latin typeface="Calibri" pitchFamily="34" charset="0"/>
                <a:ea typeface="Calibri" pitchFamily="34" charset="-122"/>
                <a:cs typeface="Calibri" pitchFamily="34" charset="-120"/>
              </a:rPr>
              <a:t>Ecología de Comunidades con Claude Code  ·  Neilson et al. 2017</a:t>
            </a:r>
            <a:endParaRPr lang="en-US" sz="10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nvSpPr>
        <p:spPr>
          <a:xfrm>
            <a:off x="457200" y="228600"/>
            <a:ext cx="8229600" cy="566928"/>
          </a:xfrm>
          <a:prstGeom prst="rect">
            <a:avLst/>
          </a:prstGeom>
          <a:noFill/>
          <a:ln/>
        </p:spPr>
        <p:txBody>
          <a:bodyPr wrap="square" lIns="0" tIns="0" rIns="0" bIns="0" rtlCol="0" anchor="ctr"/>
          <a:lstStyle/>
          <a:p>
            <a:pPr marL="0" indent="0">
              <a:buNone/>
            </a:pPr>
            <a:r>
              <a:rPr lang="en-US" sz="2700" b="1" dirty="0">
                <a:solidFill>
                  <a:srgbClr val="2C2C2A"/>
                </a:solidFill>
                <a:latin typeface="Cambria" pitchFamily="34" charset="0"/>
                <a:ea typeface="Cambria" pitchFamily="34" charset="-122"/>
                <a:cs typeface="Cambria" pitchFamily="34" charset="-120"/>
              </a:rPr>
              <a:t>Claude vs. Claude Code</a:t>
            </a:r>
            <a:endParaRPr lang="en-US" sz="2700" dirty="0"/>
          </a:p>
        </p:txBody>
      </p:sp>
      <p:sp>
        <p:nvSpPr>
          <p:cNvPr id="4" name="Shape 2"/>
          <p:cNvSpPr/>
          <p:nvPr/>
        </p:nvSpPr>
        <p:spPr>
          <a:xfrm>
            <a:off x="315468" y="717804"/>
            <a:ext cx="3819794" cy="3538728"/>
          </a:xfrm>
          <a:prstGeom prst="roundRect">
            <a:avLst>
              <a:gd name="adj" fmla="val 2715"/>
            </a:avLst>
          </a:prstGeom>
          <a:solidFill>
            <a:srgbClr val="FFFFFF"/>
          </a:solidFill>
          <a:ln w="6350">
            <a:solidFill>
              <a:srgbClr val="D3D1C7"/>
            </a:solidFill>
            <a:prstDash val="solid"/>
          </a:ln>
          <a:effectLst>
            <a:outerShdw blurRad="88900" dist="25400" dir="2700000" algn="bl" rotWithShape="0">
              <a:srgbClr val="000000">
                <a:alpha val="11000"/>
              </a:srgbClr>
            </a:outerShdw>
          </a:effectLst>
        </p:spPr>
        <p:txBody>
          <a:bodyPr/>
          <a:lstStyle/>
          <a:p>
            <a:endParaRPr lang="es-ES_tradnl"/>
          </a:p>
        </p:txBody>
      </p:sp>
      <p:sp>
        <p:nvSpPr>
          <p:cNvPr id="5" name="Shape 3"/>
          <p:cNvSpPr/>
          <p:nvPr/>
        </p:nvSpPr>
        <p:spPr>
          <a:xfrm>
            <a:off x="470916" y="845820"/>
            <a:ext cx="1234440" cy="347472"/>
          </a:xfrm>
          <a:prstGeom prst="roundRect">
            <a:avLst>
              <a:gd name="adj" fmla="val 21053"/>
            </a:avLst>
          </a:prstGeom>
          <a:solidFill>
            <a:srgbClr val="EEEDFE"/>
          </a:solidFill>
          <a:ln w="6350">
            <a:solidFill>
              <a:srgbClr val="534AB7"/>
            </a:solidFill>
            <a:prstDash val="solid"/>
          </a:ln>
        </p:spPr>
        <p:txBody>
          <a:bodyPr/>
          <a:lstStyle/>
          <a:p>
            <a:endParaRPr lang="es-ES_tradnl"/>
          </a:p>
        </p:txBody>
      </p:sp>
      <p:sp>
        <p:nvSpPr>
          <p:cNvPr id="6" name="Text 4"/>
          <p:cNvSpPr/>
          <p:nvPr/>
        </p:nvSpPr>
        <p:spPr>
          <a:xfrm>
            <a:off x="470916" y="845820"/>
            <a:ext cx="1234440" cy="347472"/>
          </a:xfrm>
          <a:prstGeom prst="rect">
            <a:avLst/>
          </a:prstGeom>
          <a:noFill/>
          <a:ln/>
        </p:spPr>
        <p:txBody>
          <a:bodyPr wrap="square" lIns="0" tIns="0" rIns="0" bIns="0" rtlCol="0" anchor="ctr"/>
          <a:lstStyle/>
          <a:p>
            <a:pPr marL="0" indent="0" algn="ctr">
              <a:buNone/>
            </a:pPr>
            <a:r>
              <a:rPr lang="en-US" sz="900" b="1" dirty="0">
                <a:solidFill>
                  <a:srgbClr val="534AB7"/>
                </a:solidFill>
                <a:latin typeface="Calibri" pitchFamily="34" charset="0"/>
                <a:ea typeface="Calibri" pitchFamily="34" charset="-122"/>
                <a:cs typeface="Calibri" pitchFamily="34" charset="-120"/>
              </a:rPr>
              <a:t>El modelo</a:t>
            </a:r>
            <a:endParaRPr lang="en-US" sz="900" dirty="0"/>
          </a:p>
        </p:txBody>
      </p:sp>
      <p:sp>
        <p:nvSpPr>
          <p:cNvPr id="7" name="Text 5"/>
          <p:cNvSpPr/>
          <p:nvPr/>
        </p:nvSpPr>
        <p:spPr>
          <a:xfrm>
            <a:off x="470916" y="1284732"/>
            <a:ext cx="3749040" cy="475488"/>
          </a:xfrm>
          <a:prstGeom prst="rect">
            <a:avLst/>
          </a:prstGeom>
          <a:noFill/>
          <a:ln/>
        </p:spPr>
        <p:txBody>
          <a:bodyPr wrap="square" lIns="0" tIns="0" rIns="0" bIns="0" rtlCol="0" anchor="ctr"/>
          <a:lstStyle/>
          <a:p>
            <a:pPr marL="0" indent="0">
              <a:buNone/>
            </a:pPr>
            <a:r>
              <a:rPr lang="en-US" sz="1800" b="1" dirty="0">
                <a:solidFill>
                  <a:srgbClr val="534AB7"/>
                </a:solidFill>
                <a:latin typeface="Cambria" pitchFamily="34" charset="0"/>
                <a:ea typeface="Cambria" pitchFamily="34" charset="-122"/>
                <a:cs typeface="Cambria" pitchFamily="34" charset="-120"/>
              </a:rPr>
              <a:t>🧠  Claude</a:t>
            </a:r>
            <a:endParaRPr lang="en-US" sz="1800" dirty="0"/>
          </a:p>
        </p:txBody>
      </p:sp>
      <p:sp>
        <p:nvSpPr>
          <p:cNvPr id="8" name="Text 6"/>
          <p:cNvSpPr/>
          <p:nvPr/>
        </p:nvSpPr>
        <p:spPr>
          <a:xfrm>
            <a:off x="470916" y="1787652"/>
            <a:ext cx="3749040" cy="640080"/>
          </a:xfrm>
          <a:prstGeom prst="rect">
            <a:avLst/>
          </a:prstGeom>
          <a:noFill/>
          <a:ln/>
        </p:spPr>
        <p:txBody>
          <a:bodyPr wrap="square" lIns="0" tIns="0" rIns="0" bIns="0" rtlCol="0" anchor="ctr"/>
          <a:lstStyle/>
          <a:p>
            <a:pPr marL="0" indent="0">
              <a:buNone/>
            </a:pPr>
            <a:r>
              <a:rPr lang="en-US" sz="1000" dirty="0">
                <a:solidFill>
                  <a:srgbClr val="5F5E5A"/>
                </a:solidFill>
                <a:latin typeface="Calibri" pitchFamily="34" charset="0"/>
                <a:ea typeface="Calibri" pitchFamily="34" charset="-122"/>
                <a:cs typeface="Calibri" pitchFamily="34" charset="-120"/>
              </a:rPr>
              <a:t>El sistema de inteligencia artificial desarrollado por Anthropic. Razona, escribe, analiza y responde.</a:t>
            </a:r>
            <a:endParaRPr lang="en-US" sz="1000" dirty="0"/>
          </a:p>
        </p:txBody>
      </p:sp>
      <p:sp>
        <p:nvSpPr>
          <p:cNvPr id="9" name="Text 7"/>
          <p:cNvSpPr/>
          <p:nvPr/>
        </p:nvSpPr>
        <p:spPr>
          <a:xfrm>
            <a:off x="534924" y="2290572"/>
            <a:ext cx="3657600" cy="438912"/>
          </a:xfrm>
          <a:prstGeom prst="rect">
            <a:avLst/>
          </a:prstGeom>
          <a:noFill/>
          <a:ln/>
        </p:spPr>
        <p:txBody>
          <a:bodyPr wrap="square" lIns="0" tIns="0" rIns="0" bIns="0" rtlCol="0" anchor="ctr"/>
          <a:lstStyle/>
          <a:p>
            <a:pPr marL="0" indent="0">
              <a:buNone/>
            </a:pPr>
            <a:r>
              <a:rPr lang="en-US" sz="950" dirty="0">
                <a:solidFill>
                  <a:srgbClr val="5F5E5A"/>
                </a:solidFill>
                <a:latin typeface="Calibri" pitchFamily="34" charset="0"/>
                <a:ea typeface="Calibri" pitchFamily="34" charset="-122"/>
                <a:cs typeface="Calibri" pitchFamily="34" charset="-120"/>
              </a:rPr>
              <a:t>· Accesible vía claude.ai (navegador), API, o herramientas construidas sobre él</a:t>
            </a:r>
            <a:endParaRPr lang="en-US" sz="950" dirty="0"/>
          </a:p>
        </p:txBody>
      </p:sp>
      <p:sp>
        <p:nvSpPr>
          <p:cNvPr id="10" name="Text 8"/>
          <p:cNvSpPr/>
          <p:nvPr/>
        </p:nvSpPr>
        <p:spPr>
          <a:xfrm>
            <a:off x="534924" y="2766060"/>
            <a:ext cx="3657600" cy="438912"/>
          </a:xfrm>
          <a:prstGeom prst="rect">
            <a:avLst/>
          </a:prstGeom>
          <a:noFill/>
          <a:ln/>
        </p:spPr>
        <p:txBody>
          <a:bodyPr wrap="square" lIns="0" tIns="0" rIns="0" bIns="0" rtlCol="0" anchor="ctr"/>
          <a:lstStyle/>
          <a:p>
            <a:pPr marL="0" indent="0">
              <a:buNone/>
            </a:pPr>
            <a:r>
              <a:rPr lang="en-US" sz="950" dirty="0">
                <a:solidFill>
                  <a:srgbClr val="5F5E5A"/>
                </a:solidFill>
                <a:latin typeface="Calibri" pitchFamily="34" charset="0"/>
                <a:ea typeface="Calibri" pitchFamily="34" charset="-122"/>
                <a:cs typeface="Calibri" pitchFamily="34" charset="-120"/>
              </a:rPr>
              <a:t>· claude.ai es conversacional: solo lees y escribes texto</a:t>
            </a:r>
            <a:endParaRPr lang="en-US" sz="950" dirty="0"/>
          </a:p>
        </p:txBody>
      </p:sp>
      <p:sp>
        <p:nvSpPr>
          <p:cNvPr id="11" name="Text 9"/>
          <p:cNvSpPr/>
          <p:nvPr/>
        </p:nvSpPr>
        <p:spPr>
          <a:xfrm>
            <a:off x="534924" y="3241548"/>
            <a:ext cx="3657600" cy="438912"/>
          </a:xfrm>
          <a:prstGeom prst="rect">
            <a:avLst/>
          </a:prstGeom>
          <a:noFill/>
          <a:ln/>
        </p:spPr>
        <p:txBody>
          <a:bodyPr wrap="square" lIns="0" tIns="0" rIns="0" bIns="0" rtlCol="0" anchor="ctr"/>
          <a:lstStyle/>
          <a:p>
            <a:pPr marL="0" indent="0">
              <a:buNone/>
            </a:pPr>
            <a:r>
              <a:rPr lang="en-US" sz="950" dirty="0">
                <a:solidFill>
                  <a:srgbClr val="5F5E5A"/>
                </a:solidFill>
                <a:latin typeface="Calibri" pitchFamily="34" charset="0"/>
                <a:ea typeface="Calibri" pitchFamily="34" charset="-122"/>
                <a:cs typeface="Calibri" pitchFamily="34" charset="-120"/>
              </a:rPr>
              <a:t>· No tiene acceso a tu computador ni a tus archivos</a:t>
            </a:r>
            <a:endParaRPr lang="en-US" sz="950" dirty="0"/>
          </a:p>
        </p:txBody>
      </p:sp>
      <p:sp>
        <p:nvSpPr>
          <p:cNvPr id="12" name="Text 10"/>
          <p:cNvSpPr/>
          <p:nvPr/>
        </p:nvSpPr>
        <p:spPr>
          <a:xfrm>
            <a:off x="516636" y="3616452"/>
            <a:ext cx="3657600" cy="438912"/>
          </a:xfrm>
          <a:prstGeom prst="rect">
            <a:avLst/>
          </a:prstGeom>
          <a:noFill/>
          <a:ln/>
        </p:spPr>
        <p:txBody>
          <a:bodyPr wrap="square" lIns="0" tIns="0" rIns="0" bIns="0" rtlCol="0" anchor="ctr"/>
          <a:lstStyle/>
          <a:p>
            <a:pPr marL="0" indent="0">
              <a:buNone/>
            </a:pPr>
            <a:r>
              <a:rPr lang="en-US" sz="950" dirty="0">
                <a:solidFill>
                  <a:srgbClr val="5F5E5A"/>
                </a:solidFill>
                <a:latin typeface="Calibri" pitchFamily="34" charset="0"/>
                <a:ea typeface="Calibri" pitchFamily="34" charset="-122"/>
                <a:cs typeface="Calibri" pitchFamily="34" charset="-120"/>
              </a:rPr>
              <a:t>· No ejecuta código real — describe qué haría</a:t>
            </a:r>
            <a:endParaRPr lang="en-US" sz="950" dirty="0"/>
          </a:p>
        </p:txBody>
      </p:sp>
      <p:sp>
        <p:nvSpPr>
          <p:cNvPr id="13" name="Shape 11"/>
          <p:cNvSpPr/>
          <p:nvPr/>
        </p:nvSpPr>
        <p:spPr>
          <a:xfrm>
            <a:off x="4677156" y="717804"/>
            <a:ext cx="4114800" cy="3538728"/>
          </a:xfrm>
          <a:prstGeom prst="roundRect">
            <a:avLst>
              <a:gd name="adj" fmla="val 2715"/>
            </a:avLst>
          </a:prstGeom>
          <a:solidFill>
            <a:srgbClr val="534AB7"/>
          </a:solidFill>
          <a:ln w="6350">
            <a:solidFill>
              <a:srgbClr val="534AB7"/>
            </a:solidFill>
            <a:prstDash val="solid"/>
          </a:ln>
          <a:effectLst>
            <a:outerShdw blurRad="88900" dist="25400" dir="2700000" algn="bl" rotWithShape="0">
              <a:srgbClr val="000000">
                <a:alpha val="11000"/>
              </a:srgbClr>
            </a:outerShdw>
          </a:effectLst>
        </p:spPr>
        <p:txBody>
          <a:bodyPr/>
          <a:lstStyle/>
          <a:p>
            <a:endParaRPr lang="es-ES_tradnl"/>
          </a:p>
        </p:txBody>
      </p:sp>
      <p:sp>
        <p:nvSpPr>
          <p:cNvPr id="14" name="Shape 12"/>
          <p:cNvSpPr/>
          <p:nvPr/>
        </p:nvSpPr>
        <p:spPr>
          <a:xfrm>
            <a:off x="4814316" y="859536"/>
            <a:ext cx="1417320" cy="347472"/>
          </a:xfrm>
          <a:prstGeom prst="roundRect">
            <a:avLst>
              <a:gd name="adj" fmla="val 21053"/>
            </a:avLst>
          </a:prstGeom>
          <a:solidFill>
            <a:srgbClr val="3C3489"/>
          </a:solidFill>
          <a:ln w="6350">
            <a:solidFill>
              <a:srgbClr val="6B62C8"/>
            </a:solidFill>
            <a:prstDash val="solid"/>
          </a:ln>
        </p:spPr>
        <p:txBody>
          <a:bodyPr/>
          <a:lstStyle/>
          <a:p>
            <a:endParaRPr lang="es-ES_tradnl"/>
          </a:p>
        </p:txBody>
      </p:sp>
      <p:sp>
        <p:nvSpPr>
          <p:cNvPr id="15" name="Text 13"/>
          <p:cNvSpPr/>
          <p:nvPr/>
        </p:nvSpPr>
        <p:spPr>
          <a:xfrm>
            <a:off x="4823460" y="845820"/>
            <a:ext cx="1417320" cy="347472"/>
          </a:xfrm>
          <a:prstGeom prst="rect">
            <a:avLst/>
          </a:prstGeom>
          <a:noFill/>
          <a:ln/>
        </p:spPr>
        <p:txBody>
          <a:bodyPr wrap="square" lIns="0" tIns="0" rIns="0" bIns="0" rtlCol="0" anchor="ctr"/>
          <a:lstStyle/>
          <a:p>
            <a:pPr marL="0" indent="0" algn="ctr">
              <a:buNone/>
            </a:pPr>
            <a:r>
              <a:rPr lang="en-US" sz="900" b="1" dirty="0">
                <a:solidFill>
                  <a:srgbClr val="EEEDFE"/>
                </a:solidFill>
                <a:latin typeface="Calibri" pitchFamily="34" charset="0"/>
                <a:ea typeface="Calibri" pitchFamily="34" charset="-122"/>
                <a:cs typeface="Calibri" pitchFamily="34" charset="-120"/>
              </a:rPr>
              <a:t>Claude + herramientas</a:t>
            </a:r>
            <a:endParaRPr lang="en-US" sz="900" dirty="0"/>
          </a:p>
        </p:txBody>
      </p:sp>
      <p:sp>
        <p:nvSpPr>
          <p:cNvPr id="16" name="Text 14"/>
          <p:cNvSpPr/>
          <p:nvPr/>
        </p:nvSpPr>
        <p:spPr>
          <a:xfrm>
            <a:off x="4823460" y="1284732"/>
            <a:ext cx="3749040" cy="475488"/>
          </a:xfrm>
          <a:prstGeom prst="rect">
            <a:avLst/>
          </a:prstGeom>
          <a:noFill/>
          <a:ln/>
        </p:spPr>
        <p:txBody>
          <a:bodyPr wrap="square" lIns="0" tIns="0" rIns="0" bIns="0" rtlCol="0" anchor="ctr"/>
          <a:lstStyle/>
          <a:p>
            <a:pPr marL="0" indent="0">
              <a:buNone/>
            </a:pPr>
            <a:r>
              <a:rPr lang="en-US" sz="1800" b="1" dirty="0">
                <a:solidFill>
                  <a:srgbClr val="FFFFFF"/>
                </a:solidFill>
                <a:latin typeface="Cambria" pitchFamily="34" charset="0"/>
                <a:ea typeface="Cambria" pitchFamily="34" charset="-122"/>
                <a:cs typeface="Cambria" pitchFamily="34" charset="-120"/>
              </a:rPr>
              <a:t>⚡  Claude Code</a:t>
            </a:r>
            <a:endParaRPr lang="en-US" sz="1800" dirty="0"/>
          </a:p>
        </p:txBody>
      </p:sp>
      <p:sp>
        <p:nvSpPr>
          <p:cNvPr id="17" name="Text 15"/>
          <p:cNvSpPr/>
          <p:nvPr/>
        </p:nvSpPr>
        <p:spPr>
          <a:xfrm>
            <a:off x="4823460" y="1787652"/>
            <a:ext cx="3749040" cy="640080"/>
          </a:xfrm>
          <a:prstGeom prst="rect">
            <a:avLst/>
          </a:prstGeom>
          <a:noFill/>
          <a:ln/>
        </p:spPr>
        <p:txBody>
          <a:bodyPr wrap="square" lIns="0" tIns="0" rIns="0" bIns="0" rtlCol="0" anchor="ctr"/>
          <a:lstStyle/>
          <a:p>
            <a:pPr marL="0" indent="0">
              <a:buNone/>
            </a:pPr>
            <a:r>
              <a:rPr lang="en-US" sz="1000" dirty="0">
                <a:solidFill>
                  <a:srgbClr val="DDDDF8"/>
                </a:solidFill>
                <a:latin typeface="Calibri" pitchFamily="34" charset="0"/>
                <a:ea typeface="Calibri" pitchFamily="34" charset="-122"/>
                <a:cs typeface="Calibri" pitchFamily="34" charset="-120"/>
              </a:rPr>
              <a:t>Claude corriendo en tu terminal, con acceso directo a tu entorno de trabajo.</a:t>
            </a:r>
            <a:endParaRPr lang="en-US" sz="1000" dirty="0"/>
          </a:p>
        </p:txBody>
      </p:sp>
      <p:sp>
        <p:nvSpPr>
          <p:cNvPr id="18" name="Text 16"/>
          <p:cNvSpPr/>
          <p:nvPr/>
        </p:nvSpPr>
        <p:spPr>
          <a:xfrm>
            <a:off x="4887468" y="2290572"/>
            <a:ext cx="3657600" cy="438912"/>
          </a:xfrm>
          <a:prstGeom prst="rect">
            <a:avLst/>
          </a:prstGeom>
          <a:noFill/>
          <a:ln/>
        </p:spPr>
        <p:txBody>
          <a:bodyPr wrap="square" lIns="0" tIns="0" rIns="0" bIns="0" rtlCol="0" anchor="ctr"/>
          <a:lstStyle/>
          <a:p>
            <a:pPr marL="0" indent="0">
              <a:buNone/>
            </a:pPr>
            <a:r>
              <a:rPr lang="en-US" sz="950" dirty="0">
                <a:solidFill>
                  <a:srgbClr val="FFFFFF"/>
                </a:solidFill>
                <a:latin typeface="Calibri" pitchFamily="34" charset="0"/>
                <a:ea typeface="Calibri" pitchFamily="34" charset="-122"/>
                <a:cs typeface="Calibri" pitchFamily="34" charset="-120"/>
              </a:rPr>
              <a:t>· CLI que corre en la terminal — no en el navegador</a:t>
            </a:r>
            <a:endParaRPr lang="en-US" sz="950" dirty="0"/>
          </a:p>
        </p:txBody>
      </p:sp>
      <p:sp>
        <p:nvSpPr>
          <p:cNvPr id="19" name="Text 17"/>
          <p:cNvSpPr/>
          <p:nvPr/>
        </p:nvSpPr>
        <p:spPr>
          <a:xfrm>
            <a:off x="4887468" y="2766060"/>
            <a:ext cx="3657600" cy="438912"/>
          </a:xfrm>
          <a:prstGeom prst="rect">
            <a:avLst/>
          </a:prstGeom>
          <a:noFill/>
          <a:ln/>
        </p:spPr>
        <p:txBody>
          <a:bodyPr wrap="square" lIns="0" tIns="0" rIns="0" bIns="0" rtlCol="0" anchor="ctr"/>
          <a:lstStyle/>
          <a:p>
            <a:pPr marL="0" indent="0">
              <a:buNone/>
            </a:pPr>
            <a:r>
              <a:rPr lang="en-US" sz="950" dirty="0">
                <a:solidFill>
                  <a:srgbClr val="FFFFFF"/>
                </a:solidFill>
                <a:latin typeface="Calibri" pitchFamily="34" charset="0"/>
                <a:ea typeface="Calibri" pitchFamily="34" charset="-122"/>
                <a:cs typeface="Calibri" pitchFamily="34" charset="-120"/>
              </a:rPr>
              <a:t>· Lee y escribe archivos reales en tu disco</a:t>
            </a:r>
            <a:endParaRPr lang="en-US" sz="950" dirty="0"/>
          </a:p>
        </p:txBody>
      </p:sp>
      <p:sp>
        <p:nvSpPr>
          <p:cNvPr id="20" name="Text 18"/>
          <p:cNvSpPr/>
          <p:nvPr/>
        </p:nvSpPr>
        <p:spPr>
          <a:xfrm>
            <a:off x="4887468" y="3241548"/>
            <a:ext cx="3657600" cy="438912"/>
          </a:xfrm>
          <a:prstGeom prst="rect">
            <a:avLst/>
          </a:prstGeom>
          <a:noFill/>
          <a:ln/>
        </p:spPr>
        <p:txBody>
          <a:bodyPr wrap="square" lIns="0" tIns="0" rIns="0" bIns="0" rtlCol="0" anchor="ctr"/>
          <a:lstStyle/>
          <a:p>
            <a:pPr marL="0" indent="0">
              <a:buNone/>
            </a:pPr>
            <a:r>
              <a:rPr lang="en-US" sz="950" dirty="0">
                <a:solidFill>
                  <a:srgbClr val="FFFFFF"/>
                </a:solidFill>
                <a:latin typeface="Calibri" pitchFamily="34" charset="0"/>
                <a:ea typeface="Calibri" pitchFamily="34" charset="-122"/>
                <a:cs typeface="Calibri" pitchFamily="34" charset="-120"/>
              </a:rPr>
              <a:t>· Ejecuta código Python y comandos de terminal</a:t>
            </a:r>
            <a:endParaRPr lang="en-US" sz="950" dirty="0"/>
          </a:p>
        </p:txBody>
      </p:sp>
      <p:sp>
        <p:nvSpPr>
          <p:cNvPr id="21" name="Text 19"/>
          <p:cNvSpPr/>
          <p:nvPr/>
        </p:nvSpPr>
        <p:spPr>
          <a:xfrm>
            <a:off x="4887468" y="3616452"/>
            <a:ext cx="3657600" cy="438912"/>
          </a:xfrm>
          <a:prstGeom prst="rect">
            <a:avLst/>
          </a:prstGeom>
          <a:noFill/>
          <a:ln/>
        </p:spPr>
        <p:txBody>
          <a:bodyPr wrap="square" lIns="0" tIns="0" rIns="0" bIns="0" rtlCol="0" anchor="ctr"/>
          <a:lstStyle/>
          <a:p>
            <a:pPr marL="0" indent="0">
              <a:buNone/>
            </a:pPr>
            <a:r>
              <a:rPr lang="en-US" sz="950" dirty="0">
                <a:solidFill>
                  <a:srgbClr val="FFFFFF"/>
                </a:solidFill>
                <a:latin typeface="Calibri" pitchFamily="34" charset="0"/>
                <a:ea typeface="Calibri" pitchFamily="34" charset="-122"/>
                <a:cs typeface="Calibri" pitchFamily="34" charset="-120"/>
              </a:rPr>
              <a:t>· Ve el resultado, detecta errores y los corrige solo</a:t>
            </a:r>
            <a:endParaRPr lang="en-US" sz="950" dirty="0"/>
          </a:p>
        </p:txBody>
      </p:sp>
      <p:sp>
        <p:nvSpPr>
          <p:cNvPr id="23" name="Text 21"/>
          <p:cNvSpPr/>
          <p:nvPr/>
        </p:nvSpPr>
        <p:spPr>
          <a:xfrm>
            <a:off x="3657600" y="2487168"/>
            <a:ext cx="914400" cy="475488"/>
          </a:xfrm>
          <a:prstGeom prst="rect">
            <a:avLst/>
          </a:prstGeom>
          <a:noFill/>
          <a:ln/>
        </p:spPr>
        <p:txBody>
          <a:bodyPr wrap="square" lIns="0" tIns="0" rIns="0" bIns="0" rtlCol="0" anchor="ctr"/>
          <a:lstStyle/>
          <a:p>
            <a:pPr marL="0" indent="0" algn="ctr">
              <a:buNone/>
            </a:pPr>
            <a:endParaRPr lang="en-US" sz="2000" dirty="0"/>
          </a:p>
        </p:txBody>
      </p:sp>
      <p:sp>
        <p:nvSpPr>
          <p:cNvPr id="25" name="Shape 23"/>
          <p:cNvSpPr/>
          <p:nvPr/>
        </p:nvSpPr>
        <p:spPr>
          <a:xfrm>
            <a:off x="315468" y="4421124"/>
            <a:ext cx="8449056" cy="594360"/>
          </a:xfrm>
          <a:prstGeom prst="roundRect">
            <a:avLst>
              <a:gd name="adj" fmla="val 15385"/>
            </a:avLst>
          </a:prstGeom>
          <a:solidFill>
            <a:srgbClr val="1A1A2E"/>
          </a:solidFill>
          <a:ln w="12700">
            <a:solidFill>
              <a:srgbClr val="1A1A2E"/>
            </a:solidFill>
            <a:prstDash val="solid"/>
          </a:ln>
        </p:spPr>
        <p:txBody>
          <a:bodyPr/>
          <a:lstStyle/>
          <a:p>
            <a:endParaRPr lang="es-ES_tradnl"/>
          </a:p>
        </p:txBody>
      </p:sp>
      <p:sp>
        <p:nvSpPr>
          <p:cNvPr id="26" name="Text 24"/>
          <p:cNvSpPr/>
          <p:nvPr/>
        </p:nvSpPr>
        <p:spPr>
          <a:xfrm>
            <a:off x="539496" y="4489704"/>
            <a:ext cx="2423160" cy="201168"/>
          </a:xfrm>
          <a:prstGeom prst="rect">
            <a:avLst/>
          </a:prstGeom>
          <a:noFill/>
          <a:ln/>
        </p:spPr>
        <p:txBody>
          <a:bodyPr wrap="square" lIns="0" tIns="0" rIns="0" bIns="0" rtlCol="0" anchor="ctr"/>
          <a:lstStyle/>
          <a:p>
            <a:pPr marL="0" indent="0">
              <a:buNone/>
            </a:pPr>
            <a:r>
              <a:rPr lang="en-US" sz="800" b="1" dirty="0">
                <a:solidFill>
                  <a:srgbClr val="1D9E75"/>
                </a:solidFill>
                <a:latin typeface="Calibri" pitchFamily="34" charset="0"/>
                <a:ea typeface="Calibri" pitchFamily="34" charset="-122"/>
                <a:cs typeface="Calibri" pitchFamily="34" charset="-120"/>
              </a:rPr>
              <a:t>Claude:</a:t>
            </a:r>
            <a:endParaRPr lang="en-US" sz="800" dirty="0"/>
          </a:p>
        </p:txBody>
      </p:sp>
      <p:sp>
        <p:nvSpPr>
          <p:cNvPr id="27" name="Text 25"/>
          <p:cNvSpPr/>
          <p:nvPr/>
        </p:nvSpPr>
        <p:spPr>
          <a:xfrm>
            <a:off x="539496" y="4690872"/>
            <a:ext cx="2423160" cy="256032"/>
          </a:xfrm>
          <a:prstGeom prst="rect">
            <a:avLst/>
          </a:prstGeom>
          <a:noFill/>
          <a:ln/>
        </p:spPr>
        <p:txBody>
          <a:bodyPr wrap="square" lIns="0" tIns="0" rIns="0" bIns="0" rtlCol="0" anchor="ctr"/>
          <a:lstStyle/>
          <a:p>
            <a:pPr marL="0" indent="0">
              <a:buNone/>
            </a:pPr>
            <a:r>
              <a:rPr lang="en-US" sz="850" dirty="0">
                <a:solidFill>
                  <a:srgbClr val="FFFFFF"/>
                </a:solidFill>
                <a:latin typeface="Calibri" pitchFamily="34" charset="0"/>
                <a:ea typeface="Calibri" pitchFamily="34" charset="-122"/>
                <a:cs typeface="Calibri" pitchFamily="34" charset="-120"/>
              </a:rPr>
              <a:t>El modelo de IA  →  el cerebro</a:t>
            </a:r>
            <a:endParaRPr lang="en-US" sz="850" dirty="0"/>
          </a:p>
        </p:txBody>
      </p:sp>
      <p:sp>
        <p:nvSpPr>
          <p:cNvPr id="28" name="Text 26"/>
          <p:cNvSpPr/>
          <p:nvPr/>
        </p:nvSpPr>
        <p:spPr>
          <a:xfrm>
            <a:off x="3099816" y="4489704"/>
            <a:ext cx="2423160" cy="201168"/>
          </a:xfrm>
          <a:prstGeom prst="rect">
            <a:avLst/>
          </a:prstGeom>
          <a:noFill/>
          <a:ln/>
        </p:spPr>
        <p:txBody>
          <a:bodyPr wrap="square" lIns="0" tIns="0" rIns="0" bIns="0" rtlCol="0" anchor="ctr"/>
          <a:lstStyle/>
          <a:p>
            <a:pPr marL="0" indent="0">
              <a:buNone/>
            </a:pPr>
            <a:r>
              <a:rPr lang="en-US" sz="800" b="1" dirty="0">
                <a:solidFill>
                  <a:srgbClr val="1D9E75"/>
                </a:solidFill>
                <a:latin typeface="Calibri" pitchFamily="34" charset="0"/>
                <a:ea typeface="Calibri" pitchFamily="34" charset="-122"/>
                <a:cs typeface="Calibri" pitchFamily="34" charset="-120"/>
              </a:rPr>
              <a:t>claude.ai:</a:t>
            </a:r>
            <a:endParaRPr lang="en-US" sz="800" dirty="0"/>
          </a:p>
        </p:txBody>
      </p:sp>
      <p:sp>
        <p:nvSpPr>
          <p:cNvPr id="29" name="Text 27"/>
          <p:cNvSpPr/>
          <p:nvPr/>
        </p:nvSpPr>
        <p:spPr>
          <a:xfrm>
            <a:off x="3099816" y="4690872"/>
            <a:ext cx="2423160" cy="256032"/>
          </a:xfrm>
          <a:prstGeom prst="rect">
            <a:avLst/>
          </a:prstGeom>
          <a:noFill/>
          <a:ln/>
        </p:spPr>
        <p:txBody>
          <a:bodyPr wrap="square" lIns="0" tIns="0" rIns="0" bIns="0" rtlCol="0" anchor="ctr"/>
          <a:lstStyle/>
          <a:p>
            <a:pPr marL="0" indent="0">
              <a:buNone/>
            </a:pPr>
            <a:r>
              <a:rPr lang="en-US" sz="850" dirty="0">
                <a:solidFill>
                  <a:srgbClr val="FFFFFF"/>
                </a:solidFill>
                <a:latin typeface="Calibri" pitchFamily="34" charset="0"/>
                <a:ea typeface="Calibri" pitchFamily="34" charset="-122"/>
                <a:cs typeface="Calibri" pitchFamily="34" charset="-120"/>
              </a:rPr>
              <a:t>Interfaz web para chatear con Claude</a:t>
            </a:r>
            <a:endParaRPr lang="en-US" sz="850" dirty="0"/>
          </a:p>
        </p:txBody>
      </p:sp>
      <p:sp>
        <p:nvSpPr>
          <p:cNvPr id="30" name="Text 28"/>
          <p:cNvSpPr/>
          <p:nvPr/>
        </p:nvSpPr>
        <p:spPr>
          <a:xfrm>
            <a:off x="5660136" y="4489704"/>
            <a:ext cx="2423160" cy="201168"/>
          </a:xfrm>
          <a:prstGeom prst="rect">
            <a:avLst/>
          </a:prstGeom>
          <a:noFill/>
          <a:ln/>
        </p:spPr>
        <p:txBody>
          <a:bodyPr wrap="square" lIns="0" tIns="0" rIns="0" bIns="0" rtlCol="0" anchor="ctr"/>
          <a:lstStyle/>
          <a:p>
            <a:pPr marL="0" indent="0">
              <a:buNone/>
            </a:pPr>
            <a:r>
              <a:rPr lang="en-US" sz="800" b="1" dirty="0">
                <a:solidFill>
                  <a:srgbClr val="1D9E75"/>
                </a:solidFill>
                <a:latin typeface="Calibri" pitchFamily="34" charset="0"/>
                <a:ea typeface="Calibri" pitchFamily="34" charset="-122"/>
                <a:cs typeface="Calibri" pitchFamily="34" charset="-120"/>
              </a:rPr>
              <a:t>Claude Code:</a:t>
            </a:r>
            <a:endParaRPr lang="en-US" sz="800" dirty="0"/>
          </a:p>
        </p:txBody>
      </p:sp>
      <p:sp>
        <p:nvSpPr>
          <p:cNvPr id="31" name="Text 29"/>
          <p:cNvSpPr/>
          <p:nvPr/>
        </p:nvSpPr>
        <p:spPr>
          <a:xfrm>
            <a:off x="5660136" y="4690872"/>
            <a:ext cx="2423160" cy="256032"/>
          </a:xfrm>
          <a:prstGeom prst="rect">
            <a:avLst/>
          </a:prstGeom>
          <a:noFill/>
          <a:ln/>
        </p:spPr>
        <p:txBody>
          <a:bodyPr wrap="square" lIns="0" tIns="0" rIns="0" bIns="0" rtlCol="0" anchor="ctr"/>
          <a:lstStyle/>
          <a:p>
            <a:pPr marL="0" indent="0">
              <a:buNone/>
            </a:pPr>
            <a:r>
              <a:rPr lang="en-US" sz="850" dirty="0">
                <a:solidFill>
                  <a:srgbClr val="FFFFFF"/>
                </a:solidFill>
                <a:latin typeface="Calibri" pitchFamily="34" charset="0"/>
                <a:ea typeface="Calibri" pitchFamily="34" charset="-122"/>
                <a:cs typeface="Calibri" pitchFamily="34" charset="-120"/>
              </a:rPr>
              <a:t>Claude en tu terminal con acceso a tu computador</a:t>
            </a:r>
            <a:endParaRPr lang="en-US" sz="85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2">
    <p:bg>
      <p:bgPr>
        <a:solidFill>
          <a:srgbClr val="F8F8F6"/>
        </a:solidFill>
        <a:effectLst/>
      </p:bgPr>
    </p:bg>
    <p:spTree>
      <p:nvGrpSpPr>
        <p:cNvPr id="1" name=""/>
        <p:cNvGrpSpPr/>
        <p:nvPr/>
      </p:nvGrpSpPr>
      <p:grpSpPr>
        <a:xfrm>
          <a:off x="0" y="0"/>
          <a:ext cx="0" cy="0"/>
          <a:chOff x="0" y="0"/>
          <a:chExt cx="0" cy="0"/>
        </a:xfrm>
      </p:grpSpPr>
      <p:sp>
        <p:nvSpPr>
          <p:cNvPr id="2" name="Text 0"/>
          <p:cNvSpPr/>
          <p:nvPr/>
        </p:nvSpPr>
        <p:spPr>
          <a:xfrm>
            <a:off x="457200" y="256032"/>
            <a:ext cx="8229600" cy="566928"/>
          </a:xfrm>
          <a:prstGeom prst="rect">
            <a:avLst/>
          </a:prstGeom>
          <a:noFill/>
          <a:ln/>
        </p:spPr>
        <p:txBody>
          <a:bodyPr wrap="square" lIns="0" tIns="0" rIns="0" bIns="0" rtlCol="0" anchor="ctr"/>
          <a:lstStyle/>
          <a:p>
            <a:pPr marL="0" indent="0">
              <a:buNone/>
            </a:pPr>
            <a:r>
              <a:rPr lang="en-US" sz="2700" b="1" dirty="0">
                <a:solidFill>
                  <a:srgbClr val="2C2C2A"/>
                </a:solidFill>
                <a:latin typeface="Cambria" pitchFamily="34" charset="0"/>
                <a:ea typeface="Cambria" pitchFamily="34" charset="-122"/>
                <a:cs typeface="Cambria" pitchFamily="34" charset="-120"/>
              </a:rPr>
              <a:t>Chatbot vs. Agente</a:t>
            </a:r>
            <a:endParaRPr lang="en-US" sz="2700" dirty="0"/>
          </a:p>
        </p:txBody>
      </p:sp>
      <p:sp>
        <p:nvSpPr>
          <p:cNvPr id="3" name="Text 1"/>
          <p:cNvSpPr/>
          <p:nvPr/>
        </p:nvSpPr>
        <p:spPr>
          <a:xfrm>
            <a:off x="457200" y="822960"/>
            <a:ext cx="8229600" cy="320040"/>
          </a:xfrm>
          <a:prstGeom prst="rect">
            <a:avLst/>
          </a:prstGeom>
          <a:noFill/>
          <a:ln/>
        </p:spPr>
        <p:txBody>
          <a:bodyPr wrap="square" lIns="0" tIns="0" rIns="0" bIns="0" rtlCol="0" anchor="ctr"/>
          <a:lstStyle/>
          <a:p>
            <a:pPr marL="0" indent="0">
              <a:buNone/>
            </a:pPr>
            <a:r>
              <a:rPr lang="en-US" sz="1300" i="1" dirty="0">
                <a:solidFill>
                  <a:srgbClr val="5F5E5A"/>
                </a:solidFill>
                <a:latin typeface="Calibri" pitchFamily="34" charset="0"/>
                <a:ea typeface="Calibri" pitchFamily="34" charset="-122"/>
                <a:cs typeface="Calibri" pitchFamily="34" charset="-120"/>
              </a:rPr>
              <a:t>¿Cuál es la diferencia?</a:t>
            </a:r>
            <a:endParaRPr lang="en-US" sz="1300" dirty="0"/>
          </a:p>
        </p:txBody>
      </p:sp>
      <p:sp>
        <p:nvSpPr>
          <p:cNvPr id="4" name="Shape 2"/>
          <p:cNvSpPr/>
          <p:nvPr/>
        </p:nvSpPr>
        <p:spPr>
          <a:xfrm>
            <a:off x="365760" y="1371600"/>
            <a:ext cx="3931920" cy="3200400"/>
          </a:xfrm>
          <a:prstGeom prst="roundRect">
            <a:avLst>
              <a:gd name="adj" fmla="val 3429"/>
            </a:avLst>
          </a:prstGeom>
          <a:solidFill>
            <a:srgbClr val="FFFFFF"/>
          </a:solidFill>
          <a:ln w="6350">
            <a:solidFill>
              <a:srgbClr val="D3D1C7"/>
            </a:solidFill>
            <a:prstDash val="solid"/>
          </a:ln>
          <a:effectLst>
            <a:outerShdw blurRad="88900" dist="25400" dir="2700000" algn="bl" rotWithShape="0">
              <a:srgbClr val="000000">
                <a:alpha val="11000"/>
              </a:srgbClr>
            </a:outerShdw>
          </a:effectLst>
        </p:spPr>
        <p:txBody>
          <a:bodyPr/>
          <a:lstStyle/>
          <a:p>
            <a:endParaRPr lang="es-ES_tradnl"/>
          </a:p>
        </p:txBody>
      </p:sp>
      <p:sp>
        <p:nvSpPr>
          <p:cNvPr id="5" name="Text 3"/>
          <p:cNvSpPr/>
          <p:nvPr/>
        </p:nvSpPr>
        <p:spPr>
          <a:xfrm>
            <a:off x="548640" y="1508760"/>
            <a:ext cx="3566160" cy="457200"/>
          </a:xfrm>
          <a:prstGeom prst="rect">
            <a:avLst/>
          </a:prstGeom>
          <a:noFill/>
          <a:ln/>
        </p:spPr>
        <p:txBody>
          <a:bodyPr wrap="square" lIns="0" tIns="0" rIns="0" bIns="0" rtlCol="0" anchor="ctr"/>
          <a:lstStyle/>
          <a:p>
            <a:pPr marL="0" indent="0">
              <a:buNone/>
            </a:pPr>
            <a:r>
              <a:rPr lang="en-US" sz="1600" b="1" dirty="0">
                <a:solidFill>
                  <a:srgbClr val="2C2C2A"/>
                </a:solidFill>
                <a:latin typeface="Calibri" pitchFamily="34" charset="0"/>
                <a:ea typeface="Calibri" pitchFamily="34" charset="-122"/>
                <a:cs typeface="Calibri" pitchFamily="34" charset="-120"/>
              </a:rPr>
              <a:t>💬  Chatbot</a:t>
            </a:r>
            <a:endParaRPr lang="en-US" sz="1600" dirty="0"/>
          </a:p>
        </p:txBody>
      </p:sp>
      <p:sp>
        <p:nvSpPr>
          <p:cNvPr id="6" name="Text 4"/>
          <p:cNvSpPr/>
          <p:nvPr/>
        </p:nvSpPr>
        <p:spPr>
          <a:xfrm>
            <a:off x="640080" y="2057400"/>
            <a:ext cx="3474720" cy="2286000"/>
          </a:xfrm>
          <a:prstGeom prst="rect">
            <a:avLst/>
          </a:prstGeom>
          <a:noFill/>
          <a:ln/>
        </p:spPr>
        <p:txBody>
          <a:bodyPr wrap="square" rtlCol="0" anchor="ctr"/>
          <a:lstStyle/>
          <a:p>
            <a:pPr marL="342900" indent="-342900">
              <a:spcAft>
                <a:spcPts val="500"/>
              </a:spcAft>
              <a:buSzPct val="100000"/>
              <a:buChar char="•"/>
            </a:pPr>
            <a:r>
              <a:rPr lang="en-US" sz="1300" dirty="0">
                <a:solidFill>
                  <a:srgbClr val="5F5E5A"/>
                </a:solidFill>
                <a:latin typeface="Calibri" pitchFamily="34" charset="0"/>
                <a:ea typeface="Calibri" pitchFamily="34" charset="-122"/>
                <a:cs typeface="Calibri" pitchFamily="34" charset="-120"/>
              </a:rPr>
              <a:t>Responde texto</a:t>
            </a:r>
            <a:endParaRPr lang="en-US" sz="1300" dirty="0"/>
          </a:p>
          <a:p>
            <a:pPr marL="342900" indent="-342900">
              <a:spcAft>
                <a:spcPts val="500"/>
              </a:spcAft>
              <a:buSzPct val="100000"/>
              <a:buChar char="•"/>
            </a:pPr>
            <a:r>
              <a:rPr lang="en-US" sz="1300" dirty="0">
                <a:solidFill>
                  <a:srgbClr val="5F5E5A"/>
                </a:solidFill>
                <a:latin typeface="Calibri" pitchFamily="34" charset="0"/>
                <a:ea typeface="Calibri" pitchFamily="34" charset="-122"/>
                <a:cs typeface="Calibri" pitchFamily="34" charset="-120"/>
              </a:rPr>
              <a:t>No accede a archivos</a:t>
            </a:r>
            <a:endParaRPr lang="en-US" sz="1300" dirty="0"/>
          </a:p>
          <a:p>
            <a:pPr marL="342900" indent="-342900">
              <a:spcAft>
                <a:spcPts val="500"/>
              </a:spcAft>
              <a:buSzPct val="100000"/>
              <a:buChar char="•"/>
            </a:pPr>
            <a:r>
              <a:rPr lang="en-US" sz="1300" dirty="0">
                <a:solidFill>
                  <a:srgbClr val="5F5E5A"/>
                </a:solidFill>
                <a:latin typeface="Calibri" pitchFamily="34" charset="0"/>
                <a:ea typeface="Calibri" pitchFamily="34" charset="-122"/>
                <a:cs typeface="Calibri" pitchFamily="34" charset="-120"/>
              </a:rPr>
              <a:t>No ejecuta código</a:t>
            </a:r>
            <a:endParaRPr lang="en-US" sz="1300" dirty="0"/>
          </a:p>
          <a:p>
            <a:pPr marL="342900" indent="-342900">
              <a:spcAft>
                <a:spcPts val="500"/>
              </a:spcAft>
              <a:buSzPct val="100000"/>
              <a:buChar char="•"/>
            </a:pPr>
            <a:r>
              <a:rPr lang="en-US" sz="1300" dirty="0">
                <a:solidFill>
                  <a:srgbClr val="5F5E5A"/>
                </a:solidFill>
                <a:latin typeface="Calibri" pitchFamily="34" charset="0"/>
                <a:ea typeface="Calibri" pitchFamily="34" charset="-122"/>
                <a:cs typeface="Calibri" pitchFamily="34" charset="-120"/>
              </a:rPr>
              <a:t>No corrige sus errores solo</a:t>
            </a:r>
            <a:endParaRPr lang="en-US" sz="1300" dirty="0"/>
          </a:p>
          <a:p>
            <a:pPr marL="342900" indent="-342900">
              <a:spcAft>
                <a:spcPts val="500"/>
              </a:spcAft>
              <a:buSzPct val="100000"/>
              <a:buChar char="•"/>
            </a:pPr>
            <a:r>
              <a:rPr lang="en-US" sz="1300" dirty="0">
                <a:solidFill>
                  <a:srgbClr val="5F5E5A"/>
                </a:solidFill>
                <a:latin typeface="Calibri" pitchFamily="34" charset="0"/>
                <a:ea typeface="Calibri" pitchFamily="34" charset="-122"/>
                <a:cs typeface="Calibri" pitchFamily="34" charset="-120"/>
              </a:rPr>
              <a:t>Cada conversación es aislada</a:t>
            </a:r>
            <a:endParaRPr lang="en-US" sz="1300" dirty="0"/>
          </a:p>
        </p:txBody>
      </p:sp>
      <p:sp>
        <p:nvSpPr>
          <p:cNvPr id="7" name="Shape 5"/>
          <p:cNvSpPr/>
          <p:nvPr/>
        </p:nvSpPr>
        <p:spPr>
          <a:xfrm>
            <a:off x="4846320" y="1371600"/>
            <a:ext cx="3931920" cy="3200400"/>
          </a:xfrm>
          <a:prstGeom prst="roundRect">
            <a:avLst>
              <a:gd name="adj" fmla="val 3429"/>
            </a:avLst>
          </a:prstGeom>
          <a:solidFill>
            <a:srgbClr val="534AB7"/>
          </a:solidFill>
          <a:ln w="6350">
            <a:solidFill>
              <a:srgbClr val="534AB7"/>
            </a:solidFill>
            <a:prstDash val="solid"/>
          </a:ln>
          <a:effectLst>
            <a:outerShdw blurRad="88900" dist="25400" dir="2700000" algn="bl" rotWithShape="0">
              <a:srgbClr val="000000">
                <a:alpha val="11000"/>
              </a:srgbClr>
            </a:outerShdw>
          </a:effectLst>
        </p:spPr>
        <p:txBody>
          <a:bodyPr/>
          <a:lstStyle/>
          <a:p>
            <a:endParaRPr lang="es-ES_tradnl"/>
          </a:p>
        </p:txBody>
      </p:sp>
      <p:sp>
        <p:nvSpPr>
          <p:cNvPr id="8" name="Text 6"/>
          <p:cNvSpPr/>
          <p:nvPr/>
        </p:nvSpPr>
        <p:spPr>
          <a:xfrm>
            <a:off x="5029200" y="1508760"/>
            <a:ext cx="3566160" cy="457200"/>
          </a:xfrm>
          <a:prstGeom prst="rect">
            <a:avLst/>
          </a:prstGeom>
          <a:noFill/>
          <a:ln/>
        </p:spPr>
        <p:txBody>
          <a:bodyPr wrap="square" lIns="0" tIns="0" rIns="0" bIns="0" rtlCol="0" anchor="ctr"/>
          <a:lstStyle/>
          <a:p>
            <a:pPr marL="0" indent="0">
              <a:buNone/>
            </a:pPr>
            <a:r>
              <a:rPr lang="en-US" sz="1600" b="1" dirty="0">
                <a:solidFill>
                  <a:srgbClr val="FFFFFF"/>
                </a:solidFill>
                <a:latin typeface="Calibri" pitchFamily="34" charset="0"/>
                <a:ea typeface="Calibri" pitchFamily="34" charset="-122"/>
                <a:cs typeface="Calibri" pitchFamily="34" charset="-120"/>
              </a:rPr>
              <a:t>🤖  Agente</a:t>
            </a:r>
            <a:endParaRPr lang="en-US" sz="1600" dirty="0"/>
          </a:p>
        </p:txBody>
      </p:sp>
      <p:sp>
        <p:nvSpPr>
          <p:cNvPr id="9" name="Text 7"/>
          <p:cNvSpPr/>
          <p:nvPr/>
        </p:nvSpPr>
        <p:spPr>
          <a:xfrm>
            <a:off x="5029200" y="2057400"/>
            <a:ext cx="3474720" cy="2286000"/>
          </a:xfrm>
          <a:prstGeom prst="rect">
            <a:avLst/>
          </a:prstGeom>
          <a:noFill/>
          <a:ln/>
        </p:spPr>
        <p:txBody>
          <a:bodyPr wrap="square" rtlCol="0" anchor="ctr"/>
          <a:lstStyle/>
          <a:p>
            <a:pPr marL="342900" indent="-342900">
              <a:spcAft>
                <a:spcPts val="500"/>
              </a:spcAft>
              <a:buSzPct val="100000"/>
              <a:buChar char="•"/>
            </a:pPr>
            <a:r>
              <a:rPr lang="en-US" sz="1300" dirty="0">
                <a:solidFill>
                  <a:srgbClr val="FFFFFF"/>
                </a:solidFill>
                <a:latin typeface="Calibri" pitchFamily="34" charset="0"/>
                <a:ea typeface="Calibri" pitchFamily="34" charset="-122"/>
                <a:cs typeface="Calibri" pitchFamily="34" charset="-120"/>
              </a:rPr>
              <a:t>Lee archivos de tu disco</a:t>
            </a:r>
            <a:endParaRPr lang="en-US" sz="1300" dirty="0"/>
          </a:p>
          <a:p>
            <a:pPr marL="342900" indent="-342900">
              <a:spcAft>
                <a:spcPts val="500"/>
              </a:spcAft>
              <a:buSzPct val="100000"/>
              <a:buChar char="•"/>
            </a:pPr>
            <a:r>
              <a:rPr lang="en-US" sz="1300" dirty="0">
                <a:solidFill>
                  <a:srgbClr val="FFFFFF"/>
                </a:solidFill>
                <a:latin typeface="Calibri" pitchFamily="34" charset="0"/>
                <a:ea typeface="Calibri" pitchFamily="34" charset="-122"/>
                <a:cs typeface="Calibri" pitchFamily="34" charset="-120"/>
              </a:rPr>
              <a:t>Ejecuta código real</a:t>
            </a:r>
            <a:endParaRPr lang="en-US" sz="1300" dirty="0"/>
          </a:p>
          <a:p>
            <a:pPr marL="342900" indent="-342900">
              <a:spcAft>
                <a:spcPts val="500"/>
              </a:spcAft>
              <a:buSzPct val="100000"/>
              <a:buChar char="•"/>
            </a:pPr>
            <a:r>
              <a:rPr lang="en-US" sz="1300" dirty="0">
                <a:solidFill>
                  <a:srgbClr val="FFFFFF"/>
                </a:solidFill>
                <a:latin typeface="Calibri" pitchFamily="34" charset="0"/>
                <a:ea typeface="Calibri" pitchFamily="34" charset="-122"/>
                <a:cs typeface="Calibri" pitchFamily="34" charset="-120"/>
              </a:rPr>
              <a:t>Ve el resultado y lo corrige</a:t>
            </a:r>
            <a:endParaRPr lang="en-US" sz="1300" dirty="0"/>
          </a:p>
          <a:p>
            <a:pPr marL="342900" indent="-342900">
              <a:spcAft>
                <a:spcPts val="500"/>
              </a:spcAft>
              <a:buSzPct val="100000"/>
              <a:buChar char="•"/>
            </a:pPr>
            <a:r>
              <a:rPr lang="en-US" sz="1300" dirty="0">
                <a:solidFill>
                  <a:srgbClr val="FFFFFF"/>
                </a:solidFill>
                <a:latin typeface="Calibri" pitchFamily="34" charset="0"/>
                <a:ea typeface="Calibri" pitchFamily="34" charset="-122"/>
                <a:cs typeface="Calibri" pitchFamily="34" charset="-120"/>
              </a:rPr>
              <a:t>Hace planes antes de actuar</a:t>
            </a:r>
            <a:endParaRPr lang="en-US" sz="1300" dirty="0"/>
          </a:p>
          <a:p>
            <a:pPr marL="342900" indent="-342900">
              <a:spcAft>
                <a:spcPts val="500"/>
              </a:spcAft>
              <a:buSzPct val="100000"/>
              <a:buChar char="•"/>
            </a:pPr>
            <a:r>
              <a:rPr lang="en-US" sz="1300" dirty="0">
                <a:solidFill>
                  <a:srgbClr val="FFFFFF"/>
                </a:solidFill>
                <a:latin typeface="Calibri" pitchFamily="34" charset="0"/>
                <a:ea typeface="Calibri" pitchFamily="34" charset="-122"/>
                <a:cs typeface="Calibri" pitchFamily="34" charset="-120"/>
              </a:rPr>
              <a:t>Tiene memoria de sesión</a:t>
            </a:r>
            <a:endParaRPr lang="en-US" sz="13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3">
    <p:bg>
      <p:bgPr>
        <a:solidFill>
          <a:srgbClr val="F8F8F6"/>
        </a:solidFill>
        <a:effectLst/>
      </p:bgPr>
    </p:bg>
    <p:spTree>
      <p:nvGrpSpPr>
        <p:cNvPr id="1" name=""/>
        <p:cNvGrpSpPr/>
        <p:nvPr/>
      </p:nvGrpSpPr>
      <p:grpSpPr>
        <a:xfrm>
          <a:off x="0" y="0"/>
          <a:ext cx="0" cy="0"/>
          <a:chOff x="0" y="0"/>
          <a:chExt cx="0" cy="0"/>
        </a:xfrm>
      </p:grpSpPr>
      <p:sp>
        <p:nvSpPr>
          <p:cNvPr id="2" name="Text 0"/>
          <p:cNvSpPr/>
          <p:nvPr/>
        </p:nvSpPr>
        <p:spPr>
          <a:xfrm>
            <a:off x="457200" y="256032"/>
            <a:ext cx="8229600" cy="566928"/>
          </a:xfrm>
          <a:prstGeom prst="rect">
            <a:avLst/>
          </a:prstGeom>
          <a:noFill/>
          <a:ln/>
        </p:spPr>
        <p:txBody>
          <a:bodyPr wrap="square" lIns="0" tIns="0" rIns="0" bIns="0" rtlCol="0" anchor="ctr"/>
          <a:lstStyle/>
          <a:p>
            <a:pPr marL="0" indent="0">
              <a:buNone/>
            </a:pPr>
            <a:r>
              <a:rPr lang="en-US" sz="2700" b="1" dirty="0">
                <a:solidFill>
                  <a:srgbClr val="2C2C2A"/>
                </a:solidFill>
                <a:latin typeface="Cambria" pitchFamily="34" charset="0"/>
                <a:ea typeface="Cambria" pitchFamily="34" charset="-122"/>
                <a:cs typeface="Cambria" pitchFamily="34" charset="-120"/>
              </a:rPr>
              <a:t>Cómo trabaja Claude Code</a:t>
            </a:r>
            <a:endParaRPr lang="en-US" sz="2700" dirty="0"/>
          </a:p>
        </p:txBody>
      </p:sp>
      <p:sp>
        <p:nvSpPr>
          <p:cNvPr id="3" name="Text 1"/>
          <p:cNvSpPr/>
          <p:nvPr/>
        </p:nvSpPr>
        <p:spPr>
          <a:xfrm>
            <a:off x="457200" y="822960"/>
            <a:ext cx="8229600" cy="320040"/>
          </a:xfrm>
          <a:prstGeom prst="rect">
            <a:avLst/>
          </a:prstGeom>
          <a:noFill/>
          <a:ln/>
        </p:spPr>
        <p:txBody>
          <a:bodyPr wrap="square" lIns="0" tIns="0" rIns="0" bIns="0" rtlCol="0" anchor="ctr"/>
          <a:lstStyle/>
          <a:p>
            <a:pPr marL="0" indent="0">
              <a:buNone/>
            </a:pPr>
            <a:r>
              <a:rPr lang="en-US" sz="1300" i="1" dirty="0">
                <a:solidFill>
                  <a:srgbClr val="5F5E5A"/>
                </a:solidFill>
                <a:latin typeface="Calibri" pitchFamily="34" charset="0"/>
                <a:ea typeface="Calibri" pitchFamily="34" charset="-122"/>
                <a:cs typeface="Calibri" pitchFamily="34" charset="-120"/>
              </a:rPr>
              <a:t>El ciclo acción → observación → corrección</a:t>
            </a:r>
            <a:endParaRPr lang="en-US" sz="1300" dirty="0"/>
          </a:p>
        </p:txBody>
      </p:sp>
      <p:sp>
        <p:nvSpPr>
          <p:cNvPr id="4" name="Shape 2"/>
          <p:cNvSpPr/>
          <p:nvPr/>
        </p:nvSpPr>
        <p:spPr>
          <a:xfrm>
            <a:off x="777240" y="1463040"/>
            <a:ext cx="822960" cy="822960"/>
          </a:xfrm>
          <a:prstGeom prst="ellipse">
            <a:avLst/>
          </a:prstGeom>
          <a:solidFill>
            <a:srgbClr val="534AB7"/>
          </a:solidFill>
          <a:ln w="12700">
            <a:solidFill>
              <a:srgbClr val="534AB7"/>
            </a:solidFill>
            <a:prstDash val="solid"/>
          </a:ln>
        </p:spPr>
        <p:txBody>
          <a:bodyPr/>
          <a:lstStyle/>
          <a:p>
            <a:endParaRPr lang="es-ES_tradnl"/>
          </a:p>
        </p:txBody>
      </p:sp>
      <p:sp>
        <p:nvSpPr>
          <p:cNvPr id="5" name="Text 3"/>
          <p:cNvSpPr/>
          <p:nvPr/>
        </p:nvSpPr>
        <p:spPr>
          <a:xfrm>
            <a:off x="777240" y="1463040"/>
            <a:ext cx="822960" cy="822960"/>
          </a:xfrm>
          <a:prstGeom prst="rect">
            <a:avLst/>
          </a:prstGeom>
          <a:noFill/>
          <a:ln/>
        </p:spPr>
        <p:txBody>
          <a:bodyPr wrap="square" lIns="0" tIns="0" rIns="0" bIns="0" rtlCol="0" anchor="ctr"/>
          <a:lstStyle/>
          <a:p>
            <a:pPr marL="0" indent="0" algn="ctr">
              <a:buNone/>
            </a:pPr>
            <a:r>
              <a:rPr lang="en-US" sz="2000" b="1" dirty="0">
                <a:solidFill>
                  <a:srgbClr val="FFFFFF"/>
                </a:solidFill>
                <a:latin typeface="Cambria" pitchFamily="34" charset="0"/>
                <a:ea typeface="Cambria" pitchFamily="34" charset="-122"/>
                <a:cs typeface="Cambria" pitchFamily="34" charset="-120"/>
              </a:rPr>
              <a:t>1</a:t>
            </a:r>
            <a:endParaRPr lang="en-US" sz="2000" dirty="0"/>
          </a:p>
        </p:txBody>
      </p:sp>
      <p:sp>
        <p:nvSpPr>
          <p:cNvPr id="6" name="Shape 4"/>
          <p:cNvSpPr/>
          <p:nvPr/>
        </p:nvSpPr>
        <p:spPr>
          <a:xfrm>
            <a:off x="1627632" y="1847088"/>
            <a:ext cx="438912" cy="0"/>
          </a:xfrm>
          <a:prstGeom prst="line">
            <a:avLst/>
          </a:prstGeom>
          <a:noFill/>
          <a:ln w="19050">
            <a:solidFill>
              <a:srgbClr val="D3D1C7"/>
            </a:solidFill>
            <a:prstDash val="solid"/>
          </a:ln>
        </p:spPr>
        <p:txBody>
          <a:bodyPr/>
          <a:lstStyle/>
          <a:p>
            <a:endParaRPr lang="es-ES_tradnl"/>
          </a:p>
        </p:txBody>
      </p:sp>
      <p:sp>
        <p:nvSpPr>
          <p:cNvPr id="7" name="Shape 5"/>
          <p:cNvSpPr/>
          <p:nvPr/>
        </p:nvSpPr>
        <p:spPr>
          <a:xfrm>
            <a:off x="411480" y="2468880"/>
            <a:ext cx="1554480" cy="2103120"/>
          </a:xfrm>
          <a:prstGeom prst="roundRect">
            <a:avLst>
              <a:gd name="adj" fmla="val 5882"/>
            </a:avLst>
          </a:prstGeom>
          <a:solidFill>
            <a:srgbClr val="FFFFFF"/>
          </a:solidFill>
          <a:ln w="6350">
            <a:solidFill>
              <a:srgbClr val="D3D1C7"/>
            </a:solidFill>
            <a:prstDash val="solid"/>
          </a:ln>
          <a:effectLst>
            <a:outerShdw blurRad="88900" dist="25400" dir="2700000" algn="bl" rotWithShape="0">
              <a:srgbClr val="000000">
                <a:alpha val="11000"/>
              </a:srgbClr>
            </a:outerShdw>
          </a:effectLst>
        </p:spPr>
        <p:txBody>
          <a:bodyPr/>
          <a:lstStyle/>
          <a:p>
            <a:endParaRPr lang="es-ES_tradnl"/>
          </a:p>
        </p:txBody>
      </p:sp>
      <p:sp>
        <p:nvSpPr>
          <p:cNvPr id="8" name="Text 6"/>
          <p:cNvSpPr/>
          <p:nvPr/>
        </p:nvSpPr>
        <p:spPr>
          <a:xfrm>
            <a:off x="457200" y="2560320"/>
            <a:ext cx="1463040" cy="457200"/>
          </a:xfrm>
          <a:prstGeom prst="rect">
            <a:avLst/>
          </a:prstGeom>
          <a:noFill/>
          <a:ln/>
        </p:spPr>
        <p:txBody>
          <a:bodyPr wrap="square" lIns="0" tIns="0" rIns="0" bIns="0" rtlCol="0" anchor="ctr"/>
          <a:lstStyle/>
          <a:p>
            <a:pPr marL="0" indent="0" algn="ctr">
              <a:buNone/>
            </a:pPr>
            <a:r>
              <a:rPr lang="en-US" sz="1000" b="1" dirty="0">
                <a:solidFill>
                  <a:srgbClr val="2C2C2A"/>
                </a:solidFill>
                <a:latin typeface="Calibri" pitchFamily="34" charset="0"/>
                <a:ea typeface="Calibri" pitchFamily="34" charset="-122"/>
                <a:cs typeface="Calibri" pitchFamily="34" charset="-120"/>
              </a:rPr>
              <a:t>Tú defines la tarea</a:t>
            </a:r>
            <a:endParaRPr lang="en-US" sz="1000" dirty="0"/>
          </a:p>
        </p:txBody>
      </p:sp>
      <p:sp>
        <p:nvSpPr>
          <p:cNvPr id="9" name="Text 7"/>
          <p:cNvSpPr/>
          <p:nvPr/>
        </p:nvSpPr>
        <p:spPr>
          <a:xfrm>
            <a:off x="457200" y="3063240"/>
            <a:ext cx="1463040" cy="1371600"/>
          </a:xfrm>
          <a:prstGeom prst="rect">
            <a:avLst/>
          </a:prstGeom>
          <a:noFill/>
          <a:ln/>
        </p:spPr>
        <p:txBody>
          <a:bodyPr wrap="square" lIns="0" tIns="0" rIns="0" bIns="0" rtlCol="0" anchor="ctr"/>
          <a:lstStyle/>
          <a:p>
            <a:pPr marL="0" indent="0" algn="ctr">
              <a:buNone/>
            </a:pPr>
            <a:r>
              <a:rPr lang="en-US" sz="950" dirty="0">
                <a:solidFill>
                  <a:srgbClr val="5F5E5A"/>
                </a:solidFill>
                <a:latin typeface="Calibri" pitchFamily="34" charset="0"/>
                <a:ea typeface="Calibri" pitchFamily="34" charset="-122"/>
                <a:cs typeface="Calibri" pitchFamily="34" charset="-120"/>
              </a:rPr>
              <a:t>Contexto científico y pregunta</a:t>
            </a:r>
            <a:endParaRPr lang="en-US" sz="950" dirty="0"/>
          </a:p>
        </p:txBody>
      </p:sp>
      <p:sp>
        <p:nvSpPr>
          <p:cNvPr id="10" name="Shape 8"/>
          <p:cNvSpPr/>
          <p:nvPr/>
        </p:nvSpPr>
        <p:spPr>
          <a:xfrm>
            <a:off x="2496312" y="1463040"/>
            <a:ext cx="822960" cy="822960"/>
          </a:xfrm>
          <a:prstGeom prst="ellipse">
            <a:avLst/>
          </a:prstGeom>
          <a:solidFill>
            <a:srgbClr val="7B74D4"/>
          </a:solidFill>
          <a:ln w="12700">
            <a:solidFill>
              <a:srgbClr val="7B74D4"/>
            </a:solidFill>
            <a:prstDash val="solid"/>
          </a:ln>
        </p:spPr>
        <p:txBody>
          <a:bodyPr/>
          <a:lstStyle/>
          <a:p>
            <a:endParaRPr lang="es-ES_tradnl"/>
          </a:p>
        </p:txBody>
      </p:sp>
      <p:sp>
        <p:nvSpPr>
          <p:cNvPr id="11" name="Text 9"/>
          <p:cNvSpPr/>
          <p:nvPr/>
        </p:nvSpPr>
        <p:spPr>
          <a:xfrm>
            <a:off x="2496312" y="1463040"/>
            <a:ext cx="822960" cy="822960"/>
          </a:xfrm>
          <a:prstGeom prst="rect">
            <a:avLst/>
          </a:prstGeom>
          <a:noFill/>
          <a:ln/>
        </p:spPr>
        <p:txBody>
          <a:bodyPr wrap="square" lIns="0" tIns="0" rIns="0" bIns="0" rtlCol="0" anchor="ctr"/>
          <a:lstStyle/>
          <a:p>
            <a:pPr marL="0" indent="0" algn="ctr">
              <a:buNone/>
            </a:pPr>
            <a:r>
              <a:rPr lang="en-US" sz="2000" b="1" dirty="0">
                <a:solidFill>
                  <a:srgbClr val="FFFFFF"/>
                </a:solidFill>
                <a:latin typeface="Cambria" pitchFamily="34" charset="0"/>
                <a:ea typeface="Cambria" pitchFamily="34" charset="-122"/>
                <a:cs typeface="Cambria" pitchFamily="34" charset="-120"/>
              </a:rPr>
              <a:t>2</a:t>
            </a:r>
            <a:endParaRPr lang="en-US" sz="2000" dirty="0"/>
          </a:p>
        </p:txBody>
      </p:sp>
      <p:sp>
        <p:nvSpPr>
          <p:cNvPr id="12" name="Shape 10"/>
          <p:cNvSpPr/>
          <p:nvPr/>
        </p:nvSpPr>
        <p:spPr>
          <a:xfrm>
            <a:off x="3346704" y="1847088"/>
            <a:ext cx="438912" cy="0"/>
          </a:xfrm>
          <a:prstGeom prst="line">
            <a:avLst/>
          </a:prstGeom>
          <a:noFill/>
          <a:ln w="19050">
            <a:solidFill>
              <a:srgbClr val="D3D1C7"/>
            </a:solidFill>
            <a:prstDash val="solid"/>
          </a:ln>
        </p:spPr>
        <p:txBody>
          <a:bodyPr/>
          <a:lstStyle/>
          <a:p>
            <a:endParaRPr lang="es-ES_tradnl"/>
          </a:p>
        </p:txBody>
      </p:sp>
      <p:sp>
        <p:nvSpPr>
          <p:cNvPr id="13" name="Shape 11"/>
          <p:cNvSpPr/>
          <p:nvPr/>
        </p:nvSpPr>
        <p:spPr>
          <a:xfrm>
            <a:off x="2130552" y="2468880"/>
            <a:ext cx="1554480" cy="2103120"/>
          </a:xfrm>
          <a:prstGeom prst="roundRect">
            <a:avLst>
              <a:gd name="adj" fmla="val 5882"/>
            </a:avLst>
          </a:prstGeom>
          <a:solidFill>
            <a:srgbClr val="FFFFFF"/>
          </a:solidFill>
          <a:ln w="6350">
            <a:solidFill>
              <a:srgbClr val="D3D1C7"/>
            </a:solidFill>
            <a:prstDash val="solid"/>
          </a:ln>
          <a:effectLst>
            <a:outerShdw blurRad="88900" dist="25400" dir="2700000" algn="bl" rotWithShape="0">
              <a:srgbClr val="000000">
                <a:alpha val="11000"/>
              </a:srgbClr>
            </a:outerShdw>
          </a:effectLst>
        </p:spPr>
        <p:txBody>
          <a:bodyPr/>
          <a:lstStyle/>
          <a:p>
            <a:endParaRPr lang="es-ES_tradnl"/>
          </a:p>
        </p:txBody>
      </p:sp>
      <p:sp>
        <p:nvSpPr>
          <p:cNvPr id="14" name="Text 12"/>
          <p:cNvSpPr/>
          <p:nvPr/>
        </p:nvSpPr>
        <p:spPr>
          <a:xfrm>
            <a:off x="2176272" y="2560320"/>
            <a:ext cx="1463040" cy="457200"/>
          </a:xfrm>
          <a:prstGeom prst="rect">
            <a:avLst/>
          </a:prstGeom>
          <a:noFill/>
          <a:ln/>
        </p:spPr>
        <p:txBody>
          <a:bodyPr wrap="square" lIns="0" tIns="0" rIns="0" bIns="0" rtlCol="0" anchor="ctr"/>
          <a:lstStyle/>
          <a:p>
            <a:pPr marL="0" indent="0" algn="ctr">
              <a:buNone/>
            </a:pPr>
            <a:r>
              <a:rPr lang="en-US" sz="1000" b="1" dirty="0">
                <a:solidFill>
                  <a:srgbClr val="2C2C2A"/>
                </a:solidFill>
                <a:latin typeface="Calibri" pitchFamily="34" charset="0"/>
                <a:ea typeface="Calibri" pitchFamily="34" charset="-122"/>
                <a:cs typeface="Calibri" pitchFamily="34" charset="-120"/>
              </a:rPr>
              <a:t>El agente planifica</a:t>
            </a:r>
            <a:endParaRPr lang="en-US" sz="1000" dirty="0"/>
          </a:p>
        </p:txBody>
      </p:sp>
      <p:sp>
        <p:nvSpPr>
          <p:cNvPr id="15" name="Text 13"/>
          <p:cNvSpPr/>
          <p:nvPr/>
        </p:nvSpPr>
        <p:spPr>
          <a:xfrm>
            <a:off x="2176272" y="3063240"/>
            <a:ext cx="1463040" cy="1371600"/>
          </a:xfrm>
          <a:prstGeom prst="rect">
            <a:avLst/>
          </a:prstGeom>
          <a:noFill/>
          <a:ln/>
        </p:spPr>
        <p:txBody>
          <a:bodyPr wrap="square" lIns="0" tIns="0" rIns="0" bIns="0" rtlCol="0" anchor="ctr"/>
          <a:lstStyle/>
          <a:p>
            <a:pPr marL="0" indent="0" algn="ctr">
              <a:buNone/>
            </a:pPr>
            <a:r>
              <a:rPr lang="en-US" sz="950" dirty="0">
                <a:solidFill>
                  <a:srgbClr val="5F5E5A"/>
                </a:solidFill>
                <a:latin typeface="Calibri" pitchFamily="34" charset="0"/>
                <a:ea typeface="Calibri" pitchFamily="34" charset="-122"/>
                <a:cs typeface="Calibri" pitchFamily="34" charset="-120"/>
              </a:rPr>
              <a:t>Describe qué hará antes de ejecutar</a:t>
            </a:r>
            <a:endParaRPr lang="en-US" sz="950" dirty="0"/>
          </a:p>
        </p:txBody>
      </p:sp>
      <p:sp>
        <p:nvSpPr>
          <p:cNvPr id="16" name="Shape 14"/>
          <p:cNvSpPr/>
          <p:nvPr/>
        </p:nvSpPr>
        <p:spPr>
          <a:xfrm>
            <a:off x="4215384" y="1463040"/>
            <a:ext cx="822960" cy="822960"/>
          </a:xfrm>
          <a:prstGeom prst="ellipse">
            <a:avLst/>
          </a:prstGeom>
          <a:solidFill>
            <a:srgbClr val="1D9E75"/>
          </a:solidFill>
          <a:ln w="12700">
            <a:solidFill>
              <a:srgbClr val="1D9E75"/>
            </a:solidFill>
            <a:prstDash val="solid"/>
          </a:ln>
        </p:spPr>
        <p:txBody>
          <a:bodyPr/>
          <a:lstStyle/>
          <a:p>
            <a:endParaRPr lang="es-ES_tradnl"/>
          </a:p>
        </p:txBody>
      </p:sp>
      <p:sp>
        <p:nvSpPr>
          <p:cNvPr id="17" name="Text 15"/>
          <p:cNvSpPr/>
          <p:nvPr/>
        </p:nvSpPr>
        <p:spPr>
          <a:xfrm>
            <a:off x="4215384" y="1463040"/>
            <a:ext cx="822960" cy="822960"/>
          </a:xfrm>
          <a:prstGeom prst="rect">
            <a:avLst/>
          </a:prstGeom>
          <a:noFill/>
          <a:ln/>
        </p:spPr>
        <p:txBody>
          <a:bodyPr wrap="square" lIns="0" tIns="0" rIns="0" bIns="0" rtlCol="0" anchor="ctr"/>
          <a:lstStyle/>
          <a:p>
            <a:pPr marL="0" indent="0" algn="ctr">
              <a:buNone/>
            </a:pPr>
            <a:r>
              <a:rPr lang="en-US" sz="2000" b="1" dirty="0">
                <a:solidFill>
                  <a:srgbClr val="FFFFFF"/>
                </a:solidFill>
                <a:latin typeface="Cambria" pitchFamily="34" charset="0"/>
                <a:ea typeface="Cambria" pitchFamily="34" charset="-122"/>
                <a:cs typeface="Cambria" pitchFamily="34" charset="-120"/>
              </a:rPr>
              <a:t>3</a:t>
            </a:r>
            <a:endParaRPr lang="en-US" sz="2000" dirty="0"/>
          </a:p>
        </p:txBody>
      </p:sp>
      <p:sp>
        <p:nvSpPr>
          <p:cNvPr id="18" name="Shape 16"/>
          <p:cNvSpPr/>
          <p:nvPr/>
        </p:nvSpPr>
        <p:spPr>
          <a:xfrm>
            <a:off x="5065776" y="1847088"/>
            <a:ext cx="438912" cy="0"/>
          </a:xfrm>
          <a:prstGeom prst="line">
            <a:avLst/>
          </a:prstGeom>
          <a:noFill/>
          <a:ln w="19050">
            <a:solidFill>
              <a:srgbClr val="D3D1C7"/>
            </a:solidFill>
            <a:prstDash val="solid"/>
          </a:ln>
        </p:spPr>
        <p:txBody>
          <a:bodyPr/>
          <a:lstStyle/>
          <a:p>
            <a:endParaRPr lang="es-ES_tradnl"/>
          </a:p>
        </p:txBody>
      </p:sp>
      <p:sp>
        <p:nvSpPr>
          <p:cNvPr id="19" name="Shape 17"/>
          <p:cNvSpPr/>
          <p:nvPr/>
        </p:nvSpPr>
        <p:spPr>
          <a:xfrm>
            <a:off x="3849624" y="2468880"/>
            <a:ext cx="1554480" cy="2103120"/>
          </a:xfrm>
          <a:prstGeom prst="roundRect">
            <a:avLst>
              <a:gd name="adj" fmla="val 5882"/>
            </a:avLst>
          </a:prstGeom>
          <a:solidFill>
            <a:srgbClr val="FFFFFF"/>
          </a:solidFill>
          <a:ln w="6350">
            <a:solidFill>
              <a:srgbClr val="D3D1C7"/>
            </a:solidFill>
            <a:prstDash val="solid"/>
          </a:ln>
          <a:effectLst>
            <a:outerShdw blurRad="88900" dist="25400" dir="2700000" algn="bl" rotWithShape="0">
              <a:srgbClr val="000000">
                <a:alpha val="11000"/>
              </a:srgbClr>
            </a:outerShdw>
          </a:effectLst>
        </p:spPr>
        <p:txBody>
          <a:bodyPr/>
          <a:lstStyle/>
          <a:p>
            <a:endParaRPr lang="es-ES_tradnl"/>
          </a:p>
        </p:txBody>
      </p:sp>
      <p:sp>
        <p:nvSpPr>
          <p:cNvPr id="20" name="Text 18"/>
          <p:cNvSpPr/>
          <p:nvPr/>
        </p:nvSpPr>
        <p:spPr>
          <a:xfrm>
            <a:off x="3895344" y="2560320"/>
            <a:ext cx="1463040" cy="457200"/>
          </a:xfrm>
          <a:prstGeom prst="rect">
            <a:avLst/>
          </a:prstGeom>
          <a:noFill/>
          <a:ln/>
        </p:spPr>
        <p:txBody>
          <a:bodyPr wrap="square" lIns="0" tIns="0" rIns="0" bIns="0" rtlCol="0" anchor="ctr"/>
          <a:lstStyle/>
          <a:p>
            <a:pPr marL="0" indent="0" algn="ctr">
              <a:buNone/>
            </a:pPr>
            <a:r>
              <a:rPr lang="en-US" sz="1000" b="1" dirty="0">
                <a:solidFill>
                  <a:srgbClr val="2C2C2A"/>
                </a:solidFill>
                <a:latin typeface="Calibri" pitchFamily="34" charset="0"/>
                <a:ea typeface="Calibri" pitchFamily="34" charset="-122"/>
                <a:cs typeface="Calibri" pitchFamily="34" charset="-120"/>
              </a:rPr>
              <a:t>El agente actúa</a:t>
            </a:r>
            <a:endParaRPr lang="en-US" sz="1000" dirty="0"/>
          </a:p>
        </p:txBody>
      </p:sp>
      <p:sp>
        <p:nvSpPr>
          <p:cNvPr id="21" name="Text 19"/>
          <p:cNvSpPr/>
          <p:nvPr/>
        </p:nvSpPr>
        <p:spPr>
          <a:xfrm>
            <a:off x="3895344" y="3063240"/>
            <a:ext cx="1463040" cy="1371600"/>
          </a:xfrm>
          <a:prstGeom prst="rect">
            <a:avLst/>
          </a:prstGeom>
          <a:noFill/>
          <a:ln/>
        </p:spPr>
        <p:txBody>
          <a:bodyPr wrap="square" lIns="0" tIns="0" rIns="0" bIns="0" rtlCol="0" anchor="ctr"/>
          <a:lstStyle/>
          <a:p>
            <a:pPr marL="0" indent="0" algn="ctr">
              <a:buNone/>
            </a:pPr>
            <a:r>
              <a:rPr lang="en-US" sz="950" dirty="0">
                <a:solidFill>
                  <a:srgbClr val="5F5E5A"/>
                </a:solidFill>
                <a:latin typeface="Calibri" pitchFamily="34" charset="0"/>
                <a:ea typeface="Calibri" pitchFamily="34" charset="-122"/>
                <a:cs typeface="Calibri" pitchFamily="34" charset="-120"/>
              </a:rPr>
              <a:t>Lee archivos, escribe código, corre Python</a:t>
            </a:r>
            <a:endParaRPr lang="en-US" sz="950" dirty="0"/>
          </a:p>
        </p:txBody>
      </p:sp>
      <p:sp>
        <p:nvSpPr>
          <p:cNvPr id="22" name="Shape 20"/>
          <p:cNvSpPr/>
          <p:nvPr/>
        </p:nvSpPr>
        <p:spPr>
          <a:xfrm>
            <a:off x="5934456" y="1463040"/>
            <a:ext cx="822960" cy="822960"/>
          </a:xfrm>
          <a:prstGeom prst="ellipse">
            <a:avLst/>
          </a:prstGeom>
          <a:solidFill>
            <a:srgbClr val="1A8C65"/>
          </a:solidFill>
          <a:ln w="12700">
            <a:solidFill>
              <a:srgbClr val="1A8C65"/>
            </a:solidFill>
            <a:prstDash val="solid"/>
          </a:ln>
        </p:spPr>
        <p:txBody>
          <a:bodyPr/>
          <a:lstStyle/>
          <a:p>
            <a:endParaRPr lang="es-ES_tradnl"/>
          </a:p>
        </p:txBody>
      </p:sp>
      <p:sp>
        <p:nvSpPr>
          <p:cNvPr id="23" name="Text 21"/>
          <p:cNvSpPr/>
          <p:nvPr/>
        </p:nvSpPr>
        <p:spPr>
          <a:xfrm>
            <a:off x="5934456" y="1463040"/>
            <a:ext cx="822960" cy="822960"/>
          </a:xfrm>
          <a:prstGeom prst="rect">
            <a:avLst/>
          </a:prstGeom>
          <a:noFill/>
          <a:ln/>
        </p:spPr>
        <p:txBody>
          <a:bodyPr wrap="square" lIns="0" tIns="0" rIns="0" bIns="0" rtlCol="0" anchor="ctr"/>
          <a:lstStyle/>
          <a:p>
            <a:pPr marL="0" indent="0" algn="ctr">
              <a:buNone/>
            </a:pPr>
            <a:r>
              <a:rPr lang="en-US" sz="2000" b="1" dirty="0">
                <a:solidFill>
                  <a:srgbClr val="FFFFFF"/>
                </a:solidFill>
                <a:latin typeface="Cambria" pitchFamily="34" charset="0"/>
                <a:ea typeface="Cambria" pitchFamily="34" charset="-122"/>
                <a:cs typeface="Cambria" pitchFamily="34" charset="-120"/>
              </a:rPr>
              <a:t>4</a:t>
            </a:r>
            <a:endParaRPr lang="en-US" sz="2000" dirty="0"/>
          </a:p>
        </p:txBody>
      </p:sp>
      <p:sp>
        <p:nvSpPr>
          <p:cNvPr id="24" name="Shape 22"/>
          <p:cNvSpPr/>
          <p:nvPr/>
        </p:nvSpPr>
        <p:spPr>
          <a:xfrm>
            <a:off x="6784848" y="1847088"/>
            <a:ext cx="438912" cy="0"/>
          </a:xfrm>
          <a:prstGeom prst="line">
            <a:avLst/>
          </a:prstGeom>
          <a:noFill/>
          <a:ln w="19050">
            <a:solidFill>
              <a:srgbClr val="D3D1C7"/>
            </a:solidFill>
            <a:prstDash val="solid"/>
          </a:ln>
        </p:spPr>
        <p:txBody>
          <a:bodyPr/>
          <a:lstStyle/>
          <a:p>
            <a:endParaRPr lang="es-ES_tradnl"/>
          </a:p>
        </p:txBody>
      </p:sp>
      <p:sp>
        <p:nvSpPr>
          <p:cNvPr id="25" name="Shape 23"/>
          <p:cNvSpPr/>
          <p:nvPr/>
        </p:nvSpPr>
        <p:spPr>
          <a:xfrm>
            <a:off x="5568696" y="2468880"/>
            <a:ext cx="1554480" cy="2103120"/>
          </a:xfrm>
          <a:prstGeom prst="roundRect">
            <a:avLst>
              <a:gd name="adj" fmla="val 5882"/>
            </a:avLst>
          </a:prstGeom>
          <a:solidFill>
            <a:srgbClr val="FFFFFF"/>
          </a:solidFill>
          <a:ln w="6350">
            <a:solidFill>
              <a:srgbClr val="D3D1C7"/>
            </a:solidFill>
            <a:prstDash val="solid"/>
          </a:ln>
          <a:effectLst>
            <a:outerShdw blurRad="88900" dist="25400" dir="2700000" algn="bl" rotWithShape="0">
              <a:srgbClr val="000000">
                <a:alpha val="11000"/>
              </a:srgbClr>
            </a:outerShdw>
          </a:effectLst>
        </p:spPr>
        <p:txBody>
          <a:bodyPr/>
          <a:lstStyle/>
          <a:p>
            <a:endParaRPr lang="es-ES_tradnl"/>
          </a:p>
        </p:txBody>
      </p:sp>
      <p:sp>
        <p:nvSpPr>
          <p:cNvPr id="26" name="Text 24"/>
          <p:cNvSpPr/>
          <p:nvPr/>
        </p:nvSpPr>
        <p:spPr>
          <a:xfrm>
            <a:off x="5614416" y="2560320"/>
            <a:ext cx="1463040" cy="457200"/>
          </a:xfrm>
          <a:prstGeom prst="rect">
            <a:avLst/>
          </a:prstGeom>
          <a:noFill/>
          <a:ln/>
        </p:spPr>
        <p:txBody>
          <a:bodyPr wrap="square" lIns="0" tIns="0" rIns="0" bIns="0" rtlCol="0" anchor="ctr"/>
          <a:lstStyle/>
          <a:p>
            <a:pPr marL="0" indent="0" algn="ctr">
              <a:buNone/>
            </a:pPr>
            <a:r>
              <a:rPr lang="en-US" sz="1000" b="1" dirty="0">
                <a:solidFill>
                  <a:srgbClr val="2C2C2A"/>
                </a:solidFill>
                <a:latin typeface="Calibri" pitchFamily="34" charset="0"/>
                <a:ea typeface="Calibri" pitchFamily="34" charset="-122"/>
                <a:cs typeface="Calibri" pitchFamily="34" charset="-120"/>
              </a:rPr>
              <a:t>Observa el resultado</a:t>
            </a:r>
            <a:endParaRPr lang="en-US" sz="1000" dirty="0"/>
          </a:p>
        </p:txBody>
      </p:sp>
      <p:sp>
        <p:nvSpPr>
          <p:cNvPr id="27" name="Text 25"/>
          <p:cNvSpPr/>
          <p:nvPr/>
        </p:nvSpPr>
        <p:spPr>
          <a:xfrm>
            <a:off x="5614416" y="3063240"/>
            <a:ext cx="1463040" cy="1371600"/>
          </a:xfrm>
          <a:prstGeom prst="rect">
            <a:avLst/>
          </a:prstGeom>
          <a:noFill/>
          <a:ln/>
        </p:spPr>
        <p:txBody>
          <a:bodyPr wrap="square" lIns="0" tIns="0" rIns="0" bIns="0" rtlCol="0" anchor="ctr"/>
          <a:lstStyle/>
          <a:p>
            <a:pPr marL="0" indent="0" algn="ctr">
              <a:buNone/>
            </a:pPr>
            <a:r>
              <a:rPr lang="en-US" sz="950" dirty="0">
                <a:solidFill>
                  <a:srgbClr val="5F5E5A"/>
                </a:solidFill>
                <a:latin typeface="Calibri" pitchFamily="34" charset="0"/>
                <a:ea typeface="Calibri" pitchFamily="34" charset="-122"/>
                <a:cs typeface="Calibri" pitchFamily="34" charset="-120"/>
              </a:rPr>
              <a:t>Ve el output y detecta errores</a:t>
            </a:r>
            <a:endParaRPr lang="en-US" sz="950" dirty="0"/>
          </a:p>
        </p:txBody>
      </p:sp>
      <p:sp>
        <p:nvSpPr>
          <p:cNvPr id="28" name="Shape 26"/>
          <p:cNvSpPr/>
          <p:nvPr/>
        </p:nvSpPr>
        <p:spPr>
          <a:xfrm>
            <a:off x="7653528" y="1463040"/>
            <a:ext cx="822960" cy="822960"/>
          </a:xfrm>
          <a:prstGeom prst="ellipse">
            <a:avLst/>
          </a:prstGeom>
          <a:solidFill>
            <a:srgbClr val="2C2C2A"/>
          </a:solidFill>
          <a:ln w="12700">
            <a:solidFill>
              <a:srgbClr val="2C2C2A"/>
            </a:solidFill>
            <a:prstDash val="solid"/>
          </a:ln>
        </p:spPr>
        <p:txBody>
          <a:bodyPr/>
          <a:lstStyle/>
          <a:p>
            <a:endParaRPr lang="es-ES_tradnl"/>
          </a:p>
        </p:txBody>
      </p:sp>
      <p:sp>
        <p:nvSpPr>
          <p:cNvPr id="29" name="Text 27"/>
          <p:cNvSpPr/>
          <p:nvPr/>
        </p:nvSpPr>
        <p:spPr>
          <a:xfrm>
            <a:off x="7653528" y="1463040"/>
            <a:ext cx="822960" cy="822960"/>
          </a:xfrm>
          <a:prstGeom prst="rect">
            <a:avLst/>
          </a:prstGeom>
          <a:noFill/>
          <a:ln/>
        </p:spPr>
        <p:txBody>
          <a:bodyPr wrap="square" lIns="0" tIns="0" rIns="0" bIns="0" rtlCol="0" anchor="ctr"/>
          <a:lstStyle/>
          <a:p>
            <a:pPr marL="0" indent="0" algn="ctr">
              <a:buNone/>
            </a:pPr>
            <a:r>
              <a:rPr lang="en-US" sz="2000" b="1" dirty="0">
                <a:solidFill>
                  <a:srgbClr val="FFFFFF"/>
                </a:solidFill>
                <a:latin typeface="Cambria" pitchFamily="34" charset="0"/>
                <a:ea typeface="Cambria" pitchFamily="34" charset="-122"/>
                <a:cs typeface="Cambria" pitchFamily="34" charset="-120"/>
              </a:rPr>
              <a:t>5</a:t>
            </a:r>
            <a:endParaRPr lang="en-US" sz="2000" dirty="0"/>
          </a:p>
        </p:txBody>
      </p:sp>
      <p:sp>
        <p:nvSpPr>
          <p:cNvPr id="30" name="Shape 28"/>
          <p:cNvSpPr/>
          <p:nvPr/>
        </p:nvSpPr>
        <p:spPr>
          <a:xfrm>
            <a:off x="7287768" y="2468880"/>
            <a:ext cx="1554480" cy="2103120"/>
          </a:xfrm>
          <a:prstGeom prst="roundRect">
            <a:avLst>
              <a:gd name="adj" fmla="val 5882"/>
            </a:avLst>
          </a:prstGeom>
          <a:solidFill>
            <a:srgbClr val="FFFFFF"/>
          </a:solidFill>
          <a:ln w="6350">
            <a:solidFill>
              <a:srgbClr val="D3D1C7"/>
            </a:solidFill>
            <a:prstDash val="solid"/>
          </a:ln>
          <a:effectLst>
            <a:outerShdw blurRad="88900" dist="25400" dir="2700000" algn="bl" rotWithShape="0">
              <a:srgbClr val="000000">
                <a:alpha val="11000"/>
              </a:srgbClr>
            </a:outerShdw>
          </a:effectLst>
        </p:spPr>
        <p:txBody>
          <a:bodyPr/>
          <a:lstStyle/>
          <a:p>
            <a:endParaRPr lang="es-ES_tradnl"/>
          </a:p>
        </p:txBody>
      </p:sp>
      <p:sp>
        <p:nvSpPr>
          <p:cNvPr id="31" name="Text 29"/>
          <p:cNvSpPr/>
          <p:nvPr/>
        </p:nvSpPr>
        <p:spPr>
          <a:xfrm>
            <a:off x="7333488" y="2560320"/>
            <a:ext cx="1463040" cy="457200"/>
          </a:xfrm>
          <a:prstGeom prst="rect">
            <a:avLst/>
          </a:prstGeom>
          <a:noFill/>
          <a:ln/>
        </p:spPr>
        <p:txBody>
          <a:bodyPr wrap="square" lIns="0" tIns="0" rIns="0" bIns="0" rtlCol="0" anchor="ctr"/>
          <a:lstStyle/>
          <a:p>
            <a:pPr marL="0" indent="0" algn="ctr">
              <a:buNone/>
            </a:pPr>
            <a:r>
              <a:rPr lang="en-US" sz="1000" b="1" dirty="0">
                <a:solidFill>
                  <a:srgbClr val="2C2C2A"/>
                </a:solidFill>
                <a:latin typeface="Calibri" pitchFamily="34" charset="0"/>
                <a:ea typeface="Calibri" pitchFamily="34" charset="-122"/>
                <a:cs typeface="Calibri" pitchFamily="34" charset="-120"/>
              </a:rPr>
              <a:t>Corrige y reporta</a:t>
            </a:r>
            <a:endParaRPr lang="en-US" sz="1000" dirty="0"/>
          </a:p>
        </p:txBody>
      </p:sp>
      <p:sp>
        <p:nvSpPr>
          <p:cNvPr id="32" name="Text 30"/>
          <p:cNvSpPr/>
          <p:nvPr/>
        </p:nvSpPr>
        <p:spPr>
          <a:xfrm>
            <a:off x="7333488" y="3063240"/>
            <a:ext cx="1463040" cy="1371600"/>
          </a:xfrm>
          <a:prstGeom prst="rect">
            <a:avLst/>
          </a:prstGeom>
          <a:noFill/>
          <a:ln/>
        </p:spPr>
        <p:txBody>
          <a:bodyPr wrap="square" lIns="0" tIns="0" rIns="0" bIns="0" rtlCol="0" anchor="ctr"/>
          <a:lstStyle/>
          <a:p>
            <a:pPr marL="0" indent="0" algn="ctr">
              <a:buNone/>
            </a:pPr>
            <a:r>
              <a:rPr lang="en-US" sz="950" dirty="0">
                <a:solidFill>
                  <a:srgbClr val="5F5E5A"/>
                </a:solidFill>
                <a:latin typeface="Calibri" pitchFamily="34" charset="0"/>
                <a:ea typeface="Calibri" pitchFamily="34" charset="-122"/>
                <a:cs typeface="Calibri" pitchFamily="34" charset="-120"/>
              </a:rPr>
              <a:t>Ajusta o pide tu criterio científico</a:t>
            </a:r>
            <a:endParaRPr lang="en-US" sz="9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4">
    <p:bg>
      <p:bgPr>
        <a:solidFill>
          <a:srgbClr val="1A1A2E"/>
        </a:solidFill>
        <a:effectLst/>
      </p:bgPr>
    </p:bg>
    <p:spTree>
      <p:nvGrpSpPr>
        <p:cNvPr id="1" name=""/>
        <p:cNvGrpSpPr/>
        <p:nvPr/>
      </p:nvGrpSpPr>
      <p:grpSpPr>
        <a:xfrm>
          <a:off x="0" y="0"/>
          <a:ext cx="0" cy="0"/>
          <a:chOff x="0" y="0"/>
          <a:chExt cx="0" cy="0"/>
        </a:xfrm>
      </p:grpSpPr>
      <p:sp>
        <p:nvSpPr>
          <p:cNvPr id="2" name="Shape 0"/>
          <p:cNvSpPr/>
          <p:nvPr/>
        </p:nvSpPr>
        <p:spPr>
          <a:xfrm>
            <a:off x="6858000" y="-731520"/>
            <a:ext cx="3657600" cy="3657600"/>
          </a:xfrm>
          <a:prstGeom prst="ellipse">
            <a:avLst/>
          </a:prstGeom>
          <a:solidFill>
            <a:srgbClr val="534AB7">
              <a:alpha val="20000"/>
            </a:srgbClr>
          </a:solidFill>
          <a:ln w="12700">
            <a:solidFill>
              <a:srgbClr val="534AB7">
                <a:alpha val="20000"/>
              </a:srgbClr>
            </a:solidFill>
            <a:prstDash val="solid"/>
          </a:ln>
        </p:spPr>
        <p:txBody>
          <a:bodyPr/>
          <a:lstStyle/>
          <a:p>
            <a:endParaRPr lang="es-ES_tradnl"/>
          </a:p>
        </p:txBody>
      </p:sp>
      <p:sp>
        <p:nvSpPr>
          <p:cNvPr id="3" name="Text 1"/>
          <p:cNvSpPr/>
          <p:nvPr/>
        </p:nvSpPr>
        <p:spPr>
          <a:xfrm>
            <a:off x="548640" y="365760"/>
            <a:ext cx="7772400" cy="594360"/>
          </a:xfrm>
          <a:prstGeom prst="rect">
            <a:avLst/>
          </a:prstGeom>
          <a:noFill/>
          <a:ln/>
        </p:spPr>
        <p:txBody>
          <a:bodyPr wrap="square" lIns="0" tIns="0" rIns="0" bIns="0" rtlCol="0" anchor="ctr"/>
          <a:lstStyle/>
          <a:p>
            <a:pPr marL="0" indent="0">
              <a:buNone/>
            </a:pPr>
            <a:r>
              <a:rPr lang="en-US" sz="2800" b="1" dirty="0">
                <a:solidFill>
                  <a:srgbClr val="FFFFFF"/>
                </a:solidFill>
                <a:latin typeface="Cambria" pitchFamily="34" charset="0"/>
                <a:ea typeface="Cambria" pitchFamily="34" charset="-122"/>
                <a:cs typeface="Cambria" pitchFamily="34" charset="-120"/>
              </a:rPr>
              <a:t>El modelo mental del curso</a:t>
            </a:r>
            <a:endParaRPr lang="en-US" sz="2800" dirty="0"/>
          </a:p>
        </p:txBody>
      </p:sp>
      <p:sp>
        <p:nvSpPr>
          <p:cNvPr id="4" name="Text 2"/>
          <p:cNvSpPr/>
          <p:nvPr/>
        </p:nvSpPr>
        <p:spPr>
          <a:xfrm>
            <a:off x="548640" y="960120"/>
            <a:ext cx="7772400" cy="365760"/>
          </a:xfrm>
          <a:prstGeom prst="rect">
            <a:avLst/>
          </a:prstGeom>
          <a:noFill/>
          <a:ln/>
        </p:spPr>
        <p:txBody>
          <a:bodyPr wrap="square" lIns="0" tIns="0" rIns="0" bIns="0" rtlCol="0" anchor="ctr"/>
          <a:lstStyle/>
          <a:p>
            <a:pPr marL="0" indent="0">
              <a:buNone/>
            </a:pPr>
            <a:r>
              <a:rPr lang="en-US" sz="1300" i="1" dirty="0">
                <a:solidFill>
                  <a:srgbClr val="7B74D4"/>
                </a:solidFill>
                <a:latin typeface="Calibri" pitchFamily="34" charset="0"/>
                <a:ea typeface="Calibri" pitchFamily="34" charset="-122"/>
                <a:cs typeface="Calibri" pitchFamily="34" charset="-120"/>
              </a:rPr>
              <a:t>Dos roles distintos, un solo objetivo científico</a:t>
            </a:r>
            <a:endParaRPr lang="en-US" sz="1300" dirty="0"/>
          </a:p>
        </p:txBody>
      </p:sp>
      <p:graphicFrame>
        <p:nvGraphicFramePr>
          <p:cNvPr id="5" name="Table 0"/>
          <p:cNvGraphicFramePr>
            <a:graphicFrameLocks noGrp="1"/>
          </p:cNvGraphicFramePr>
          <p:nvPr>
            <p:extLst>
              <p:ext uri="{D42A27DB-BD31-4B8C-83A1-F6EECF244321}">
                <p14:modId xmlns:p14="http://schemas.microsoft.com/office/powerpoint/2010/main" val="4074217427"/>
              </p:ext>
            </p:extLst>
          </p:nvPr>
        </p:nvGraphicFramePr>
        <p:xfrm>
          <a:off x="548640" y="1508760"/>
          <a:ext cx="8046720" cy="2852928"/>
        </p:xfrm>
        <a:graphic>
          <a:graphicData uri="http://schemas.openxmlformats.org/drawingml/2006/table">
            <a:tbl>
              <a:tblPr/>
              <a:tblGrid>
                <a:gridCol w="4023360">
                  <a:extLst>
                    <a:ext uri="{9D8B030D-6E8A-4147-A177-3AD203B41FA5}">
                      <a16:colId xmlns:a16="http://schemas.microsoft.com/office/drawing/2014/main" val="20000"/>
                    </a:ext>
                  </a:extLst>
                </a:gridCol>
                <a:gridCol w="4023360">
                  <a:extLst>
                    <a:ext uri="{9D8B030D-6E8A-4147-A177-3AD203B41FA5}">
                      <a16:colId xmlns:a16="http://schemas.microsoft.com/office/drawing/2014/main" val="20001"/>
                    </a:ext>
                  </a:extLst>
                </a:gridCol>
              </a:tblGrid>
              <a:tr h="475488">
                <a:tc>
                  <a:txBody>
                    <a:bodyPr/>
                    <a:lstStyle/>
                    <a:p>
                      <a:pPr marL="0" indent="0" algn="l">
                        <a:buNone/>
                      </a:pPr>
                      <a:r>
                        <a:rPr lang="en-US" sz="1200" b="1" dirty="0">
                          <a:solidFill>
                            <a:srgbClr val="FFFFFF"/>
                          </a:solidFill>
                          <a:latin typeface="Calibri" pitchFamily="34" charset="0"/>
                          <a:ea typeface="Calibri" pitchFamily="34" charset="-122"/>
                          <a:cs typeface="Calibri" pitchFamily="34" charset="-120"/>
                        </a:rPr>
                        <a:t>Tú (científico/a)</a:t>
                      </a:r>
                      <a:endParaRPr lang="en-US" sz="1200" dirty="0">
                        <a:latin typeface="Calibri" charset="0"/>
                        <a:ea typeface="Calibri" charset="0"/>
                        <a:cs typeface="Calibri" charset="0"/>
                      </a:endParaRPr>
                    </a:p>
                  </a:txBody>
                  <a:tcPr>
                    <a:lnL w="6350" cap="flat" cmpd="sng" algn="ctr">
                      <a:solidFill>
                        <a:srgbClr val="2A2A4A"/>
                      </a:solidFill>
                      <a:prstDash val="solid"/>
                      <a:round/>
                      <a:headEnd type="none" w="med" len="med"/>
                      <a:tailEnd type="none" w="med" len="med"/>
                    </a:lnL>
                    <a:lnR w="6350" cap="flat" cmpd="sng" algn="ctr">
                      <a:solidFill>
                        <a:srgbClr val="2A2A4A"/>
                      </a:solidFill>
                      <a:prstDash val="solid"/>
                      <a:round/>
                      <a:headEnd type="none" w="med" len="med"/>
                      <a:tailEnd type="none" w="med" len="med"/>
                    </a:lnR>
                    <a:lnT w="6350" cap="flat" cmpd="sng" algn="ctr">
                      <a:solidFill>
                        <a:srgbClr val="2A2A4A"/>
                      </a:solidFill>
                      <a:prstDash val="solid"/>
                      <a:round/>
                      <a:headEnd type="none" w="med" len="med"/>
                      <a:tailEnd type="none" w="med" len="med"/>
                    </a:lnT>
                    <a:lnB w="6350" cap="flat" cmpd="sng" algn="ctr">
                      <a:solidFill>
                        <a:srgbClr val="2A2A4A"/>
                      </a:solidFill>
                      <a:prstDash val="solid"/>
                      <a:round/>
                      <a:headEnd type="none" w="med" len="med"/>
                      <a:tailEnd type="none" w="med" len="med"/>
                    </a:lnB>
                    <a:solidFill>
                      <a:srgbClr val="534AB7"/>
                    </a:solidFill>
                  </a:tcPr>
                </a:tc>
                <a:tc>
                  <a:txBody>
                    <a:bodyPr/>
                    <a:lstStyle/>
                    <a:p>
                      <a:pPr marL="0" indent="0" algn="l">
                        <a:buNone/>
                      </a:pPr>
                      <a:r>
                        <a:rPr lang="en-US" sz="1200" b="1" dirty="0">
                          <a:solidFill>
                            <a:srgbClr val="FFFFFF"/>
                          </a:solidFill>
                          <a:latin typeface="Calibri" pitchFamily="34" charset="0"/>
                          <a:ea typeface="Calibri" pitchFamily="34" charset="-122"/>
                          <a:cs typeface="Calibri" pitchFamily="34" charset="-120"/>
                        </a:rPr>
                        <a:t>Claude Code (agente)</a:t>
                      </a:r>
                      <a:endParaRPr lang="en-US" sz="1200" dirty="0">
                        <a:latin typeface="Calibri" charset="0"/>
                        <a:ea typeface="Calibri" charset="0"/>
                        <a:cs typeface="Calibri" charset="0"/>
                      </a:endParaRPr>
                    </a:p>
                  </a:txBody>
                  <a:tcPr>
                    <a:lnL w="6350" cap="flat" cmpd="sng" algn="ctr">
                      <a:solidFill>
                        <a:srgbClr val="2A2A4A"/>
                      </a:solidFill>
                      <a:prstDash val="solid"/>
                      <a:round/>
                      <a:headEnd type="none" w="med" len="med"/>
                      <a:tailEnd type="none" w="med" len="med"/>
                    </a:lnL>
                    <a:lnR w="6350" cap="flat" cmpd="sng" algn="ctr">
                      <a:solidFill>
                        <a:srgbClr val="2A2A4A"/>
                      </a:solidFill>
                      <a:prstDash val="solid"/>
                      <a:round/>
                      <a:headEnd type="none" w="med" len="med"/>
                      <a:tailEnd type="none" w="med" len="med"/>
                    </a:lnR>
                    <a:lnT w="6350" cap="flat" cmpd="sng" algn="ctr">
                      <a:solidFill>
                        <a:srgbClr val="2A2A4A"/>
                      </a:solidFill>
                      <a:prstDash val="solid"/>
                      <a:round/>
                      <a:headEnd type="none" w="med" len="med"/>
                      <a:tailEnd type="none" w="med" len="med"/>
                    </a:lnT>
                    <a:lnB w="6350" cap="flat" cmpd="sng" algn="ctr">
                      <a:solidFill>
                        <a:srgbClr val="2A2A4A"/>
                      </a:solidFill>
                      <a:prstDash val="solid"/>
                      <a:round/>
                      <a:headEnd type="none" w="med" len="med"/>
                      <a:tailEnd type="none" w="med" len="med"/>
                    </a:lnB>
                    <a:solidFill>
                      <a:srgbClr val="534AB7"/>
                    </a:solidFill>
                  </a:tcPr>
                </a:tc>
                <a:extLst>
                  <a:ext uri="{0D108BD9-81ED-4DB2-BD59-A6C34878D82A}">
                    <a16:rowId xmlns:a16="http://schemas.microsoft.com/office/drawing/2014/main" val="10000"/>
                  </a:ext>
                </a:extLst>
              </a:tr>
              <a:tr h="475488">
                <a:tc>
                  <a:txBody>
                    <a:bodyPr/>
                    <a:lstStyle/>
                    <a:p>
                      <a:pPr marL="0" indent="0" algn="l">
                        <a:buNone/>
                      </a:pPr>
                      <a:r>
                        <a:rPr lang="en-US" sz="1100" dirty="0">
                          <a:solidFill>
                            <a:srgbClr val="7B74D4"/>
                          </a:solidFill>
                          <a:latin typeface="Calibri" pitchFamily="34" charset="0"/>
                          <a:ea typeface="Calibri" pitchFamily="34" charset="-122"/>
                          <a:cs typeface="Calibri" pitchFamily="34" charset="-120"/>
                        </a:rPr>
                        <a:t>Entiendes el modelo biológico</a:t>
                      </a:r>
                      <a:endParaRPr lang="en-US" sz="1100" dirty="0">
                        <a:latin typeface="Calibri" charset="0"/>
                        <a:ea typeface="Calibri" charset="0"/>
                        <a:cs typeface="Calibri" charset="0"/>
                      </a:endParaRPr>
                    </a:p>
                  </a:txBody>
                  <a:tcPr>
                    <a:lnL w="6350" cap="flat" cmpd="sng" algn="ctr">
                      <a:solidFill>
                        <a:srgbClr val="2A2A4A"/>
                      </a:solidFill>
                      <a:prstDash val="solid"/>
                      <a:round/>
                      <a:headEnd type="none" w="med" len="med"/>
                      <a:tailEnd type="none" w="med" len="med"/>
                    </a:lnL>
                    <a:lnR w="6350" cap="flat" cmpd="sng" algn="ctr">
                      <a:solidFill>
                        <a:srgbClr val="2A2A4A"/>
                      </a:solidFill>
                      <a:prstDash val="solid"/>
                      <a:round/>
                      <a:headEnd type="none" w="med" len="med"/>
                      <a:tailEnd type="none" w="med" len="med"/>
                    </a:lnR>
                    <a:lnT w="6350" cap="flat" cmpd="sng" algn="ctr">
                      <a:solidFill>
                        <a:srgbClr val="2A2A4A"/>
                      </a:solidFill>
                      <a:prstDash val="solid"/>
                      <a:round/>
                      <a:headEnd type="none" w="med" len="med"/>
                      <a:tailEnd type="none" w="med" len="med"/>
                    </a:lnT>
                    <a:lnB w="6350" cap="flat" cmpd="sng" algn="ctr">
                      <a:solidFill>
                        <a:srgbClr val="2A2A4A"/>
                      </a:solidFill>
                      <a:prstDash val="solid"/>
                      <a:round/>
                      <a:headEnd type="none" w="med" len="med"/>
                      <a:tailEnd type="none" w="med" len="med"/>
                    </a:lnB>
                    <a:solidFill>
                      <a:srgbClr val="16162A"/>
                    </a:solidFill>
                  </a:tcPr>
                </a:tc>
                <a:tc>
                  <a:txBody>
                    <a:bodyPr/>
                    <a:lstStyle/>
                    <a:p>
                      <a:pPr marL="0" indent="0" algn="l">
                        <a:buNone/>
                      </a:pPr>
                      <a:r>
                        <a:rPr lang="en-US" sz="1100" dirty="0">
                          <a:solidFill>
                            <a:srgbClr val="FFFFFF"/>
                          </a:solidFill>
                          <a:latin typeface="Calibri" pitchFamily="34" charset="0"/>
                          <a:ea typeface="Calibri" pitchFamily="34" charset="-122"/>
                          <a:cs typeface="Calibri" pitchFamily="34" charset="-120"/>
                        </a:rPr>
                        <a:t>Implementa </a:t>
                      </a:r>
                      <a:r>
                        <a:rPr lang="en-US" sz="1100" dirty="0" err="1">
                          <a:solidFill>
                            <a:srgbClr val="FFFFFF"/>
                          </a:solidFill>
                          <a:latin typeface="Calibri" pitchFamily="34" charset="0"/>
                          <a:ea typeface="Calibri" pitchFamily="34" charset="-122"/>
                          <a:cs typeface="Calibri" pitchFamily="34" charset="-120"/>
                        </a:rPr>
                        <a:t>el</a:t>
                      </a:r>
                      <a:r>
                        <a:rPr lang="en-US" sz="1100" dirty="0">
                          <a:solidFill>
                            <a:srgbClr val="FFFFFF"/>
                          </a:solidFill>
                          <a:latin typeface="Calibri" pitchFamily="34" charset="0"/>
                          <a:ea typeface="Calibri" pitchFamily="34" charset="-122"/>
                          <a:cs typeface="Calibri" pitchFamily="34" charset="-120"/>
                        </a:rPr>
                        <a:t> </a:t>
                      </a:r>
                      <a:r>
                        <a:rPr lang="en-US" sz="1100" dirty="0" err="1">
                          <a:solidFill>
                            <a:srgbClr val="FFFFFF"/>
                          </a:solidFill>
                          <a:latin typeface="Calibri" pitchFamily="34" charset="0"/>
                          <a:ea typeface="Calibri" pitchFamily="34" charset="-122"/>
                          <a:cs typeface="Calibri" pitchFamily="34" charset="-120"/>
                        </a:rPr>
                        <a:t>algoritmo</a:t>
                      </a:r>
                      <a:endParaRPr lang="en-US" sz="1100" dirty="0">
                        <a:latin typeface="Calibri" charset="0"/>
                        <a:ea typeface="Calibri" charset="0"/>
                        <a:cs typeface="Calibri" charset="0"/>
                      </a:endParaRPr>
                    </a:p>
                  </a:txBody>
                  <a:tcPr>
                    <a:lnL w="6350" cap="flat" cmpd="sng" algn="ctr">
                      <a:solidFill>
                        <a:srgbClr val="2A2A4A"/>
                      </a:solidFill>
                      <a:prstDash val="solid"/>
                      <a:round/>
                      <a:headEnd type="none" w="med" len="med"/>
                      <a:tailEnd type="none" w="med" len="med"/>
                    </a:lnL>
                    <a:lnR w="6350" cap="flat" cmpd="sng" algn="ctr">
                      <a:solidFill>
                        <a:srgbClr val="2A2A4A"/>
                      </a:solidFill>
                      <a:prstDash val="solid"/>
                      <a:round/>
                      <a:headEnd type="none" w="med" len="med"/>
                      <a:tailEnd type="none" w="med" len="med"/>
                    </a:lnR>
                    <a:lnT w="6350" cap="flat" cmpd="sng" algn="ctr">
                      <a:solidFill>
                        <a:srgbClr val="2A2A4A"/>
                      </a:solidFill>
                      <a:prstDash val="solid"/>
                      <a:round/>
                      <a:headEnd type="none" w="med" len="med"/>
                      <a:tailEnd type="none" w="med" len="med"/>
                    </a:lnT>
                    <a:lnB w="6350" cap="flat" cmpd="sng" algn="ctr">
                      <a:solidFill>
                        <a:srgbClr val="2A2A4A"/>
                      </a:solidFill>
                      <a:prstDash val="solid"/>
                      <a:round/>
                      <a:headEnd type="none" w="med" len="med"/>
                      <a:tailEnd type="none" w="med" len="med"/>
                    </a:lnB>
                    <a:solidFill>
                      <a:srgbClr val="16162A"/>
                    </a:solidFill>
                  </a:tcPr>
                </a:tc>
                <a:extLst>
                  <a:ext uri="{0D108BD9-81ED-4DB2-BD59-A6C34878D82A}">
                    <a16:rowId xmlns:a16="http://schemas.microsoft.com/office/drawing/2014/main" val="10001"/>
                  </a:ext>
                </a:extLst>
              </a:tr>
              <a:tr h="475488">
                <a:tc>
                  <a:txBody>
                    <a:bodyPr/>
                    <a:lstStyle/>
                    <a:p>
                      <a:pPr marL="0" indent="0" algn="l">
                        <a:buNone/>
                      </a:pPr>
                      <a:r>
                        <a:rPr lang="en-US" sz="1100" dirty="0">
                          <a:solidFill>
                            <a:srgbClr val="7B74D4"/>
                          </a:solidFill>
                          <a:latin typeface="Calibri" pitchFamily="34" charset="0"/>
                          <a:ea typeface="Calibri" pitchFamily="34" charset="-122"/>
                          <a:cs typeface="Calibri" pitchFamily="34" charset="-120"/>
                        </a:rPr>
                        <a:t>Sabes qué restricciones termodinámicas importan</a:t>
                      </a:r>
                      <a:endParaRPr lang="en-US" sz="1100" dirty="0">
                        <a:latin typeface="Calibri" charset="0"/>
                        <a:ea typeface="Calibri" charset="0"/>
                        <a:cs typeface="Calibri" charset="0"/>
                      </a:endParaRPr>
                    </a:p>
                  </a:txBody>
                  <a:tcPr>
                    <a:lnL w="6350" cap="flat" cmpd="sng" algn="ctr">
                      <a:solidFill>
                        <a:srgbClr val="2A2A4A"/>
                      </a:solidFill>
                      <a:prstDash val="solid"/>
                      <a:round/>
                      <a:headEnd type="none" w="med" len="med"/>
                      <a:tailEnd type="none" w="med" len="med"/>
                    </a:lnL>
                    <a:lnR w="6350" cap="flat" cmpd="sng" algn="ctr">
                      <a:solidFill>
                        <a:srgbClr val="2A2A4A"/>
                      </a:solidFill>
                      <a:prstDash val="solid"/>
                      <a:round/>
                      <a:headEnd type="none" w="med" len="med"/>
                      <a:tailEnd type="none" w="med" len="med"/>
                    </a:lnR>
                    <a:lnT w="6350" cap="flat" cmpd="sng" algn="ctr">
                      <a:solidFill>
                        <a:srgbClr val="2A2A4A"/>
                      </a:solidFill>
                      <a:prstDash val="solid"/>
                      <a:round/>
                      <a:headEnd type="none" w="med" len="med"/>
                      <a:tailEnd type="none" w="med" len="med"/>
                    </a:lnT>
                    <a:lnB w="6350" cap="flat" cmpd="sng" algn="ctr">
                      <a:solidFill>
                        <a:srgbClr val="2A2A4A"/>
                      </a:solidFill>
                      <a:prstDash val="solid"/>
                      <a:round/>
                      <a:headEnd type="none" w="med" len="med"/>
                      <a:tailEnd type="none" w="med" len="med"/>
                    </a:lnB>
                    <a:solidFill>
                      <a:srgbClr val="1E1E35"/>
                    </a:solidFill>
                  </a:tcPr>
                </a:tc>
                <a:tc>
                  <a:txBody>
                    <a:bodyPr/>
                    <a:lstStyle/>
                    <a:p>
                      <a:pPr marL="0" indent="0" algn="l">
                        <a:buNone/>
                      </a:pPr>
                      <a:r>
                        <a:rPr lang="en-US" sz="1100" dirty="0">
                          <a:solidFill>
                            <a:srgbClr val="FFFFFF"/>
                          </a:solidFill>
                          <a:latin typeface="Calibri" pitchFamily="34" charset="0"/>
                          <a:ea typeface="Calibri" pitchFamily="34" charset="-122"/>
                          <a:cs typeface="Calibri" pitchFamily="34" charset="-120"/>
                        </a:rPr>
                        <a:t>Escribe y corre el código Python</a:t>
                      </a:r>
                      <a:endParaRPr lang="en-US" sz="1100" dirty="0">
                        <a:latin typeface="Calibri" charset="0"/>
                        <a:ea typeface="Calibri" charset="0"/>
                        <a:cs typeface="Calibri" charset="0"/>
                      </a:endParaRPr>
                    </a:p>
                  </a:txBody>
                  <a:tcPr>
                    <a:lnL w="6350" cap="flat" cmpd="sng" algn="ctr">
                      <a:solidFill>
                        <a:srgbClr val="2A2A4A"/>
                      </a:solidFill>
                      <a:prstDash val="solid"/>
                      <a:round/>
                      <a:headEnd type="none" w="med" len="med"/>
                      <a:tailEnd type="none" w="med" len="med"/>
                    </a:lnL>
                    <a:lnR w="6350" cap="flat" cmpd="sng" algn="ctr">
                      <a:solidFill>
                        <a:srgbClr val="2A2A4A"/>
                      </a:solidFill>
                      <a:prstDash val="solid"/>
                      <a:round/>
                      <a:headEnd type="none" w="med" len="med"/>
                      <a:tailEnd type="none" w="med" len="med"/>
                    </a:lnR>
                    <a:lnT w="6350" cap="flat" cmpd="sng" algn="ctr">
                      <a:solidFill>
                        <a:srgbClr val="2A2A4A"/>
                      </a:solidFill>
                      <a:prstDash val="solid"/>
                      <a:round/>
                      <a:headEnd type="none" w="med" len="med"/>
                      <a:tailEnd type="none" w="med" len="med"/>
                    </a:lnT>
                    <a:lnB w="6350" cap="flat" cmpd="sng" algn="ctr">
                      <a:solidFill>
                        <a:srgbClr val="2A2A4A"/>
                      </a:solidFill>
                      <a:prstDash val="solid"/>
                      <a:round/>
                      <a:headEnd type="none" w="med" len="med"/>
                      <a:tailEnd type="none" w="med" len="med"/>
                    </a:lnB>
                    <a:solidFill>
                      <a:srgbClr val="1E1E35"/>
                    </a:solidFill>
                  </a:tcPr>
                </a:tc>
                <a:extLst>
                  <a:ext uri="{0D108BD9-81ED-4DB2-BD59-A6C34878D82A}">
                    <a16:rowId xmlns:a16="http://schemas.microsoft.com/office/drawing/2014/main" val="10002"/>
                  </a:ext>
                </a:extLst>
              </a:tr>
              <a:tr h="475488">
                <a:tc>
                  <a:txBody>
                    <a:bodyPr/>
                    <a:lstStyle/>
                    <a:p>
                      <a:pPr marL="0" indent="0" algn="l">
                        <a:buNone/>
                      </a:pPr>
                      <a:r>
                        <a:rPr lang="en-US" sz="1100" dirty="0">
                          <a:solidFill>
                            <a:srgbClr val="7B74D4"/>
                          </a:solidFill>
                          <a:latin typeface="Calibri" pitchFamily="34" charset="0"/>
                          <a:ea typeface="Calibri" pitchFamily="34" charset="-122"/>
                          <a:cs typeface="Calibri" pitchFamily="34" charset="-120"/>
                        </a:rPr>
                        <a:t>Evalúas si el flujo metabólico tiene sentido</a:t>
                      </a:r>
                      <a:endParaRPr lang="en-US" sz="1100" dirty="0">
                        <a:latin typeface="Calibri" charset="0"/>
                        <a:ea typeface="Calibri" charset="0"/>
                        <a:cs typeface="Calibri" charset="0"/>
                      </a:endParaRPr>
                    </a:p>
                  </a:txBody>
                  <a:tcPr>
                    <a:lnL w="6350" cap="flat" cmpd="sng" algn="ctr">
                      <a:solidFill>
                        <a:srgbClr val="2A2A4A"/>
                      </a:solidFill>
                      <a:prstDash val="solid"/>
                      <a:round/>
                      <a:headEnd type="none" w="med" len="med"/>
                      <a:tailEnd type="none" w="med" len="med"/>
                    </a:lnL>
                    <a:lnR w="6350" cap="flat" cmpd="sng" algn="ctr">
                      <a:solidFill>
                        <a:srgbClr val="2A2A4A"/>
                      </a:solidFill>
                      <a:prstDash val="solid"/>
                      <a:round/>
                      <a:headEnd type="none" w="med" len="med"/>
                      <a:tailEnd type="none" w="med" len="med"/>
                    </a:lnR>
                    <a:lnT w="6350" cap="flat" cmpd="sng" algn="ctr">
                      <a:solidFill>
                        <a:srgbClr val="2A2A4A"/>
                      </a:solidFill>
                      <a:prstDash val="solid"/>
                      <a:round/>
                      <a:headEnd type="none" w="med" len="med"/>
                      <a:tailEnd type="none" w="med" len="med"/>
                    </a:lnT>
                    <a:lnB w="6350" cap="flat" cmpd="sng" algn="ctr">
                      <a:solidFill>
                        <a:srgbClr val="2A2A4A"/>
                      </a:solidFill>
                      <a:prstDash val="solid"/>
                      <a:round/>
                      <a:headEnd type="none" w="med" len="med"/>
                      <a:tailEnd type="none" w="med" len="med"/>
                    </a:lnB>
                    <a:solidFill>
                      <a:srgbClr val="16162A"/>
                    </a:solidFill>
                  </a:tcPr>
                </a:tc>
                <a:tc>
                  <a:txBody>
                    <a:bodyPr/>
                    <a:lstStyle/>
                    <a:p>
                      <a:pPr marL="0" indent="0" algn="l">
                        <a:buNone/>
                      </a:pPr>
                      <a:r>
                        <a:rPr lang="en-US" sz="1100" dirty="0">
                          <a:solidFill>
                            <a:srgbClr val="FFFFFF"/>
                          </a:solidFill>
                          <a:latin typeface="Calibri" pitchFamily="34" charset="0"/>
                          <a:ea typeface="Calibri" pitchFamily="34" charset="-122"/>
                          <a:cs typeface="Calibri" pitchFamily="34" charset="-120"/>
                        </a:rPr>
                        <a:t>Reporta resultados y corrige errores</a:t>
                      </a:r>
                      <a:endParaRPr lang="en-US" sz="1100" dirty="0">
                        <a:latin typeface="Calibri" charset="0"/>
                        <a:ea typeface="Calibri" charset="0"/>
                        <a:cs typeface="Calibri" charset="0"/>
                      </a:endParaRPr>
                    </a:p>
                  </a:txBody>
                  <a:tcPr>
                    <a:lnL w="6350" cap="flat" cmpd="sng" algn="ctr">
                      <a:solidFill>
                        <a:srgbClr val="2A2A4A"/>
                      </a:solidFill>
                      <a:prstDash val="solid"/>
                      <a:round/>
                      <a:headEnd type="none" w="med" len="med"/>
                      <a:tailEnd type="none" w="med" len="med"/>
                    </a:lnL>
                    <a:lnR w="6350" cap="flat" cmpd="sng" algn="ctr">
                      <a:solidFill>
                        <a:srgbClr val="2A2A4A"/>
                      </a:solidFill>
                      <a:prstDash val="solid"/>
                      <a:round/>
                      <a:headEnd type="none" w="med" len="med"/>
                      <a:tailEnd type="none" w="med" len="med"/>
                    </a:lnR>
                    <a:lnT w="6350" cap="flat" cmpd="sng" algn="ctr">
                      <a:solidFill>
                        <a:srgbClr val="2A2A4A"/>
                      </a:solidFill>
                      <a:prstDash val="solid"/>
                      <a:round/>
                      <a:headEnd type="none" w="med" len="med"/>
                      <a:tailEnd type="none" w="med" len="med"/>
                    </a:lnT>
                    <a:lnB w="6350" cap="flat" cmpd="sng" algn="ctr">
                      <a:solidFill>
                        <a:srgbClr val="2A2A4A"/>
                      </a:solidFill>
                      <a:prstDash val="solid"/>
                      <a:round/>
                      <a:headEnd type="none" w="med" len="med"/>
                      <a:tailEnd type="none" w="med" len="med"/>
                    </a:lnB>
                    <a:solidFill>
                      <a:srgbClr val="16162A"/>
                    </a:solidFill>
                  </a:tcPr>
                </a:tc>
                <a:extLst>
                  <a:ext uri="{0D108BD9-81ED-4DB2-BD59-A6C34878D82A}">
                    <a16:rowId xmlns:a16="http://schemas.microsoft.com/office/drawing/2014/main" val="10003"/>
                  </a:ext>
                </a:extLst>
              </a:tr>
              <a:tr h="475488">
                <a:tc>
                  <a:txBody>
                    <a:bodyPr/>
                    <a:lstStyle/>
                    <a:p>
                      <a:pPr marL="0" indent="0" algn="l">
                        <a:buNone/>
                      </a:pPr>
                      <a:r>
                        <a:rPr lang="en-US" sz="1100" dirty="0">
                          <a:solidFill>
                            <a:srgbClr val="7B74D4"/>
                          </a:solidFill>
                          <a:latin typeface="Calibri" pitchFamily="34" charset="0"/>
                          <a:ea typeface="Calibri" pitchFamily="34" charset="-122"/>
                          <a:cs typeface="Calibri" pitchFamily="34" charset="-120"/>
                        </a:rPr>
                        <a:t>Defines las condiciones del modelo</a:t>
                      </a:r>
                      <a:endParaRPr lang="en-US" sz="1100" dirty="0">
                        <a:latin typeface="Calibri" charset="0"/>
                        <a:ea typeface="Calibri" charset="0"/>
                        <a:cs typeface="Calibri" charset="0"/>
                      </a:endParaRPr>
                    </a:p>
                  </a:txBody>
                  <a:tcPr>
                    <a:lnL w="6350" cap="flat" cmpd="sng" algn="ctr">
                      <a:solidFill>
                        <a:srgbClr val="2A2A4A"/>
                      </a:solidFill>
                      <a:prstDash val="solid"/>
                      <a:round/>
                      <a:headEnd type="none" w="med" len="med"/>
                      <a:tailEnd type="none" w="med" len="med"/>
                    </a:lnL>
                    <a:lnR w="6350" cap="flat" cmpd="sng" algn="ctr">
                      <a:solidFill>
                        <a:srgbClr val="2A2A4A"/>
                      </a:solidFill>
                      <a:prstDash val="solid"/>
                      <a:round/>
                      <a:headEnd type="none" w="med" len="med"/>
                      <a:tailEnd type="none" w="med" len="med"/>
                    </a:lnR>
                    <a:lnT w="6350" cap="flat" cmpd="sng" algn="ctr">
                      <a:solidFill>
                        <a:srgbClr val="2A2A4A"/>
                      </a:solidFill>
                      <a:prstDash val="solid"/>
                      <a:round/>
                      <a:headEnd type="none" w="med" len="med"/>
                      <a:tailEnd type="none" w="med" len="med"/>
                    </a:lnT>
                    <a:lnB w="6350" cap="flat" cmpd="sng" algn="ctr">
                      <a:solidFill>
                        <a:srgbClr val="2A2A4A"/>
                      </a:solidFill>
                      <a:prstDash val="solid"/>
                      <a:round/>
                      <a:headEnd type="none" w="med" len="med"/>
                      <a:tailEnd type="none" w="med" len="med"/>
                    </a:lnB>
                    <a:solidFill>
                      <a:srgbClr val="1E1E35"/>
                    </a:solidFill>
                  </a:tcPr>
                </a:tc>
                <a:tc>
                  <a:txBody>
                    <a:bodyPr/>
                    <a:lstStyle/>
                    <a:p>
                      <a:pPr marL="0" indent="0" algn="l">
                        <a:buNone/>
                      </a:pPr>
                      <a:r>
                        <a:rPr lang="en-US" sz="1100" dirty="0">
                          <a:solidFill>
                            <a:srgbClr val="FFFFFF"/>
                          </a:solidFill>
                          <a:latin typeface="Calibri" pitchFamily="34" charset="0"/>
                          <a:ea typeface="Calibri" pitchFamily="34" charset="-122"/>
                          <a:cs typeface="Calibri" pitchFamily="34" charset="-120"/>
                        </a:rPr>
                        <a:t>Genera figuras y tablas</a:t>
                      </a:r>
                      <a:endParaRPr lang="en-US" sz="1100" dirty="0">
                        <a:latin typeface="Calibri" charset="0"/>
                        <a:ea typeface="Calibri" charset="0"/>
                        <a:cs typeface="Calibri" charset="0"/>
                      </a:endParaRPr>
                    </a:p>
                  </a:txBody>
                  <a:tcPr>
                    <a:lnL w="6350" cap="flat" cmpd="sng" algn="ctr">
                      <a:solidFill>
                        <a:srgbClr val="2A2A4A"/>
                      </a:solidFill>
                      <a:prstDash val="solid"/>
                      <a:round/>
                      <a:headEnd type="none" w="med" len="med"/>
                      <a:tailEnd type="none" w="med" len="med"/>
                    </a:lnL>
                    <a:lnR w="6350" cap="flat" cmpd="sng" algn="ctr">
                      <a:solidFill>
                        <a:srgbClr val="2A2A4A"/>
                      </a:solidFill>
                      <a:prstDash val="solid"/>
                      <a:round/>
                      <a:headEnd type="none" w="med" len="med"/>
                      <a:tailEnd type="none" w="med" len="med"/>
                    </a:lnR>
                    <a:lnT w="6350" cap="flat" cmpd="sng" algn="ctr">
                      <a:solidFill>
                        <a:srgbClr val="2A2A4A"/>
                      </a:solidFill>
                      <a:prstDash val="solid"/>
                      <a:round/>
                      <a:headEnd type="none" w="med" len="med"/>
                      <a:tailEnd type="none" w="med" len="med"/>
                    </a:lnT>
                    <a:lnB w="6350" cap="flat" cmpd="sng" algn="ctr">
                      <a:solidFill>
                        <a:srgbClr val="2A2A4A"/>
                      </a:solidFill>
                      <a:prstDash val="solid"/>
                      <a:round/>
                      <a:headEnd type="none" w="med" len="med"/>
                      <a:tailEnd type="none" w="med" len="med"/>
                    </a:lnB>
                    <a:solidFill>
                      <a:srgbClr val="1E1E35"/>
                    </a:solidFill>
                  </a:tcPr>
                </a:tc>
                <a:extLst>
                  <a:ext uri="{0D108BD9-81ED-4DB2-BD59-A6C34878D82A}">
                    <a16:rowId xmlns:a16="http://schemas.microsoft.com/office/drawing/2014/main" val="10004"/>
                  </a:ext>
                </a:extLst>
              </a:tr>
              <a:tr h="475488">
                <a:tc>
                  <a:txBody>
                    <a:bodyPr/>
                    <a:lstStyle/>
                    <a:p>
                      <a:pPr marL="0" indent="0" algn="l">
                        <a:buNone/>
                      </a:pPr>
                      <a:r>
                        <a:rPr lang="en-US" sz="1100" dirty="0">
                          <a:solidFill>
                            <a:srgbClr val="7B74D4"/>
                          </a:solidFill>
                          <a:latin typeface="Calibri" pitchFamily="34" charset="0"/>
                          <a:ea typeface="Calibri" pitchFamily="34" charset="-122"/>
                          <a:cs typeface="Calibri" pitchFamily="34" charset="-120"/>
                        </a:rPr>
                        <a:t>Escribes el CLAUDE.md</a:t>
                      </a:r>
                      <a:endParaRPr lang="en-US" sz="1100" dirty="0">
                        <a:latin typeface="Calibri" charset="0"/>
                        <a:ea typeface="Calibri" charset="0"/>
                        <a:cs typeface="Calibri" charset="0"/>
                      </a:endParaRPr>
                    </a:p>
                  </a:txBody>
                  <a:tcPr>
                    <a:lnL w="6350" cap="flat" cmpd="sng" algn="ctr">
                      <a:solidFill>
                        <a:srgbClr val="2A2A4A"/>
                      </a:solidFill>
                      <a:prstDash val="solid"/>
                      <a:round/>
                      <a:headEnd type="none" w="med" len="med"/>
                      <a:tailEnd type="none" w="med" len="med"/>
                    </a:lnL>
                    <a:lnR w="6350" cap="flat" cmpd="sng" algn="ctr">
                      <a:solidFill>
                        <a:srgbClr val="2A2A4A"/>
                      </a:solidFill>
                      <a:prstDash val="solid"/>
                      <a:round/>
                      <a:headEnd type="none" w="med" len="med"/>
                      <a:tailEnd type="none" w="med" len="med"/>
                    </a:lnR>
                    <a:lnT w="6350" cap="flat" cmpd="sng" algn="ctr">
                      <a:solidFill>
                        <a:srgbClr val="2A2A4A"/>
                      </a:solidFill>
                      <a:prstDash val="solid"/>
                      <a:round/>
                      <a:headEnd type="none" w="med" len="med"/>
                      <a:tailEnd type="none" w="med" len="med"/>
                    </a:lnT>
                    <a:lnB w="6350" cap="flat" cmpd="sng" algn="ctr">
                      <a:solidFill>
                        <a:srgbClr val="2A2A4A"/>
                      </a:solidFill>
                      <a:prstDash val="solid"/>
                      <a:round/>
                      <a:headEnd type="none" w="med" len="med"/>
                      <a:tailEnd type="none" w="med" len="med"/>
                    </a:lnB>
                    <a:solidFill>
                      <a:srgbClr val="16162A"/>
                    </a:solidFill>
                  </a:tcPr>
                </a:tc>
                <a:tc>
                  <a:txBody>
                    <a:bodyPr/>
                    <a:lstStyle/>
                    <a:p>
                      <a:pPr marL="0" indent="0" algn="l">
                        <a:buNone/>
                      </a:pPr>
                      <a:r>
                        <a:rPr lang="en-US" sz="1100" dirty="0">
                          <a:solidFill>
                            <a:srgbClr val="FFFFFF"/>
                          </a:solidFill>
                          <a:latin typeface="Calibri" pitchFamily="34" charset="0"/>
                          <a:ea typeface="Calibri" pitchFamily="34" charset="-122"/>
                          <a:cs typeface="Calibri" pitchFamily="34" charset="-120"/>
                        </a:rPr>
                        <a:t>Lee archivos, ejecuta Python</a:t>
                      </a:r>
                      <a:endParaRPr lang="en-US" sz="1100" dirty="0">
                        <a:latin typeface="Calibri" charset="0"/>
                        <a:ea typeface="Calibri" charset="0"/>
                        <a:cs typeface="Calibri" charset="0"/>
                      </a:endParaRPr>
                    </a:p>
                  </a:txBody>
                  <a:tcPr>
                    <a:lnL w="6350" cap="flat" cmpd="sng" algn="ctr">
                      <a:solidFill>
                        <a:srgbClr val="2A2A4A"/>
                      </a:solidFill>
                      <a:prstDash val="solid"/>
                      <a:round/>
                      <a:headEnd type="none" w="med" len="med"/>
                      <a:tailEnd type="none" w="med" len="med"/>
                    </a:lnL>
                    <a:lnR w="6350" cap="flat" cmpd="sng" algn="ctr">
                      <a:solidFill>
                        <a:srgbClr val="2A2A4A"/>
                      </a:solidFill>
                      <a:prstDash val="solid"/>
                      <a:round/>
                      <a:headEnd type="none" w="med" len="med"/>
                      <a:tailEnd type="none" w="med" len="med"/>
                    </a:lnR>
                    <a:lnT w="6350" cap="flat" cmpd="sng" algn="ctr">
                      <a:solidFill>
                        <a:srgbClr val="2A2A4A"/>
                      </a:solidFill>
                      <a:prstDash val="solid"/>
                      <a:round/>
                      <a:headEnd type="none" w="med" len="med"/>
                      <a:tailEnd type="none" w="med" len="med"/>
                    </a:lnT>
                    <a:lnB w="6350" cap="flat" cmpd="sng" algn="ctr">
                      <a:solidFill>
                        <a:srgbClr val="2A2A4A"/>
                      </a:solidFill>
                      <a:prstDash val="solid"/>
                      <a:round/>
                      <a:headEnd type="none" w="med" len="med"/>
                      <a:tailEnd type="none" w="med" len="med"/>
                    </a:lnB>
                    <a:solidFill>
                      <a:srgbClr val="16162A"/>
                    </a:solidFill>
                  </a:tcPr>
                </a:tc>
                <a:extLst>
                  <a:ext uri="{0D108BD9-81ED-4DB2-BD59-A6C34878D82A}">
                    <a16:rowId xmlns:a16="http://schemas.microsoft.com/office/drawing/2014/main" val="10005"/>
                  </a:ext>
                </a:extLst>
              </a:tr>
            </a:tbl>
          </a:graphicData>
        </a:graphic>
      </p:graphicFrame>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5">
    <p:bg>
      <p:bgPr>
        <a:solidFill>
          <a:srgbClr val="F8F8F6"/>
        </a:solidFill>
        <a:effectLst/>
      </p:bgPr>
    </p:bg>
    <p:spTree>
      <p:nvGrpSpPr>
        <p:cNvPr id="1" name=""/>
        <p:cNvGrpSpPr/>
        <p:nvPr/>
      </p:nvGrpSpPr>
      <p:grpSpPr>
        <a:xfrm>
          <a:off x="0" y="0"/>
          <a:ext cx="0" cy="0"/>
          <a:chOff x="0" y="0"/>
          <a:chExt cx="0" cy="0"/>
        </a:xfrm>
      </p:grpSpPr>
      <p:sp>
        <p:nvSpPr>
          <p:cNvPr id="2" name="Text 0"/>
          <p:cNvSpPr/>
          <p:nvPr/>
        </p:nvSpPr>
        <p:spPr>
          <a:xfrm>
            <a:off x="457200" y="256032"/>
            <a:ext cx="8229600" cy="566928"/>
          </a:xfrm>
          <a:prstGeom prst="rect">
            <a:avLst/>
          </a:prstGeom>
          <a:noFill/>
          <a:ln/>
        </p:spPr>
        <p:txBody>
          <a:bodyPr wrap="square" lIns="0" tIns="0" rIns="0" bIns="0" rtlCol="0" anchor="ctr"/>
          <a:lstStyle/>
          <a:p>
            <a:pPr marL="0" indent="0">
              <a:buNone/>
            </a:pPr>
            <a:r>
              <a:rPr lang="en-US" sz="2700" b="1" dirty="0">
                <a:solidFill>
                  <a:srgbClr val="2C2C2A"/>
                </a:solidFill>
                <a:latin typeface="Cambria" pitchFamily="34" charset="0"/>
                <a:ea typeface="Cambria" pitchFamily="34" charset="-122"/>
                <a:cs typeface="Cambria" pitchFamily="34" charset="-120"/>
              </a:rPr>
              <a:t>Demo en vivo</a:t>
            </a:r>
            <a:endParaRPr lang="en-US" sz="2700" dirty="0"/>
          </a:p>
        </p:txBody>
      </p:sp>
      <p:sp>
        <p:nvSpPr>
          <p:cNvPr id="3" name="Text 1"/>
          <p:cNvSpPr/>
          <p:nvPr/>
        </p:nvSpPr>
        <p:spPr>
          <a:xfrm>
            <a:off x="457200" y="822960"/>
            <a:ext cx="8229600" cy="320040"/>
          </a:xfrm>
          <a:prstGeom prst="rect">
            <a:avLst/>
          </a:prstGeom>
          <a:noFill/>
          <a:ln/>
        </p:spPr>
        <p:txBody>
          <a:bodyPr wrap="square" lIns="0" tIns="0" rIns="0" bIns="0" rtlCol="0" anchor="ctr"/>
          <a:lstStyle/>
          <a:p>
            <a:pPr marL="0" indent="0">
              <a:buNone/>
            </a:pPr>
            <a:r>
              <a:rPr lang="en-US" sz="1300" i="1" dirty="0">
                <a:solidFill>
                  <a:srgbClr val="5F5E5A"/>
                </a:solidFill>
                <a:latin typeface="Calibri" pitchFamily="34" charset="0"/>
                <a:ea typeface="Calibri" pitchFamily="34" charset="-122"/>
                <a:cs typeface="Calibri" pitchFamily="34" charset="-120"/>
              </a:rPr>
              <a:t>Claude Code lee el paper de Salvy et al. (2019) y propone la reimplementación</a:t>
            </a:r>
            <a:endParaRPr lang="en-US" sz="1300" dirty="0"/>
          </a:p>
        </p:txBody>
      </p:sp>
      <p:sp>
        <p:nvSpPr>
          <p:cNvPr id="4" name="Shape 2"/>
          <p:cNvSpPr/>
          <p:nvPr/>
        </p:nvSpPr>
        <p:spPr>
          <a:xfrm>
            <a:off x="365760" y="1261872"/>
            <a:ext cx="8412480" cy="1417320"/>
          </a:xfrm>
          <a:prstGeom prst="roundRect">
            <a:avLst>
              <a:gd name="adj" fmla="val 7742"/>
            </a:avLst>
          </a:prstGeom>
          <a:solidFill>
            <a:srgbClr val="EEEDFE"/>
          </a:solidFill>
          <a:ln w="10160">
            <a:solidFill>
              <a:srgbClr val="534AB7"/>
            </a:solidFill>
            <a:prstDash val="solid"/>
          </a:ln>
        </p:spPr>
        <p:txBody>
          <a:bodyPr/>
          <a:lstStyle/>
          <a:p>
            <a:endParaRPr lang="es-ES_tradnl"/>
          </a:p>
        </p:txBody>
      </p:sp>
      <p:sp>
        <p:nvSpPr>
          <p:cNvPr id="5" name="Text 3"/>
          <p:cNvSpPr/>
          <p:nvPr/>
        </p:nvSpPr>
        <p:spPr>
          <a:xfrm>
            <a:off x="566928" y="1335024"/>
            <a:ext cx="7955280" cy="292608"/>
          </a:xfrm>
          <a:prstGeom prst="rect">
            <a:avLst/>
          </a:prstGeom>
          <a:noFill/>
          <a:ln/>
        </p:spPr>
        <p:txBody>
          <a:bodyPr wrap="square" lIns="0" tIns="0" rIns="0" bIns="0" rtlCol="0" anchor="ctr"/>
          <a:lstStyle/>
          <a:p>
            <a:pPr marL="0" indent="0">
              <a:buNone/>
            </a:pPr>
            <a:r>
              <a:rPr lang="en-US" sz="1000" b="1" dirty="0">
                <a:solidFill>
                  <a:srgbClr val="534AB7"/>
                </a:solidFill>
                <a:latin typeface="Calibri" pitchFamily="34" charset="0"/>
                <a:ea typeface="Calibri" pitchFamily="34" charset="-122"/>
                <a:cs typeface="Calibri" pitchFamily="34" charset="-120"/>
              </a:rPr>
              <a:t>Paper · Salvy et al. (2019) · Bioinformatics 35(1):167–169</a:t>
            </a:r>
            <a:endParaRPr lang="en-US" sz="1000" dirty="0"/>
          </a:p>
        </p:txBody>
      </p:sp>
      <p:sp>
        <p:nvSpPr>
          <p:cNvPr id="6" name="Text 4"/>
          <p:cNvSpPr/>
          <p:nvPr/>
        </p:nvSpPr>
        <p:spPr>
          <a:xfrm>
            <a:off x="566928" y="1627632"/>
            <a:ext cx="7955280" cy="384048"/>
          </a:xfrm>
          <a:prstGeom prst="rect">
            <a:avLst/>
          </a:prstGeom>
          <a:noFill/>
          <a:ln/>
        </p:spPr>
        <p:txBody>
          <a:bodyPr wrap="square" lIns="0" tIns="0" rIns="0" bIns="0" rtlCol="0" anchor="ctr"/>
          <a:lstStyle/>
          <a:p>
            <a:pPr marL="0" indent="0">
              <a:buNone/>
            </a:pPr>
            <a:r>
              <a:rPr lang="en-US" sz="1300" i="1" dirty="0">
                <a:solidFill>
                  <a:srgbClr val="2C2C2A"/>
                </a:solidFill>
                <a:latin typeface="Cambria" pitchFamily="34" charset="0"/>
                <a:ea typeface="Cambria" pitchFamily="34" charset="-122"/>
                <a:cs typeface="Cambria" pitchFamily="34" charset="-120"/>
              </a:rPr>
              <a:t>pyTFA and matTFA: a Python package and a Matlab toolbox for Thermodynamics-based Flux Analysis</a:t>
            </a:r>
            <a:endParaRPr lang="en-US" sz="1300" dirty="0"/>
          </a:p>
        </p:txBody>
      </p:sp>
      <p:sp>
        <p:nvSpPr>
          <p:cNvPr id="7" name="Text 5"/>
          <p:cNvSpPr/>
          <p:nvPr/>
        </p:nvSpPr>
        <p:spPr>
          <a:xfrm>
            <a:off x="566928" y="2011680"/>
            <a:ext cx="7955280" cy="502920"/>
          </a:xfrm>
          <a:prstGeom prst="rect">
            <a:avLst/>
          </a:prstGeom>
          <a:noFill/>
          <a:ln/>
        </p:spPr>
        <p:txBody>
          <a:bodyPr wrap="square" lIns="0" tIns="0" rIns="0" bIns="0" rtlCol="0" anchor="ctr"/>
          <a:lstStyle/>
          <a:p>
            <a:pPr marL="0" indent="0">
              <a:buNone/>
            </a:pPr>
            <a:r>
              <a:rPr lang="en-US" sz="1050" dirty="0">
                <a:solidFill>
                  <a:srgbClr val="5F5E5A"/>
                </a:solidFill>
                <a:latin typeface="Calibri" pitchFamily="34" charset="0"/>
                <a:ea typeface="Calibri" pitchFamily="34" charset="-122"/>
                <a:cs typeface="Calibri" pitchFamily="34" charset="-120"/>
              </a:rPr>
              <a:t>Repositorio original (EPFL-LCSB/pytfa) sin mantenimiento activo desde 2021 — incompatible con Python 3.10+ y versiones actuales de COBRApy</a:t>
            </a:r>
            <a:endParaRPr lang="en-US" sz="1050" dirty="0"/>
          </a:p>
        </p:txBody>
      </p:sp>
      <p:sp>
        <p:nvSpPr>
          <p:cNvPr id="8" name="Shape 6"/>
          <p:cNvSpPr/>
          <p:nvPr/>
        </p:nvSpPr>
        <p:spPr>
          <a:xfrm>
            <a:off x="365760" y="2816352"/>
            <a:ext cx="5074920" cy="2148840"/>
          </a:xfrm>
          <a:prstGeom prst="roundRect">
            <a:avLst>
              <a:gd name="adj" fmla="val 5106"/>
            </a:avLst>
          </a:prstGeom>
          <a:solidFill>
            <a:srgbClr val="FFFFFF"/>
          </a:solidFill>
          <a:ln w="6350">
            <a:solidFill>
              <a:srgbClr val="D3D1C7"/>
            </a:solidFill>
            <a:prstDash val="solid"/>
          </a:ln>
          <a:effectLst>
            <a:outerShdw blurRad="88900" dist="25400" dir="2700000" algn="bl" rotWithShape="0">
              <a:srgbClr val="000000">
                <a:alpha val="11000"/>
              </a:srgbClr>
            </a:outerShdw>
          </a:effectLst>
        </p:spPr>
        <p:txBody>
          <a:bodyPr/>
          <a:lstStyle/>
          <a:p>
            <a:endParaRPr lang="es-ES_tradnl"/>
          </a:p>
        </p:txBody>
      </p:sp>
      <p:sp>
        <p:nvSpPr>
          <p:cNvPr id="9" name="Text 7"/>
          <p:cNvSpPr/>
          <p:nvPr/>
        </p:nvSpPr>
        <p:spPr>
          <a:xfrm>
            <a:off x="548640" y="2907792"/>
            <a:ext cx="4663440" cy="347472"/>
          </a:xfrm>
          <a:prstGeom prst="rect">
            <a:avLst/>
          </a:prstGeom>
          <a:noFill/>
          <a:ln/>
        </p:spPr>
        <p:txBody>
          <a:bodyPr wrap="square" lIns="0" tIns="0" rIns="0" bIns="0" rtlCol="0" anchor="ctr"/>
          <a:lstStyle/>
          <a:p>
            <a:pPr marL="0" indent="0">
              <a:buNone/>
            </a:pPr>
            <a:r>
              <a:rPr lang="en-US" sz="1100" b="1" dirty="0">
                <a:solidFill>
                  <a:srgbClr val="534AB7"/>
                </a:solidFill>
                <a:latin typeface="Calibri" pitchFamily="34" charset="0"/>
                <a:ea typeface="Calibri" pitchFamily="34" charset="-122"/>
                <a:cs typeface="Calibri" pitchFamily="34" charset="-120"/>
              </a:rPr>
              <a:t>El agente va a:</a:t>
            </a:r>
            <a:endParaRPr lang="en-US" sz="1100" dirty="0"/>
          </a:p>
        </p:txBody>
      </p:sp>
      <p:sp>
        <p:nvSpPr>
          <p:cNvPr id="10" name="Text 8"/>
          <p:cNvSpPr/>
          <p:nvPr/>
        </p:nvSpPr>
        <p:spPr>
          <a:xfrm>
            <a:off x="548640" y="3310128"/>
            <a:ext cx="4663440" cy="1554480"/>
          </a:xfrm>
          <a:prstGeom prst="rect">
            <a:avLst/>
          </a:prstGeom>
          <a:noFill/>
          <a:ln/>
        </p:spPr>
        <p:txBody>
          <a:bodyPr wrap="square" rtlCol="0" anchor="ctr"/>
          <a:lstStyle/>
          <a:p>
            <a:pPr marL="342900" indent="-342900">
              <a:spcAft>
                <a:spcPts val="500"/>
              </a:spcAft>
              <a:buSzPct val="100000"/>
              <a:buChar char="•"/>
            </a:pPr>
            <a:r>
              <a:rPr lang="en-US" sz="1100" dirty="0">
                <a:solidFill>
                  <a:srgbClr val="5F5E5A"/>
                </a:solidFill>
                <a:latin typeface="Calibri" pitchFamily="34" charset="0"/>
                <a:ea typeface="Calibri" pitchFamily="34" charset="-122"/>
                <a:cs typeface="Calibri" pitchFamily="34" charset="-120"/>
              </a:rPr>
              <a:t>Leer el PDF y el código del repositorio</a:t>
            </a:r>
            <a:endParaRPr lang="en-US" sz="1100" dirty="0"/>
          </a:p>
          <a:p>
            <a:pPr marL="342900" indent="-342900">
              <a:spcAft>
                <a:spcPts val="500"/>
              </a:spcAft>
              <a:buSzPct val="100000"/>
              <a:buChar char="•"/>
            </a:pPr>
            <a:r>
              <a:rPr lang="en-US" sz="1100" dirty="0">
                <a:solidFill>
                  <a:srgbClr val="5F5E5A"/>
                </a:solidFill>
                <a:latin typeface="Calibri" pitchFamily="34" charset="0"/>
                <a:ea typeface="Calibri" pitchFamily="34" charset="-122"/>
                <a:cs typeface="Calibri" pitchFamily="34" charset="-120"/>
              </a:rPr>
              <a:t>Identificar qué partes del código están obsoletas</a:t>
            </a:r>
            <a:endParaRPr lang="en-US" sz="1100" dirty="0"/>
          </a:p>
          <a:p>
            <a:pPr marL="342900" indent="-342900">
              <a:spcAft>
                <a:spcPts val="500"/>
              </a:spcAft>
              <a:buSzPct val="100000"/>
              <a:buChar char="•"/>
            </a:pPr>
            <a:r>
              <a:rPr lang="en-US" sz="1100" dirty="0">
                <a:solidFill>
                  <a:srgbClr val="5F5E5A"/>
                </a:solidFill>
                <a:latin typeface="Calibri" pitchFamily="34" charset="0"/>
                <a:ea typeface="Calibri" pitchFamily="34" charset="-122"/>
                <a:cs typeface="Calibri" pitchFamily="34" charset="-120"/>
              </a:rPr>
              <a:t>Proponer un plan de reimplementación modular</a:t>
            </a:r>
            <a:endParaRPr lang="en-US" sz="1100" dirty="0"/>
          </a:p>
          <a:p>
            <a:pPr marL="342900" indent="-342900">
              <a:spcAft>
                <a:spcPts val="500"/>
              </a:spcAft>
              <a:buSzPct val="100000"/>
              <a:buChar char="•"/>
            </a:pPr>
            <a:r>
              <a:rPr lang="en-US" sz="1100" dirty="0">
                <a:solidFill>
                  <a:srgbClr val="5F5E5A"/>
                </a:solidFill>
                <a:latin typeface="Calibri" pitchFamily="34" charset="0"/>
                <a:ea typeface="Calibri" pitchFamily="34" charset="-122"/>
                <a:cs typeface="Calibri" pitchFamily="34" charset="-120"/>
              </a:rPr>
              <a:t>Señalar qué dependencias deben actualizarse</a:t>
            </a:r>
            <a:endParaRPr lang="en-US" sz="1100" dirty="0"/>
          </a:p>
        </p:txBody>
      </p:sp>
      <p:sp>
        <p:nvSpPr>
          <p:cNvPr id="11" name="Shape 9"/>
          <p:cNvSpPr/>
          <p:nvPr/>
        </p:nvSpPr>
        <p:spPr>
          <a:xfrm>
            <a:off x="5623560" y="2816352"/>
            <a:ext cx="3154680" cy="2148840"/>
          </a:xfrm>
          <a:prstGeom prst="roundRect">
            <a:avLst>
              <a:gd name="adj" fmla="val 5106"/>
            </a:avLst>
          </a:prstGeom>
          <a:solidFill>
            <a:srgbClr val="FFFFFF"/>
          </a:solidFill>
          <a:ln w="6350">
            <a:solidFill>
              <a:srgbClr val="D3D1C7"/>
            </a:solidFill>
            <a:prstDash val="solid"/>
          </a:ln>
          <a:effectLst>
            <a:outerShdw blurRad="88900" dist="25400" dir="2700000" algn="bl" rotWithShape="0">
              <a:srgbClr val="000000">
                <a:alpha val="11000"/>
              </a:srgbClr>
            </a:outerShdw>
          </a:effectLst>
        </p:spPr>
        <p:txBody>
          <a:bodyPr/>
          <a:lstStyle/>
          <a:p>
            <a:endParaRPr lang="es-ES_tradnl"/>
          </a:p>
        </p:txBody>
      </p:sp>
      <p:sp>
        <p:nvSpPr>
          <p:cNvPr id="12" name="Text 10"/>
          <p:cNvSpPr/>
          <p:nvPr/>
        </p:nvSpPr>
        <p:spPr>
          <a:xfrm>
            <a:off x="5788152" y="2907792"/>
            <a:ext cx="2834640" cy="347472"/>
          </a:xfrm>
          <a:prstGeom prst="rect">
            <a:avLst/>
          </a:prstGeom>
          <a:noFill/>
          <a:ln/>
        </p:spPr>
        <p:txBody>
          <a:bodyPr wrap="square" lIns="0" tIns="0" rIns="0" bIns="0" rtlCol="0" anchor="ctr"/>
          <a:lstStyle/>
          <a:p>
            <a:pPr marL="0" indent="0">
              <a:buNone/>
            </a:pPr>
            <a:r>
              <a:rPr lang="en-US" sz="1050" b="1" dirty="0">
                <a:solidFill>
                  <a:srgbClr val="534AB7"/>
                </a:solidFill>
                <a:latin typeface="Calibri" pitchFamily="34" charset="0"/>
                <a:ea typeface="Calibri" pitchFamily="34" charset="-122"/>
                <a:cs typeface="Calibri" pitchFamily="34" charset="-120"/>
              </a:rPr>
              <a:t>👀  Tu rol durante la demo</a:t>
            </a:r>
            <a:endParaRPr lang="en-US" sz="1050" dirty="0"/>
          </a:p>
        </p:txBody>
      </p:sp>
      <p:sp>
        <p:nvSpPr>
          <p:cNvPr id="13" name="Text 11"/>
          <p:cNvSpPr/>
          <p:nvPr/>
        </p:nvSpPr>
        <p:spPr>
          <a:xfrm>
            <a:off x="5788152" y="3310128"/>
            <a:ext cx="2834640" cy="1554480"/>
          </a:xfrm>
          <a:prstGeom prst="rect">
            <a:avLst/>
          </a:prstGeom>
          <a:noFill/>
          <a:ln/>
        </p:spPr>
        <p:txBody>
          <a:bodyPr wrap="square" rtlCol="0" anchor="ctr"/>
          <a:lstStyle/>
          <a:p>
            <a:pPr marL="342900" indent="-342900">
              <a:spcAft>
                <a:spcPts val="600"/>
              </a:spcAft>
              <a:buSzPct val="100000"/>
              <a:buChar char="•"/>
            </a:pPr>
            <a:r>
              <a:rPr lang="en-US" sz="1050" dirty="0">
                <a:solidFill>
                  <a:srgbClr val="5F5E5A"/>
                </a:solidFill>
                <a:latin typeface="Calibri" pitchFamily="34" charset="0"/>
                <a:ea typeface="Calibri" pitchFamily="34" charset="-122"/>
                <a:cs typeface="Calibri" pitchFamily="34" charset="-120"/>
              </a:rPr>
              <a:t>¿Entendió el algoritmo TFA?</a:t>
            </a:r>
            <a:endParaRPr lang="en-US" sz="1050" dirty="0"/>
          </a:p>
          <a:p>
            <a:pPr marL="342900" indent="-342900">
              <a:spcAft>
                <a:spcPts val="600"/>
              </a:spcAft>
              <a:buSzPct val="100000"/>
              <a:buChar char="•"/>
            </a:pPr>
            <a:r>
              <a:rPr lang="en-US" sz="1050" dirty="0">
                <a:solidFill>
                  <a:srgbClr val="5F5E5A"/>
                </a:solidFill>
                <a:latin typeface="Calibri" pitchFamily="34" charset="0"/>
                <a:ea typeface="Calibri" pitchFamily="34" charset="-122"/>
                <a:cs typeface="Calibri" pitchFamily="34" charset="-120"/>
              </a:rPr>
              <a:t>¿El plan tiene sentido para modernizar el código?</a:t>
            </a:r>
            <a:endParaRPr lang="en-US" sz="1050" dirty="0"/>
          </a:p>
          <a:p>
            <a:pPr marL="342900" indent="-342900">
              <a:spcAft>
                <a:spcPts val="600"/>
              </a:spcAft>
              <a:buSzPct val="100000"/>
              <a:buChar char="•"/>
            </a:pPr>
            <a:r>
              <a:rPr lang="en-US" sz="1050" dirty="0">
                <a:solidFill>
                  <a:srgbClr val="5F5E5A"/>
                </a:solidFill>
                <a:latin typeface="Calibri" pitchFamily="34" charset="0"/>
                <a:ea typeface="Calibri" pitchFamily="34" charset="-122"/>
                <a:cs typeface="Calibri" pitchFamily="34" charset="-120"/>
              </a:rPr>
              <a:t>¿Detectó los problemas de compatibilidad?</a:t>
            </a:r>
            <a:endParaRPr lang="en-US" sz="105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6">
    <p:bg>
      <p:bgPr>
        <a:solidFill>
          <a:srgbClr val="F8F8F6"/>
        </a:solidFill>
        <a:effectLst/>
      </p:bgPr>
    </p:bg>
    <p:spTree>
      <p:nvGrpSpPr>
        <p:cNvPr id="1" name=""/>
        <p:cNvGrpSpPr/>
        <p:nvPr/>
      </p:nvGrpSpPr>
      <p:grpSpPr>
        <a:xfrm>
          <a:off x="0" y="0"/>
          <a:ext cx="0" cy="0"/>
          <a:chOff x="0" y="0"/>
          <a:chExt cx="0" cy="0"/>
        </a:xfrm>
      </p:grpSpPr>
      <p:sp>
        <p:nvSpPr>
          <p:cNvPr id="2" name="Text 0"/>
          <p:cNvSpPr/>
          <p:nvPr/>
        </p:nvSpPr>
        <p:spPr>
          <a:xfrm>
            <a:off x="457200" y="256032"/>
            <a:ext cx="8229600" cy="566928"/>
          </a:xfrm>
          <a:prstGeom prst="rect">
            <a:avLst/>
          </a:prstGeom>
          <a:noFill/>
          <a:ln/>
        </p:spPr>
        <p:txBody>
          <a:bodyPr wrap="square" lIns="0" tIns="0" rIns="0" bIns="0" rtlCol="0" anchor="ctr"/>
          <a:lstStyle/>
          <a:p>
            <a:pPr marL="0" indent="0">
              <a:buNone/>
            </a:pPr>
            <a:r>
              <a:rPr lang="en-US" sz="2700" b="1" dirty="0">
                <a:solidFill>
                  <a:srgbClr val="2C2C2A"/>
                </a:solidFill>
                <a:latin typeface="Cambria" pitchFamily="34" charset="0"/>
                <a:ea typeface="Cambria" pitchFamily="34" charset="-122"/>
                <a:cs typeface="Cambria" pitchFamily="34" charset="-120"/>
              </a:rPr>
              <a:t>El dataset que trabajaremos</a:t>
            </a:r>
            <a:endParaRPr lang="en-US" sz="2700" dirty="0"/>
          </a:p>
        </p:txBody>
      </p:sp>
      <p:sp>
        <p:nvSpPr>
          <p:cNvPr id="3" name="Text 1"/>
          <p:cNvSpPr/>
          <p:nvPr/>
        </p:nvSpPr>
        <p:spPr>
          <a:xfrm>
            <a:off x="457200" y="822960"/>
            <a:ext cx="8229600" cy="320040"/>
          </a:xfrm>
          <a:prstGeom prst="rect">
            <a:avLst/>
          </a:prstGeom>
          <a:noFill/>
          <a:ln/>
        </p:spPr>
        <p:txBody>
          <a:bodyPr wrap="square" lIns="0" tIns="0" rIns="0" bIns="0" rtlCol="0" anchor="ctr"/>
          <a:lstStyle/>
          <a:p>
            <a:pPr marL="0" indent="0">
              <a:buNone/>
            </a:pPr>
            <a:r>
              <a:rPr lang="en-US" sz="1300" i="1" dirty="0">
                <a:solidFill>
                  <a:srgbClr val="5F5E5A"/>
                </a:solidFill>
                <a:latin typeface="Calibri" pitchFamily="34" charset="0"/>
                <a:ea typeface="Calibri" pitchFamily="34" charset="-122"/>
                <a:cs typeface="Calibri" pitchFamily="34" charset="-120"/>
              </a:rPr>
              <a:t>Neilson et al. (2017) — mSystems — Desierto de Atacama, Chile</a:t>
            </a:r>
            <a:endParaRPr lang="en-US" sz="1300" dirty="0"/>
          </a:p>
        </p:txBody>
      </p:sp>
      <p:sp>
        <p:nvSpPr>
          <p:cNvPr id="4" name="Shape 2"/>
          <p:cNvSpPr/>
          <p:nvPr/>
        </p:nvSpPr>
        <p:spPr>
          <a:xfrm>
            <a:off x="320040" y="1417320"/>
            <a:ext cx="2697480" cy="1508760"/>
          </a:xfrm>
          <a:prstGeom prst="roundRect">
            <a:avLst>
              <a:gd name="adj" fmla="val 6061"/>
            </a:avLst>
          </a:prstGeom>
          <a:solidFill>
            <a:srgbClr val="FFFFFF"/>
          </a:solidFill>
          <a:ln w="6350">
            <a:solidFill>
              <a:srgbClr val="D3D1C7"/>
            </a:solidFill>
            <a:prstDash val="solid"/>
          </a:ln>
          <a:effectLst>
            <a:outerShdw blurRad="88900" dist="25400" dir="2700000" algn="bl" rotWithShape="0">
              <a:srgbClr val="000000">
                <a:alpha val="11000"/>
              </a:srgbClr>
            </a:outerShdw>
          </a:effectLst>
        </p:spPr>
        <p:txBody>
          <a:bodyPr/>
          <a:lstStyle/>
          <a:p>
            <a:endParaRPr lang="es-ES_tradnl"/>
          </a:p>
        </p:txBody>
      </p:sp>
      <p:sp>
        <p:nvSpPr>
          <p:cNvPr id="5" name="Text 3"/>
          <p:cNvSpPr/>
          <p:nvPr/>
        </p:nvSpPr>
        <p:spPr>
          <a:xfrm>
            <a:off x="457200" y="1508760"/>
            <a:ext cx="2423160" cy="365760"/>
          </a:xfrm>
          <a:prstGeom prst="rect">
            <a:avLst/>
          </a:prstGeom>
          <a:noFill/>
          <a:ln/>
        </p:spPr>
        <p:txBody>
          <a:bodyPr wrap="square" lIns="0" tIns="0" rIns="0" bIns="0" rtlCol="0" anchor="ctr"/>
          <a:lstStyle/>
          <a:p>
            <a:pPr marL="0" indent="0">
              <a:buNone/>
            </a:pPr>
            <a:r>
              <a:rPr lang="en-US" sz="1050" b="1" dirty="0">
                <a:solidFill>
                  <a:srgbClr val="534AB7"/>
                </a:solidFill>
                <a:latin typeface="Calibri" pitchFamily="34" charset="0"/>
                <a:ea typeface="Calibri" pitchFamily="34" charset="-122"/>
                <a:cs typeface="Calibri" pitchFamily="34" charset="-120"/>
              </a:rPr>
              <a:t>🗺️  Sitio de estudio</a:t>
            </a:r>
            <a:endParaRPr lang="en-US" sz="1050" dirty="0"/>
          </a:p>
        </p:txBody>
      </p:sp>
      <p:sp>
        <p:nvSpPr>
          <p:cNvPr id="6" name="Text 4"/>
          <p:cNvSpPr/>
          <p:nvPr/>
        </p:nvSpPr>
        <p:spPr>
          <a:xfrm>
            <a:off x="457200" y="1892808"/>
            <a:ext cx="2423160" cy="914400"/>
          </a:xfrm>
          <a:prstGeom prst="rect">
            <a:avLst/>
          </a:prstGeom>
          <a:noFill/>
          <a:ln/>
        </p:spPr>
        <p:txBody>
          <a:bodyPr wrap="square" lIns="0" tIns="0" rIns="0" bIns="0" rtlCol="0" anchor="ctr"/>
          <a:lstStyle/>
          <a:p>
            <a:pPr marL="0" indent="0">
              <a:buNone/>
            </a:pPr>
            <a:r>
              <a:rPr lang="en-US" sz="1000" dirty="0">
                <a:solidFill>
                  <a:srgbClr val="5F5E5A"/>
                </a:solidFill>
                <a:latin typeface="Calibri" pitchFamily="34" charset="0"/>
                <a:ea typeface="Calibri" pitchFamily="34" charset="-122"/>
                <a:cs typeface="Calibri" pitchFamily="34" charset="-120"/>
              </a:rPr>
              <a:t>Dos transectos: Baquedano (BAQ) y Yungay (YUN)</a:t>
            </a:r>
            <a:endParaRPr lang="en-US" sz="1000" dirty="0"/>
          </a:p>
        </p:txBody>
      </p:sp>
      <p:sp>
        <p:nvSpPr>
          <p:cNvPr id="7" name="Shape 5"/>
          <p:cNvSpPr/>
          <p:nvPr/>
        </p:nvSpPr>
        <p:spPr>
          <a:xfrm>
            <a:off x="3172968" y="1417320"/>
            <a:ext cx="2697480" cy="1508760"/>
          </a:xfrm>
          <a:prstGeom prst="roundRect">
            <a:avLst>
              <a:gd name="adj" fmla="val 6061"/>
            </a:avLst>
          </a:prstGeom>
          <a:solidFill>
            <a:srgbClr val="FFFFFF"/>
          </a:solidFill>
          <a:ln w="6350">
            <a:solidFill>
              <a:srgbClr val="D3D1C7"/>
            </a:solidFill>
            <a:prstDash val="solid"/>
          </a:ln>
          <a:effectLst>
            <a:outerShdw blurRad="88900" dist="25400" dir="2700000" algn="bl" rotWithShape="0">
              <a:srgbClr val="000000">
                <a:alpha val="11000"/>
              </a:srgbClr>
            </a:outerShdw>
          </a:effectLst>
        </p:spPr>
        <p:txBody>
          <a:bodyPr/>
          <a:lstStyle/>
          <a:p>
            <a:endParaRPr lang="es-ES_tradnl"/>
          </a:p>
        </p:txBody>
      </p:sp>
      <p:sp>
        <p:nvSpPr>
          <p:cNvPr id="8" name="Text 6"/>
          <p:cNvSpPr/>
          <p:nvPr/>
        </p:nvSpPr>
        <p:spPr>
          <a:xfrm>
            <a:off x="3310128" y="1508760"/>
            <a:ext cx="2423160" cy="365760"/>
          </a:xfrm>
          <a:prstGeom prst="rect">
            <a:avLst/>
          </a:prstGeom>
          <a:noFill/>
          <a:ln/>
        </p:spPr>
        <p:txBody>
          <a:bodyPr wrap="square" lIns="0" tIns="0" rIns="0" bIns="0" rtlCol="0" anchor="ctr"/>
          <a:lstStyle/>
          <a:p>
            <a:pPr marL="0" indent="0">
              <a:buNone/>
            </a:pPr>
            <a:r>
              <a:rPr lang="en-US" sz="1050" b="1" dirty="0">
                <a:solidFill>
                  <a:srgbClr val="534AB7"/>
                </a:solidFill>
                <a:latin typeface="Calibri" pitchFamily="34" charset="0"/>
                <a:ea typeface="Calibri" pitchFamily="34" charset="-122"/>
                <a:cs typeface="Calibri" pitchFamily="34" charset="-120"/>
              </a:rPr>
              <a:t>🧪  Diseño</a:t>
            </a:r>
            <a:endParaRPr lang="en-US" sz="1050" dirty="0"/>
          </a:p>
        </p:txBody>
      </p:sp>
      <p:sp>
        <p:nvSpPr>
          <p:cNvPr id="9" name="Text 7"/>
          <p:cNvSpPr/>
          <p:nvPr/>
        </p:nvSpPr>
        <p:spPr>
          <a:xfrm>
            <a:off x="3310128" y="1892808"/>
            <a:ext cx="2423160" cy="914400"/>
          </a:xfrm>
          <a:prstGeom prst="rect">
            <a:avLst/>
          </a:prstGeom>
          <a:noFill/>
          <a:ln/>
        </p:spPr>
        <p:txBody>
          <a:bodyPr wrap="square" lIns="0" tIns="0" rIns="0" bIns="0" rtlCol="0" anchor="ctr"/>
          <a:lstStyle/>
          <a:p>
            <a:pPr marL="0" indent="0">
              <a:buNone/>
            </a:pPr>
            <a:r>
              <a:rPr lang="en-US" sz="1000" dirty="0">
                <a:solidFill>
                  <a:srgbClr val="5F5E5A"/>
                </a:solidFill>
                <a:latin typeface="Calibri" pitchFamily="34" charset="0"/>
                <a:ea typeface="Calibri" pitchFamily="34" charset="-122"/>
                <a:cs typeface="Calibri" pitchFamily="34" charset="-120"/>
              </a:rPr>
              <a:t>16 sitios · 3 profundidades · 54 muestras secuenciadas</a:t>
            </a:r>
            <a:endParaRPr lang="en-US" sz="1000" dirty="0"/>
          </a:p>
        </p:txBody>
      </p:sp>
      <p:sp>
        <p:nvSpPr>
          <p:cNvPr id="10" name="Shape 8"/>
          <p:cNvSpPr/>
          <p:nvPr/>
        </p:nvSpPr>
        <p:spPr>
          <a:xfrm>
            <a:off x="6025896" y="1417320"/>
            <a:ext cx="2697480" cy="1508760"/>
          </a:xfrm>
          <a:prstGeom prst="roundRect">
            <a:avLst>
              <a:gd name="adj" fmla="val 6061"/>
            </a:avLst>
          </a:prstGeom>
          <a:solidFill>
            <a:srgbClr val="FFFFFF"/>
          </a:solidFill>
          <a:ln w="6350">
            <a:solidFill>
              <a:srgbClr val="D3D1C7"/>
            </a:solidFill>
            <a:prstDash val="solid"/>
          </a:ln>
          <a:effectLst>
            <a:outerShdw blurRad="88900" dist="25400" dir="2700000" algn="bl" rotWithShape="0">
              <a:srgbClr val="000000">
                <a:alpha val="11000"/>
              </a:srgbClr>
            </a:outerShdw>
          </a:effectLst>
        </p:spPr>
        <p:txBody>
          <a:bodyPr/>
          <a:lstStyle/>
          <a:p>
            <a:endParaRPr lang="es-ES_tradnl"/>
          </a:p>
        </p:txBody>
      </p:sp>
      <p:sp>
        <p:nvSpPr>
          <p:cNvPr id="11" name="Text 9"/>
          <p:cNvSpPr/>
          <p:nvPr/>
        </p:nvSpPr>
        <p:spPr>
          <a:xfrm>
            <a:off x="6163056" y="1508760"/>
            <a:ext cx="2423160" cy="365760"/>
          </a:xfrm>
          <a:prstGeom prst="rect">
            <a:avLst/>
          </a:prstGeom>
          <a:noFill/>
          <a:ln/>
        </p:spPr>
        <p:txBody>
          <a:bodyPr wrap="square" lIns="0" tIns="0" rIns="0" bIns="0" rtlCol="0" anchor="ctr"/>
          <a:lstStyle/>
          <a:p>
            <a:pPr marL="0" indent="0">
              <a:buNone/>
            </a:pPr>
            <a:r>
              <a:rPr lang="en-US" sz="1050" b="1" dirty="0">
                <a:solidFill>
                  <a:srgbClr val="534AB7"/>
                </a:solidFill>
                <a:latin typeface="Calibri" pitchFamily="34" charset="0"/>
                <a:ea typeface="Calibri" pitchFamily="34" charset="-122"/>
                <a:cs typeface="Calibri" pitchFamily="34" charset="-120"/>
              </a:rPr>
              <a:t>🌡️  Variables ambientales</a:t>
            </a:r>
            <a:endParaRPr lang="en-US" sz="1050" dirty="0"/>
          </a:p>
        </p:txBody>
      </p:sp>
      <p:sp>
        <p:nvSpPr>
          <p:cNvPr id="12" name="Text 10"/>
          <p:cNvSpPr/>
          <p:nvPr/>
        </p:nvSpPr>
        <p:spPr>
          <a:xfrm>
            <a:off x="6163056" y="1892808"/>
            <a:ext cx="2423160" cy="914400"/>
          </a:xfrm>
          <a:prstGeom prst="rect">
            <a:avLst/>
          </a:prstGeom>
          <a:noFill/>
          <a:ln/>
        </p:spPr>
        <p:txBody>
          <a:bodyPr wrap="square" lIns="0" tIns="0" rIns="0" bIns="0" rtlCol="0" anchor="ctr"/>
          <a:lstStyle/>
          <a:p>
            <a:pPr marL="0" indent="0">
              <a:buNone/>
            </a:pPr>
            <a:r>
              <a:rPr lang="en-US" sz="1000" dirty="0">
                <a:solidFill>
                  <a:srgbClr val="5F5E5A"/>
                </a:solidFill>
                <a:latin typeface="Calibri" pitchFamily="34" charset="0"/>
                <a:ea typeface="Calibri" pitchFamily="34" charset="-122"/>
                <a:cs typeface="Calibri" pitchFamily="34" charset="-120"/>
              </a:rPr>
              <a:t>Humedad relativa del suelo · Temperatura · Elevación · pH</a:t>
            </a:r>
            <a:endParaRPr lang="en-US" sz="1000" dirty="0"/>
          </a:p>
        </p:txBody>
      </p:sp>
      <p:sp>
        <p:nvSpPr>
          <p:cNvPr id="13" name="Shape 11"/>
          <p:cNvSpPr/>
          <p:nvPr/>
        </p:nvSpPr>
        <p:spPr>
          <a:xfrm>
            <a:off x="320040" y="3108960"/>
            <a:ext cx="2697480" cy="1508760"/>
          </a:xfrm>
          <a:prstGeom prst="roundRect">
            <a:avLst>
              <a:gd name="adj" fmla="val 6061"/>
            </a:avLst>
          </a:prstGeom>
          <a:solidFill>
            <a:srgbClr val="FFFFFF"/>
          </a:solidFill>
          <a:ln w="6350">
            <a:solidFill>
              <a:srgbClr val="D3D1C7"/>
            </a:solidFill>
            <a:prstDash val="solid"/>
          </a:ln>
          <a:effectLst>
            <a:outerShdw blurRad="88900" dist="25400" dir="2700000" algn="bl" rotWithShape="0">
              <a:srgbClr val="000000">
                <a:alpha val="11000"/>
              </a:srgbClr>
            </a:outerShdw>
          </a:effectLst>
        </p:spPr>
        <p:txBody>
          <a:bodyPr/>
          <a:lstStyle/>
          <a:p>
            <a:endParaRPr lang="es-ES_tradnl"/>
          </a:p>
        </p:txBody>
      </p:sp>
      <p:sp>
        <p:nvSpPr>
          <p:cNvPr id="14" name="Text 12"/>
          <p:cNvSpPr/>
          <p:nvPr/>
        </p:nvSpPr>
        <p:spPr>
          <a:xfrm>
            <a:off x="457200" y="3200400"/>
            <a:ext cx="2423160" cy="365760"/>
          </a:xfrm>
          <a:prstGeom prst="rect">
            <a:avLst/>
          </a:prstGeom>
          <a:noFill/>
          <a:ln/>
        </p:spPr>
        <p:txBody>
          <a:bodyPr wrap="square" lIns="0" tIns="0" rIns="0" bIns="0" rtlCol="0" anchor="ctr"/>
          <a:lstStyle/>
          <a:p>
            <a:pPr marL="0" indent="0">
              <a:buNone/>
            </a:pPr>
            <a:r>
              <a:rPr lang="en-US" sz="1050" b="1" dirty="0">
                <a:solidFill>
                  <a:srgbClr val="534AB7"/>
                </a:solidFill>
                <a:latin typeface="Calibri" pitchFamily="34" charset="0"/>
                <a:ea typeface="Calibri" pitchFamily="34" charset="-122"/>
                <a:cs typeface="Calibri" pitchFamily="34" charset="-120"/>
              </a:rPr>
              <a:t>🧬  Datos</a:t>
            </a:r>
            <a:endParaRPr lang="en-US" sz="1050" dirty="0"/>
          </a:p>
        </p:txBody>
      </p:sp>
      <p:sp>
        <p:nvSpPr>
          <p:cNvPr id="15" name="Text 13"/>
          <p:cNvSpPr/>
          <p:nvPr/>
        </p:nvSpPr>
        <p:spPr>
          <a:xfrm>
            <a:off x="457200" y="3584448"/>
            <a:ext cx="2423160" cy="914400"/>
          </a:xfrm>
          <a:prstGeom prst="rect">
            <a:avLst/>
          </a:prstGeom>
          <a:noFill/>
          <a:ln/>
        </p:spPr>
        <p:txBody>
          <a:bodyPr wrap="square" lIns="0" tIns="0" rIns="0" bIns="0" rtlCol="0" anchor="ctr"/>
          <a:lstStyle/>
          <a:p>
            <a:pPr marL="0" indent="0">
              <a:buNone/>
            </a:pPr>
            <a:r>
              <a:rPr lang="en-US" sz="1000" dirty="0">
                <a:solidFill>
                  <a:srgbClr val="5F5E5A"/>
                </a:solidFill>
                <a:latin typeface="Calibri" pitchFamily="34" charset="0"/>
                <a:ea typeface="Calibri" pitchFamily="34" charset="-122"/>
                <a:cs typeface="Calibri" pitchFamily="34" charset="-120"/>
              </a:rPr>
              <a:t>1.109 OTUs × 54 muestras</a:t>
            </a:r>
            <a:endParaRPr lang="en-US" sz="1000" dirty="0"/>
          </a:p>
          <a:p>
            <a:pPr marL="0" indent="0">
              <a:buNone/>
            </a:pPr>
            <a:r>
              <a:rPr lang="en-US" sz="1000" dirty="0">
                <a:solidFill>
                  <a:srgbClr val="5F5E5A"/>
                </a:solidFill>
                <a:latin typeface="Calibri" pitchFamily="34" charset="0"/>
                <a:ea typeface="Calibri" pitchFamily="34" charset="-122"/>
                <a:cs typeface="Calibri" pitchFamily="34" charset="-120"/>
              </a:rPr>
              <a:t>archivo: data/abundancias.tsv</a:t>
            </a:r>
            <a:endParaRPr lang="en-US" sz="1000" dirty="0"/>
          </a:p>
        </p:txBody>
      </p:sp>
      <p:sp>
        <p:nvSpPr>
          <p:cNvPr id="16" name="Shape 14"/>
          <p:cNvSpPr/>
          <p:nvPr/>
        </p:nvSpPr>
        <p:spPr>
          <a:xfrm>
            <a:off x="3172968" y="3108960"/>
            <a:ext cx="2697480" cy="1508760"/>
          </a:xfrm>
          <a:prstGeom prst="roundRect">
            <a:avLst>
              <a:gd name="adj" fmla="val 6061"/>
            </a:avLst>
          </a:prstGeom>
          <a:solidFill>
            <a:srgbClr val="FFFFFF"/>
          </a:solidFill>
          <a:ln w="6350">
            <a:solidFill>
              <a:srgbClr val="D3D1C7"/>
            </a:solidFill>
            <a:prstDash val="solid"/>
          </a:ln>
          <a:effectLst>
            <a:outerShdw blurRad="88900" dist="25400" dir="2700000" algn="bl" rotWithShape="0">
              <a:srgbClr val="000000">
                <a:alpha val="11000"/>
              </a:srgbClr>
            </a:outerShdw>
          </a:effectLst>
        </p:spPr>
        <p:txBody>
          <a:bodyPr/>
          <a:lstStyle/>
          <a:p>
            <a:endParaRPr lang="es-ES_tradnl"/>
          </a:p>
        </p:txBody>
      </p:sp>
      <p:sp>
        <p:nvSpPr>
          <p:cNvPr id="17" name="Text 15"/>
          <p:cNvSpPr/>
          <p:nvPr/>
        </p:nvSpPr>
        <p:spPr>
          <a:xfrm>
            <a:off x="3310128" y="3200400"/>
            <a:ext cx="2423160" cy="365760"/>
          </a:xfrm>
          <a:prstGeom prst="rect">
            <a:avLst/>
          </a:prstGeom>
          <a:noFill/>
          <a:ln/>
        </p:spPr>
        <p:txBody>
          <a:bodyPr wrap="square" lIns="0" tIns="0" rIns="0" bIns="0" rtlCol="0" anchor="ctr"/>
          <a:lstStyle/>
          <a:p>
            <a:pPr marL="0" indent="0">
              <a:buNone/>
            </a:pPr>
            <a:r>
              <a:rPr lang="en-US" sz="1050" b="1" dirty="0">
                <a:solidFill>
                  <a:srgbClr val="534AB7"/>
                </a:solidFill>
                <a:latin typeface="Calibri" pitchFamily="34" charset="0"/>
                <a:ea typeface="Calibri" pitchFamily="34" charset="-122"/>
                <a:cs typeface="Calibri" pitchFamily="34" charset="-120"/>
              </a:rPr>
              <a:t>❓  Pregunta</a:t>
            </a:r>
            <a:endParaRPr lang="en-US" sz="1050" dirty="0"/>
          </a:p>
        </p:txBody>
      </p:sp>
      <p:sp>
        <p:nvSpPr>
          <p:cNvPr id="18" name="Text 16"/>
          <p:cNvSpPr/>
          <p:nvPr/>
        </p:nvSpPr>
        <p:spPr>
          <a:xfrm>
            <a:off x="3310128" y="3584448"/>
            <a:ext cx="2423160" cy="914400"/>
          </a:xfrm>
          <a:prstGeom prst="rect">
            <a:avLst/>
          </a:prstGeom>
          <a:noFill/>
          <a:ln/>
        </p:spPr>
        <p:txBody>
          <a:bodyPr wrap="square" lIns="0" tIns="0" rIns="0" bIns="0" rtlCol="0" anchor="ctr"/>
          <a:lstStyle/>
          <a:p>
            <a:pPr marL="0" indent="0">
              <a:buNone/>
            </a:pPr>
            <a:r>
              <a:rPr lang="en-US" sz="1000" dirty="0">
                <a:solidFill>
                  <a:srgbClr val="5F5E5A"/>
                </a:solidFill>
                <a:latin typeface="Calibri" pitchFamily="34" charset="0"/>
                <a:ea typeface="Calibri" pitchFamily="34" charset="-122"/>
                <a:cs typeface="Calibri" pitchFamily="34" charset="-120"/>
              </a:rPr>
              <a:t>¿Cómo afecta la aridez creciente a la diversidad y composición microbiana?</a:t>
            </a:r>
            <a:endParaRPr lang="en-US" sz="1000" dirty="0"/>
          </a:p>
        </p:txBody>
      </p:sp>
      <p:sp>
        <p:nvSpPr>
          <p:cNvPr id="19" name="Shape 17"/>
          <p:cNvSpPr/>
          <p:nvPr/>
        </p:nvSpPr>
        <p:spPr>
          <a:xfrm>
            <a:off x="6025896" y="3108960"/>
            <a:ext cx="2697480" cy="1508760"/>
          </a:xfrm>
          <a:prstGeom prst="roundRect">
            <a:avLst>
              <a:gd name="adj" fmla="val 6061"/>
            </a:avLst>
          </a:prstGeom>
          <a:solidFill>
            <a:srgbClr val="FFFFFF"/>
          </a:solidFill>
          <a:ln w="6350">
            <a:solidFill>
              <a:srgbClr val="D3D1C7"/>
            </a:solidFill>
            <a:prstDash val="solid"/>
          </a:ln>
          <a:effectLst>
            <a:outerShdw blurRad="88900" dist="25400" dir="2700000" algn="bl" rotWithShape="0">
              <a:srgbClr val="000000">
                <a:alpha val="11000"/>
              </a:srgbClr>
            </a:outerShdw>
          </a:effectLst>
        </p:spPr>
        <p:txBody>
          <a:bodyPr/>
          <a:lstStyle/>
          <a:p>
            <a:endParaRPr lang="es-ES_tradnl"/>
          </a:p>
        </p:txBody>
      </p:sp>
      <p:sp>
        <p:nvSpPr>
          <p:cNvPr id="20" name="Text 18"/>
          <p:cNvSpPr/>
          <p:nvPr/>
        </p:nvSpPr>
        <p:spPr>
          <a:xfrm>
            <a:off x="6163056" y="3200400"/>
            <a:ext cx="2423160" cy="365760"/>
          </a:xfrm>
          <a:prstGeom prst="rect">
            <a:avLst/>
          </a:prstGeom>
          <a:noFill/>
          <a:ln/>
        </p:spPr>
        <p:txBody>
          <a:bodyPr wrap="square" lIns="0" tIns="0" rIns="0" bIns="0" rtlCol="0" anchor="ctr"/>
          <a:lstStyle/>
          <a:p>
            <a:pPr marL="0" indent="0">
              <a:buNone/>
            </a:pPr>
            <a:r>
              <a:rPr lang="en-US" sz="1050" b="1" dirty="0">
                <a:solidFill>
                  <a:srgbClr val="534AB7"/>
                </a:solidFill>
                <a:latin typeface="Calibri" pitchFamily="34" charset="0"/>
                <a:ea typeface="Calibri" pitchFamily="34" charset="-122"/>
                <a:cs typeface="Calibri" pitchFamily="34" charset="-120"/>
              </a:rPr>
              <a:t>📊  Lo que haremos</a:t>
            </a:r>
            <a:endParaRPr lang="en-US" sz="1050" dirty="0"/>
          </a:p>
        </p:txBody>
      </p:sp>
      <p:sp>
        <p:nvSpPr>
          <p:cNvPr id="21" name="Text 19"/>
          <p:cNvSpPr/>
          <p:nvPr/>
        </p:nvSpPr>
        <p:spPr>
          <a:xfrm>
            <a:off x="6163056" y="3584448"/>
            <a:ext cx="2423160" cy="914400"/>
          </a:xfrm>
          <a:prstGeom prst="rect">
            <a:avLst/>
          </a:prstGeom>
          <a:noFill/>
          <a:ln/>
        </p:spPr>
        <p:txBody>
          <a:bodyPr wrap="square" lIns="0" tIns="0" rIns="0" bIns="0" rtlCol="0" anchor="ctr"/>
          <a:lstStyle/>
          <a:p>
            <a:pPr marL="0" indent="0">
              <a:buNone/>
            </a:pPr>
            <a:r>
              <a:rPr lang="en-US" sz="1000" dirty="0">
                <a:solidFill>
                  <a:srgbClr val="5F5E5A"/>
                </a:solidFill>
                <a:latin typeface="Calibri" pitchFamily="34" charset="0"/>
                <a:ea typeface="Calibri" pitchFamily="34" charset="-122"/>
                <a:cs typeface="Calibri" pitchFamily="34" charset="-120"/>
              </a:rPr>
              <a:t>Regresión diversidad alfa vs. aridez · Composición vs. variables ambientales</a:t>
            </a:r>
            <a:endParaRPr lang="en-US" sz="10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7">
    <p:bg>
      <p:bgPr>
        <a:solidFill>
          <a:srgbClr val="F8F8F6"/>
        </a:solidFill>
        <a:effectLst/>
      </p:bgPr>
    </p:bg>
    <p:spTree>
      <p:nvGrpSpPr>
        <p:cNvPr id="1" name=""/>
        <p:cNvGrpSpPr/>
        <p:nvPr/>
      </p:nvGrpSpPr>
      <p:grpSpPr>
        <a:xfrm>
          <a:off x="0" y="0"/>
          <a:ext cx="0" cy="0"/>
          <a:chOff x="0" y="0"/>
          <a:chExt cx="0" cy="0"/>
        </a:xfrm>
      </p:grpSpPr>
      <p:sp>
        <p:nvSpPr>
          <p:cNvPr id="2" name="Text 0"/>
          <p:cNvSpPr/>
          <p:nvPr/>
        </p:nvSpPr>
        <p:spPr>
          <a:xfrm>
            <a:off x="457200" y="256032"/>
            <a:ext cx="8229600" cy="566928"/>
          </a:xfrm>
          <a:prstGeom prst="rect">
            <a:avLst/>
          </a:prstGeom>
          <a:noFill/>
          <a:ln/>
        </p:spPr>
        <p:txBody>
          <a:bodyPr wrap="square" lIns="0" tIns="0" rIns="0" bIns="0" rtlCol="0" anchor="ctr"/>
          <a:lstStyle/>
          <a:p>
            <a:pPr marL="0" indent="0">
              <a:buNone/>
            </a:pPr>
            <a:r>
              <a:rPr lang="en-US" sz="2700" b="1" dirty="0">
                <a:solidFill>
                  <a:srgbClr val="2C2C2A"/>
                </a:solidFill>
                <a:latin typeface="Cambria" pitchFamily="34" charset="0"/>
                <a:ea typeface="Cambria" pitchFamily="34" charset="-122"/>
                <a:cs typeface="Cambria" pitchFamily="34" charset="-120"/>
              </a:rPr>
              <a:t>El repositorio del curso</a:t>
            </a:r>
            <a:endParaRPr lang="en-US" sz="2700" dirty="0"/>
          </a:p>
        </p:txBody>
      </p:sp>
      <p:sp>
        <p:nvSpPr>
          <p:cNvPr id="3" name="Text 1"/>
          <p:cNvSpPr/>
          <p:nvPr/>
        </p:nvSpPr>
        <p:spPr>
          <a:xfrm>
            <a:off x="457200" y="822960"/>
            <a:ext cx="8229600" cy="320040"/>
          </a:xfrm>
          <a:prstGeom prst="rect">
            <a:avLst/>
          </a:prstGeom>
          <a:noFill/>
          <a:ln/>
        </p:spPr>
        <p:txBody>
          <a:bodyPr wrap="square" lIns="0" tIns="0" rIns="0" bIns="0" rtlCol="0" anchor="ctr"/>
          <a:lstStyle/>
          <a:p>
            <a:pPr marL="0" indent="0">
              <a:buNone/>
            </a:pPr>
            <a:r>
              <a:rPr lang="en-US" sz="1300" i="1" dirty="0">
                <a:solidFill>
                  <a:srgbClr val="5F5E5A"/>
                </a:solidFill>
                <a:latin typeface="Calibri" pitchFamily="34" charset="0"/>
                <a:ea typeface="Calibri" pitchFamily="34" charset="-122"/>
                <a:cs typeface="Calibri" pitchFamily="34" charset="-120"/>
              </a:rPr>
              <a:t>github.com/cristinamunoz/curso-analisis-claude</a:t>
            </a:r>
            <a:endParaRPr lang="en-US" sz="1300" dirty="0"/>
          </a:p>
        </p:txBody>
      </p:sp>
      <p:sp>
        <p:nvSpPr>
          <p:cNvPr id="4" name="Shape 2"/>
          <p:cNvSpPr/>
          <p:nvPr/>
        </p:nvSpPr>
        <p:spPr>
          <a:xfrm>
            <a:off x="365760" y="1325880"/>
            <a:ext cx="5120640" cy="3749040"/>
          </a:xfrm>
          <a:prstGeom prst="roundRect">
            <a:avLst>
              <a:gd name="adj" fmla="val 2927"/>
            </a:avLst>
          </a:prstGeom>
          <a:solidFill>
            <a:srgbClr val="1E1E2E"/>
          </a:solidFill>
          <a:ln w="6350">
            <a:solidFill>
              <a:srgbClr val="3A3A5A"/>
            </a:solidFill>
            <a:prstDash val="solid"/>
          </a:ln>
        </p:spPr>
        <p:txBody>
          <a:bodyPr/>
          <a:lstStyle/>
          <a:p>
            <a:endParaRPr lang="es-ES_tradnl"/>
          </a:p>
        </p:txBody>
      </p:sp>
      <p:sp>
        <p:nvSpPr>
          <p:cNvPr id="5" name="Text 3"/>
          <p:cNvSpPr/>
          <p:nvPr/>
        </p:nvSpPr>
        <p:spPr>
          <a:xfrm>
            <a:off x="566928" y="1463040"/>
            <a:ext cx="4709160" cy="246888"/>
          </a:xfrm>
          <a:prstGeom prst="rect">
            <a:avLst/>
          </a:prstGeom>
          <a:noFill/>
          <a:ln/>
        </p:spPr>
        <p:txBody>
          <a:bodyPr wrap="square" lIns="0" tIns="0" rIns="0" bIns="0" rtlCol="0" anchor="ctr"/>
          <a:lstStyle/>
          <a:p>
            <a:pPr marL="0" indent="0">
              <a:buNone/>
            </a:pPr>
            <a:r>
              <a:rPr lang="en-US" sz="950" b="1" dirty="0">
                <a:solidFill>
                  <a:srgbClr val="FFFFFF"/>
                </a:solidFill>
                <a:latin typeface="Courier New" pitchFamily="34" charset="0"/>
                <a:ea typeface="Courier New" pitchFamily="34" charset="-122"/>
                <a:cs typeface="Courier New" pitchFamily="34" charset="-120"/>
              </a:rPr>
              <a:t>curso-analisis-claude/</a:t>
            </a:r>
            <a:endParaRPr lang="en-US" sz="950" dirty="0"/>
          </a:p>
        </p:txBody>
      </p:sp>
      <p:sp>
        <p:nvSpPr>
          <p:cNvPr id="6" name="Text 4"/>
          <p:cNvSpPr/>
          <p:nvPr/>
        </p:nvSpPr>
        <p:spPr>
          <a:xfrm>
            <a:off x="566928" y="1728216"/>
            <a:ext cx="4709160" cy="246888"/>
          </a:xfrm>
          <a:prstGeom prst="rect">
            <a:avLst/>
          </a:prstGeom>
          <a:noFill/>
          <a:ln/>
        </p:spPr>
        <p:txBody>
          <a:bodyPr wrap="square" lIns="0" tIns="0" rIns="0" bIns="0" rtlCol="0" anchor="ctr"/>
          <a:lstStyle/>
          <a:p>
            <a:pPr marL="0" indent="0">
              <a:buNone/>
            </a:pPr>
            <a:r>
              <a:rPr lang="en-US" sz="950" dirty="0">
                <a:solidFill>
                  <a:srgbClr val="F9C74F"/>
                </a:solidFill>
                <a:latin typeface="Courier New" pitchFamily="34" charset="0"/>
                <a:ea typeface="Courier New" pitchFamily="34" charset="-122"/>
                <a:cs typeface="Courier New" pitchFamily="34" charset="-120"/>
              </a:rPr>
              <a:t>├── CLAUDE.md           ← contexto del agente</a:t>
            </a:r>
            <a:endParaRPr lang="en-US" sz="950" dirty="0"/>
          </a:p>
        </p:txBody>
      </p:sp>
      <p:sp>
        <p:nvSpPr>
          <p:cNvPr id="7" name="Text 5"/>
          <p:cNvSpPr/>
          <p:nvPr/>
        </p:nvSpPr>
        <p:spPr>
          <a:xfrm>
            <a:off x="566928" y="1993392"/>
            <a:ext cx="4709160" cy="246888"/>
          </a:xfrm>
          <a:prstGeom prst="rect">
            <a:avLst/>
          </a:prstGeom>
          <a:noFill/>
          <a:ln/>
        </p:spPr>
        <p:txBody>
          <a:bodyPr wrap="square" lIns="0" tIns="0" rIns="0" bIns="0" rtlCol="0" anchor="ctr"/>
          <a:lstStyle/>
          <a:p>
            <a:pPr marL="0" indent="0">
              <a:buNone/>
            </a:pPr>
            <a:r>
              <a:rPr lang="en-US" sz="950" dirty="0">
                <a:solidFill>
                  <a:srgbClr val="7B74D4"/>
                </a:solidFill>
                <a:latin typeface="Courier New" pitchFamily="34" charset="0"/>
                <a:ea typeface="Courier New" pitchFamily="34" charset="-122"/>
                <a:cs typeface="Courier New" pitchFamily="34" charset="-120"/>
              </a:rPr>
              <a:t>├── README.md           ← enunciado del reto</a:t>
            </a:r>
            <a:endParaRPr lang="en-US" sz="950" dirty="0"/>
          </a:p>
        </p:txBody>
      </p:sp>
      <p:sp>
        <p:nvSpPr>
          <p:cNvPr id="8" name="Text 6"/>
          <p:cNvSpPr/>
          <p:nvPr/>
        </p:nvSpPr>
        <p:spPr>
          <a:xfrm>
            <a:off x="566928" y="2258568"/>
            <a:ext cx="4709160" cy="246888"/>
          </a:xfrm>
          <a:prstGeom prst="rect">
            <a:avLst/>
          </a:prstGeom>
          <a:noFill/>
          <a:ln/>
        </p:spPr>
        <p:txBody>
          <a:bodyPr wrap="square" lIns="0" tIns="0" rIns="0" bIns="0" rtlCol="0" anchor="ctr"/>
          <a:lstStyle/>
          <a:p>
            <a:pPr marL="0" indent="0">
              <a:buNone/>
            </a:pPr>
            <a:r>
              <a:rPr lang="en-US" sz="950" dirty="0">
                <a:solidFill>
                  <a:srgbClr val="FFFFFF"/>
                </a:solidFill>
                <a:latin typeface="Courier New" pitchFamily="34" charset="0"/>
                <a:ea typeface="Courier New" pitchFamily="34" charset="-122"/>
                <a:cs typeface="Courier New" pitchFamily="34" charset="-120"/>
              </a:rPr>
              <a:t>├── docs/</a:t>
            </a:r>
            <a:endParaRPr lang="en-US" sz="950" dirty="0"/>
          </a:p>
        </p:txBody>
      </p:sp>
      <p:sp>
        <p:nvSpPr>
          <p:cNvPr id="9" name="Text 7"/>
          <p:cNvSpPr/>
          <p:nvPr/>
        </p:nvSpPr>
        <p:spPr>
          <a:xfrm>
            <a:off x="566928" y="2523744"/>
            <a:ext cx="4709160" cy="246888"/>
          </a:xfrm>
          <a:prstGeom prst="rect">
            <a:avLst/>
          </a:prstGeom>
          <a:noFill/>
          <a:ln/>
        </p:spPr>
        <p:txBody>
          <a:bodyPr wrap="square" lIns="0" tIns="0" rIns="0" bIns="0" rtlCol="0" anchor="ctr"/>
          <a:lstStyle/>
          <a:p>
            <a:pPr marL="0" indent="0">
              <a:buNone/>
            </a:pPr>
            <a:r>
              <a:rPr lang="en-US" sz="950" dirty="0">
                <a:solidFill>
                  <a:srgbClr val="A78BFA"/>
                </a:solidFill>
                <a:latin typeface="Courier New" pitchFamily="34" charset="0"/>
                <a:ea typeface="Courier New" pitchFamily="34" charset="-122"/>
                <a:cs typeface="Courier New" pitchFamily="34" charset="-120"/>
              </a:rPr>
              <a:t>│   ├── programa_curso_vJulio2026.pdf</a:t>
            </a:r>
            <a:endParaRPr lang="en-US" sz="950" dirty="0"/>
          </a:p>
        </p:txBody>
      </p:sp>
      <p:sp>
        <p:nvSpPr>
          <p:cNvPr id="10" name="Text 8"/>
          <p:cNvSpPr/>
          <p:nvPr/>
        </p:nvSpPr>
        <p:spPr>
          <a:xfrm>
            <a:off x="566928" y="2788920"/>
            <a:ext cx="4709160" cy="246888"/>
          </a:xfrm>
          <a:prstGeom prst="rect">
            <a:avLst/>
          </a:prstGeom>
          <a:noFill/>
          <a:ln/>
        </p:spPr>
        <p:txBody>
          <a:bodyPr wrap="square" lIns="0" tIns="0" rIns="0" bIns="0" rtlCol="0" anchor="ctr"/>
          <a:lstStyle/>
          <a:p>
            <a:pPr marL="0" indent="0">
              <a:buNone/>
            </a:pPr>
            <a:r>
              <a:rPr lang="en-US" sz="950" dirty="0">
                <a:solidFill>
                  <a:srgbClr val="A78BFA"/>
                </a:solidFill>
                <a:latin typeface="Courier New" pitchFamily="34" charset="0"/>
                <a:ea typeface="Courier New" pitchFamily="34" charset="-122"/>
                <a:cs typeface="Courier New" pitchFamily="34" charset="-120"/>
              </a:rPr>
              <a:t>│   ├── pasos_curso_manana1.md</a:t>
            </a:r>
            <a:endParaRPr lang="en-US" sz="950" dirty="0"/>
          </a:p>
        </p:txBody>
      </p:sp>
      <p:sp>
        <p:nvSpPr>
          <p:cNvPr id="11" name="Text 9"/>
          <p:cNvSpPr/>
          <p:nvPr/>
        </p:nvSpPr>
        <p:spPr>
          <a:xfrm>
            <a:off x="566928" y="3054096"/>
            <a:ext cx="4709160" cy="246888"/>
          </a:xfrm>
          <a:prstGeom prst="rect">
            <a:avLst/>
          </a:prstGeom>
          <a:noFill/>
          <a:ln/>
        </p:spPr>
        <p:txBody>
          <a:bodyPr wrap="square" lIns="0" tIns="0" rIns="0" bIns="0" rtlCol="0" anchor="ctr"/>
          <a:lstStyle/>
          <a:p>
            <a:pPr marL="0" indent="0">
              <a:buNone/>
            </a:pPr>
            <a:r>
              <a:rPr lang="en-US" sz="950" dirty="0">
                <a:solidFill>
                  <a:srgbClr val="A78BFA"/>
                </a:solidFill>
                <a:latin typeface="Courier New" pitchFamily="34" charset="0"/>
                <a:ea typeface="Courier New" pitchFamily="34" charset="-122"/>
                <a:cs typeface="Courier New" pitchFamily="34" charset="-120"/>
              </a:rPr>
              <a:t>│   └── pasos_curso_manana2.md</a:t>
            </a:r>
            <a:endParaRPr lang="en-US" sz="950" dirty="0"/>
          </a:p>
        </p:txBody>
      </p:sp>
      <p:sp>
        <p:nvSpPr>
          <p:cNvPr id="12" name="Text 10"/>
          <p:cNvSpPr/>
          <p:nvPr/>
        </p:nvSpPr>
        <p:spPr>
          <a:xfrm>
            <a:off x="566928" y="3319272"/>
            <a:ext cx="4709160" cy="246888"/>
          </a:xfrm>
          <a:prstGeom prst="rect">
            <a:avLst/>
          </a:prstGeom>
          <a:noFill/>
          <a:ln/>
        </p:spPr>
        <p:txBody>
          <a:bodyPr wrap="square" lIns="0" tIns="0" rIns="0" bIns="0" rtlCol="0" anchor="ctr"/>
          <a:lstStyle/>
          <a:p>
            <a:pPr marL="0" indent="0">
              <a:buNone/>
            </a:pPr>
            <a:r>
              <a:rPr lang="en-US" sz="950" dirty="0">
                <a:solidFill>
                  <a:srgbClr val="FFFFFF"/>
                </a:solidFill>
                <a:latin typeface="Courier New" pitchFamily="34" charset="0"/>
                <a:ea typeface="Courier New" pitchFamily="34" charset="-122"/>
                <a:cs typeface="Courier New" pitchFamily="34" charset="-120"/>
              </a:rPr>
              <a:t>├── paper/</a:t>
            </a:r>
            <a:endParaRPr lang="en-US" sz="950" dirty="0"/>
          </a:p>
        </p:txBody>
      </p:sp>
      <p:sp>
        <p:nvSpPr>
          <p:cNvPr id="13" name="Text 11"/>
          <p:cNvSpPr/>
          <p:nvPr/>
        </p:nvSpPr>
        <p:spPr>
          <a:xfrm>
            <a:off x="566928" y="3584448"/>
            <a:ext cx="4709160" cy="246888"/>
          </a:xfrm>
          <a:prstGeom prst="rect">
            <a:avLst/>
          </a:prstGeom>
          <a:noFill/>
          <a:ln/>
        </p:spPr>
        <p:txBody>
          <a:bodyPr wrap="square" lIns="0" tIns="0" rIns="0" bIns="0" rtlCol="0" anchor="ctr"/>
          <a:lstStyle/>
          <a:p>
            <a:pPr marL="0" indent="0">
              <a:buNone/>
            </a:pPr>
            <a:r>
              <a:rPr lang="en-US" sz="950" dirty="0">
                <a:solidFill>
                  <a:srgbClr val="5EEAD4"/>
                </a:solidFill>
                <a:latin typeface="Courier New" pitchFamily="34" charset="0"/>
                <a:ea typeface="Courier New" pitchFamily="34" charset="-122"/>
                <a:cs typeface="Courier New" pitchFamily="34" charset="-120"/>
              </a:rPr>
              <a:t>│   └── mSystems.00195-16.pdf</a:t>
            </a:r>
            <a:endParaRPr lang="en-US" sz="950" dirty="0"/>
          </a:p>
        </p:txBody>
      </p:sp>
      <p:sp>
        <p:nvSpPr>
          <p:cNvPr id="14" name="Text 12"/>
          <p:cNvSpPr/>
          <p:nvPr/>
        </p:nvSpPr>
        <p:spPr>
          <a:xfrm>
            <a:off x="566928" y="3849624"/>
            <a:ext cx="4709160" cy="246888"/>
          </a:xfrm>
          <a:prstGeom prst="rect">
            <a:avLst/>
          </a:prstGeom>
          <a:noFill/>
          <a:ln/>
        </p:spPr>
        <p:txBody>
          <a:bodyPr wrap="square" lIns="0" tIns="0" rIns="0" bIns="0" rtlCol="0" anchor="ctr"/>
          <a:lstStyle/>
          <a:p>
            <a:pPr marL="0" indent="0">
              <a:buNone/>
            </a:pPr>
            <a:r>
              <a:rPr lang="en-US" sz="950" dirty="0">
                <a:solidFill>
                  <a:srgbClr val="FFFFFF"/>
                </a:solidFill>
                <a:latin typeface="Courier New" pitchFamily="34" charset="0"/>
                <a:ea typeface="Courier New" pitchFamily="34" charset="-122"/>
                <a:cs typeface="Courier New" pitchFamily="34" charset="-120"/>
              </a:rPr>
              <a:t>├── data/</a:t>
            </a:r>
            <a:endParaRPr lang="en-US" sz="950" dirty="0"/>
          </a:p>
        </p:txBody>
      </p:sp>
      <p:sp>
        <p:nvSpPr>
          <p:cNvPr id="15" name="Text 13"/>
          <p:cNvSpPr/>
          <p:nvPr/>
        </p:nvSpPr>
        <p:spPr>
          <a:xfrm>
            <a:off x="566928" y="4114800"/>
            <a:ext cx="4709160" cy="246888"/>
          </a:xfrm>
          <a:prstGeom prst="rect">
            <a:avLst/>
          </a:prstGeom>
          <a:noFill/>
          <a:ln/>
        </p:spPr>
        <p:txBody>
          <a:bodyPr wrap="square" lIns="0" tIns="0" rIns="0" bIns="0" rtlCol="0" anchor="ctr"/>
          <a:lstStyle/>
          <a:p>
            <a:pPr marL="0" indent="0">
              <a:buNone/>
            </a:pPr>
            <a:r>
              <a:rPr lang="en-US" sz="950" dirty="0">
                <a:solidFill>
                  <a:srgbClr val="5EEAD4"/>
                </a:solidFill>
                <a:latin typeface="Courier New" pitchFamily="34" charset="0"/>
                <a:ea typeface="Courier New" pitchFamily="34" charset="-122"/>
                <a:cs typeface="Courier New" pitchFamily="34" charset="-120"/>
              </a:rPr>
              <a:t>│   ├── abundancias.tsv  ← 1109 OTUs × 54</a:t>
            </a:r>
            <a:endParaRPr lang="en-US" sz="950" dirty="0"/>
          </a:p>
        </p:txBody>
      </p:sp>
      <p:sp>
        <p:nvSpPr>
          <p:cNvPr id="16" name="Text 14"/>
          <p:cNvSpPr/>
          <p:nvPr/>
        </p:nvSpPr>
        <p:spPr>
          <a:xfrm>
            <a:off x="566928" y="4379976"/>
            <a:ext cx="4709160" cy="246888"/>
          </a:xfrm>
          <a:prstGeom prst="rect">
            <a:avLst/>
          </a:prstGeom>
          <a:noFill/>
          <a:ln/>
        </p:spPr>
        <p:txBody>
          <a:bodyPr wrap="square" lIns="0" tIns="0" rIns="0" bIns="0" rtlCol="0" anchor="ctr"/>
          <a:lstStyle/>
          <a:p>
            <a:pPr marL="0" indent="0">
              <a:buNone/>
            </a:pPr>
            <a:r>
              <a:rPr lang="en-US" sz="950" dirty="0">
                <a:solidFill>
                  <a:srgbClr val="5EEAD4"/>
                </a:solidFill>
                <a:latin typeface="Courier New" pitchFamily="34" charset="0"/>
                <a:ea typeface="Courier New" pitchFamily="34" charset="-122"/>
                <a:cs typeface="Courier New" pitchFamily="34" charset="-120"/>
              </a:rPr>
              <a:t>│   └── metadata.tsv     ← 75 muestras × 21</a:t>
            </a:r>
            <a:endParaRPr lang="en-US" sz="950" dirty="0"/>
          </a:p>
        </p:txBody>
      </p:sp>
      <p:sp>
        <p:nvSpPr>
          <p:cNvPr id="17" name="Text 15"/>
          <p:cNvSpPr/>
          <p:nvPr/>
        </p:nvSpPr>
        <p:spPr>
          <a:xfrm>
            <a:off x="566928" y="4645152"/>
            <a:ext cx="4709160" cy="246888"/>
          </a:xfrm>
          <a:prstGeom prst="rect">
            <a:avLst/>
          </a:prstGeom>
          <a:noFill/>
          <a:ln/>
        </p:spPr>
        <p:txBody>
          <a:bodyPr wrap="square" lIns="0" tIns="0" rIns="0" bIns="0" rtlCol="0" anchor="ctr"/>
          <a:lstStyle/>
          <a:p>
            <a:pPr marL="0" indent="0">
              <a:buNone/>
            </a:pPr>
            <a:r>
              <a:rPr lang="en-US" sz="950" dirty="0">
                <a:solidFill>
                  <a:srgbClr val="A78BFA"/>
                </a:solidFill>
                <a:latin typeface="Courier New" pitchFamily="34" charset="0"/>
                <a:ea typeface="Courier New" pitchFamily="34" charset="-122"/>
                <a:cs typeface="Courier New" pitchFamily="34" charset="-120"/>
              </a:rPr>
              <a:t>└── expected_outputs/   ← referencia</a:t>
            </a:r>
            <a:endParaRPr lang="en-US" sz="950" dirty="0"/>
          </a:p>
        </p:txBody>
      </p:sp>
      <p:sp>
        <p:nvSpPr>
          <p:cNvPr id="18" name="Shape 16"/>
          <p:cNvSpPr/>
          <p:nvPr/>
        </p:nvSpPr>
        <p:spPr>
          <a:xfrm>
            <a:off x="5669280" y="1325880"/>
            <a:ext cx="3200400" cy="1097280"/>
          </a:xfrm>
          <a:prstGeom prst="roundRect">
            <a:avLst>
              <a:gd name="adj" fmla="val 8333"/>
            </a:avLst>
          </a:prstGeom>
          <a:solidFill>
            <a:srgbClr val="FFFFFF"/>
          </a:solidFill>
          <a:ln w="6350">
            <a:solidFill>
              <a:srgbClr val="D3D1C7"/>
            </a:solidFill>
            <a:prstDash val="solid"/>
          </a:ln>
          <a:effectLst>
            <a:outerShdw blurRad="88900" dist="25400" dir="2700000" algn="bl" rotWithShape="0">
              <a:srgbClr val="000000">
                <a:alpha val="11000"/>
              </a:srgbClr>
            </a:outerShdw>
          </a:effectLst>
        </p:spPr>
        <p:txBody>
          <a:bodyPr/>
          <a:lstStyle/>
          <a:p>
            <a:endParaRPr lang="es-ES_tradnl"/>
          </a:p>
        </p:txBody>
      </p:sp>
      <p:sp>
        <p:nvSpPr>
          <p:cNvPr id="19" name="Text 17"/>
          <p:cNvSpPr/>
          <p:nvPr/>
        </p:nvSpPr>
        <p:spPr>
          <a:xfrm>
            <a:off x="5833872" y="1417320"/>
            <a:ext cx="2880360" cy="329184"/>
          </a:xfrm>
          <a:prstGeom prst="rect">
            <a:avLst/>
          </a:prstGeom>
          <a:noFill/>
          <a:ln/>
        </p:spPr>
        <p:txBody>
          <a:bodyPr wrap="square" lIns="0" tIns="0" rIns="0" bIns="0" rtlCol="0" anchor="ctr"/>
          <a:lstStyle/>
          <a:p>
            <a:pPr marL="0" indent="0">
              <a:buNone/>
            </a:pPr>
            <a:r>
              <a:rPr lang="en-US" sz="1100" b="1" dirty="0">
                <a:solidFill>
                  <a:srgbClr val="534AB7"/>
                </a:solidFill>
                <a:latin typeface="Calibri" pitchFamily="34" charset="0"/>
                <a:ea typeface="Calibri" pitchFamily="34" charset="-122"/>
                <a:cs typeface="Calibri" pitchFamily="34" charset="-120"/>
              </a:rPr>
              <a:t>Tu branch personal</a:t>
            </a:r>
            <a:endParaRPr lang="en-US" sz="1100" dirty="0"/>
          </a:p>
        </p:txBody>
      </p:sp>
      <p:sp>
        <p:nvSpPr>
          <p:cNvPr id="20" name="Text 18"/>
          <p:cNvSpPr/>
          <p:nvPr/>
        </p:nvSpPr>
        <p:spPr>
          <a:xfrm>
            <a:off x="5833872" y="1755648"/>
            <a:ext cx="2880360" cy="594360"/>
          </a:xfrm>
          <a:prstGeom prst="rect">
            <a:avLst/>
          </a:prstGeom>
          <a:noFill/>
          <a:ln/>
        </p:spPr>
        <p:txBody>
          <a:bodyPr wrap="square" lIns="0" tIns="0" rIns="0" bIns="0" rtlCol="0" anchor="ctr"/>
          <a:lstStyle/>
          <a:p>
            <a:pPr marL="0" indent="0">
              <a:buNone/>
            </a:pPr>
            <a:r>
              <a:rPr lang="en-US" sz="950" dirty="0">
                <a:solidFill>
                  <a:srgbClr val="5F5E5A"/>
                </a:solidFill>
                <a:latin typeface="Calibri" pitchFamily="34" charset="0"/>
                <a:ea typeface="Calibri" pitchFamily="34" charset="-122"/>
                <a:cs typeface="Calibri" pitchFamily="34" charset="-120"/>
              </a:rPr>
              <a:t>Clonas el repo, creas un branch con tu nombre — tu espacio de trabajo no toca el de los demás</a:t>
            </a:r>
            <a:endParaRPr lang="en-US" sz="950" dirty="0"/>
          </a:p>
        </p:txBody>
      </p:sp>
      <p:sp>
        <p:nvSpPr>
          <p:cNvPr id="21" name="Shape 19"/>
          <p:cNvSpPr/>
          <p:nvPr/>
        </p:nvSpPr>
        <p:spPr>
          <a:xfrm>
            <a:off x="5669280" y="2560320"/>
            <a:ext cx="3200400" cy="1097280"/>
          </a:xfrm>
          <a:prstGeom prst="roundRect">
            <a:avLst>
              <a:gd name="adj" fmla="val 8333"/>
            </a:avLst>
          </a:prstGeom>
          <a:solidFill>
            <a:srgbClr val="FFFFFF"/>
          </a:solidFill>
          <a:ln w="6350">
            <a:solidFill>
              <a:srgbClr val="D3D1C7"/>
            </a:solidFill>
            <a:prstDash val="solid"/>
          </a:ln>
          <a:effectLst>
            <a:outerShdw blurRad="88900" dist="25400" dir="2700000" algn="bl" rotWithShape="0">
              <a:srgbClr val="000000">
                <a:alpha val="11000"/>
              </a:srgbClr>
            </a:outerShdw>
          </a:effectLst>
        </p:spPr>
        <p:txBody>
          <a:bodyPr/>
          <a:lstStyle/>
          <a:p>
            <a:endParaRPr lang="es-ES_tradnl"/>
          </a:p>
        </p:txBody>
      </p:sp>
      <p:sp>
        <p:nvSpPr>
          <p:cNvPr id="22" name="Text 20"/>
          <p:cNvSpPr/>
          <p:nvPr/>
        </p:nvSpPr>
        <p:spPr>
          <a:xfrm>
            <a:off x="5833872" y="2651760"/>
            <a:ext cx="2880360" cy="329184"/>
          </a:xfrm>
          <a:prstGeom prst="rect">
            <a:avLst/>
          </a:prstGeom>
          <a:noFill/>
          <a:ln/>
        </p:spPr>
        <p:txBody>
          <a:bodyPr wrap="square" lIns="0" tIns="0" rIns="0" bIns="0" rtlCol="0" anchor="ctr"/>
          <a:lstStyle/>
          <a:p>
            <a:pPr marL="0" indent="0">
              <a:buNone/>
            </a:pPr>
            <a:r>
              <a:rPr lang="en-US" sz="1100" b="1" dirty="0">
                <a:solidFill>
                  <a:srgbClr val="1D9E75"/>
                </a:solidFill>
                <a:latin typeface="Calibri" pitchFamily="34" charset="0"/>
                <a:ea typeface="Calibri" pitchFamily="34" charset="-122"/>
                <a:cs typeface="Calibri" pitchFamily="34" charset="-120"/>
              </a:rPr>
              <a:t>data/ — solo lectura</a:t>
            </a:r>
            <a:endParaRPr lang="en-US" sz="1100" dirty="0"/>
          </a:p>
        </p:txBody>
      </p:sp>
      <p:sp>
        <p:nvSpPr>
          <p:cNvPr id="23" name="Text 21"/>
          <p:cNvSpPr/>
          <p:nvPr/>
        </p:nvSpPr>
        <p:spPr>
          <a:xfrm>
            <a:off x="5833872" y="2990088"/>
            <a:ext cx="2880360" cy="594360"/>
          </a:xfrm>
          <a:prstGeom prst="rect">
            <a:avLst/>
          </a:prstGeom>
          <a:noFill/>
          <a:ln/>
        </p:spPr>
        <p:txBody>
          <a:bodyPr wrap="square" lIns="0" tIns="0" rIns="0" bIns="0" rtlCol="0" anchor="ctr"/>
          <a:lstStyle/>
          <a:p>
            <a:pPr marL="0" indent="0">
              <a:buNone/>
            </a:pPr>
            <a:r>
              <a:rPr lang="en-US" sz="950" dirty="0">
                <a:solidFill>
                  <a:srgbClr val="5F5E5A"/>
                </a:solidFill>
                <a:latin typeface="Calibri" pitchFamily="34" charset="0"/>
                <a:ea typeface="Calibri" pitchFamily="34" charset="-122"/>
                <a:cs typeface="Calibri" pitchFamily="34" charset="-120"/>
              </a:rPr>
              <a:t>abundancias.tsv y metadata.tsv no se modifican. Se leen con /add en cada sesión</a:t>
            </a:r>
            <a:endParaRPr lang="en-US" sz="950" dirty="0"/>
          </a:p>
        </p:txBody>
      </p:sp>
      <p:sp>
        <p:nvSpPr>
          <p:cNvPr id="24" name="Shape 22"/>
          <p:cNvSpPr/>
          <p:nvPr/>
        </p:nvSpPr>
        <p:spPr>
          <a:xfrm>
            <a:off x="5669280" y="3794760"/>
            <a:ext cx="3200400" cy="1097280"/>
          </a:xfrm>
          <a:prstGeom prst="roundRect">
            <a:avLst>
              <a:gd name="adj" fmla="val 8333"/>
            </a:avLst>
          </a:prstGeom>
          <a:solidFill>
            <a:srgbClr val="FFFFFF"/>
          </a:solidFill>
          <a:ln w="6350">
            <a:solidFill>
              <a:srgbClr val="D3D1C7"/>
            </a:solidFill>
            <a:prstDash val="solid"/>
          </a:ln>
          <a:effectLst>
            <a:outerShdw blurRad="88900" dist="25400" dir="2700000" algn="bl" rotWithShape="0">
              <a:srgbClr val="000000">
                <a:alpha val="11000"/>
              </a:srgbClr>
            </a:outerShdw>
          </a:effectLst>
        </p:spPr>
        <p:txBody>
          <a:bodyPr/>
          <a:lstStyle/>
          <a:p>
            <a:endParaRPr lang="es-ES_tradnl"/>
          </a:p>
        </p:txBody>
      </p:sp>
      <p:sp>
        <p:nvSpPr>
          <p:cNvPr id="25" name="Text 23"/>
          <p:cNvSpPr/>
          <p:nvPr/>
        </p:nvSpPr>
        <p:spPr>
          <a:xfrm>
            <a:off x="5833872" y="3886200"/>
            <a:ext cx="2880360" cy="329184"/>
          </a:xfrm>
          <a:prstGeom prst="rect">
            <a:avLst/>
          </a:prstGeom>
          <a:noFill/>
          <a:ln/>
        </p:spPr>
        <p:txBody>
          <a:bodyPr wrap="square" lIns="0" tIns="0" rIns="0" bIns="0" rtlCol="0" anchor="ctr"/>
          <a:lstStyle/>
          <a:p>
            <a:pPr marL="0" indent="0">
              <a:buNone/>
            </a:pPr>
            <a:r>
              <a:rPr lang="en-US" sz="1100" b="1" dirty="0">
                <a:solidFill>
                  <a:srgbClr val="C97B2A"/>
                </a:solidFill>
                <a:latin typeface="Calibri" pitchFamily="34" charset="0"/>
                <a:ea typeface="Calibri" pitchFamily="34" charset="-122"/>
                <a:cs typeface="Calibri" pitchFamily="34" charset="-120"/>
              </a:rPr>
              <a:t>CLAUDE.md + docs/</a:t>
            </a:r>
            <a:endParaRPr lang="en-US" sz="1100" dirty="0"/>
          </a:p>
        </p:txBody>
      </p:sp>
      <p:sp>
        <p:nvSpPr>
          <p:cNvPr id="26" name="Text 24"/>
          <p:cNvSpPr/>
          <p:nvPr/>
        </p:nvSpPr>
        <p:spPr>
          <a:xfrm>
            <a:off x="5833872" y="4224528"/>
            <a:ext cx="2880360" cy="594360"/>
          </a:xfrm>
          <a:prstGeom prst="rect">
            <a:avLst/>
          </a:prstGeom>
          <a:noFill/>
          <a:ln/>
        </p:spPr>
        <p:txBody>
          <a:bodyPr wrap="square" lIns="0" tIns="0" rIns="0" bIns="0" rtlCol="0" anchor="ctr"/>
          <a:lstStyle/>
          <a:p>
            <a:pPr marL="0" indent="0">
              <a:buNone/>
            </a:pPr>
            <a:r>
              <a:rPr lang="en-US" sz="950" dirty="0">
                <a:solidFill>
                  <a:srgbClr val="5F5E5A"/>
                </a:solidFill>
                <a:latin typeface="Calibri" pitchFamily="34" charset="0"/>
                <a:ea typeface="Calibri" pitchFamily="34" charset="-122"/>
                <a:cs typeface="Calibri" pitchFamily="34" charset="-120"/>
              </a:rPr>
              <a:t>El CLAUDE.md es el contexto del agente. docs/ tiene el programa y las guías paso a paso de cada mañana</a:t>
            </a:r>
            <a:endParaRPr lang="en-US" sz="95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8">
    <p:bg>
      <p:bgPr>
        <a:solidFill>
          <a:srgbClr val="1A1A2E"/>
        </a:solidFill>
        <a:effectLst/>
      </p:bgPr>
    </p:bg>
    <p:spTree>
      <p:nvGrpSpPr>
        <p:cNvPr id="1" name=""/>
        <p:cNvGrpSpPr/>
        <p:nvPr/>
      </p:nvGrpSpPr>
      <p:grpSpPr>
        <a:xfrm>
          <a:off x="0" y="0"/>
          <a:ext cx="0" cy="0"/>
          <a:chOff x="0" y="0"/>
          <a:chExt cx="0" cy="0"/>
        </a:xfrm>
      </p:grpSpPr>
      <p:sp>
        <p:nvSpPr>
          <p:cNvPr id="2" name="Shape 0"/>
          <p:cNvSpPr/>
          <p:nvPr/>
        </p:nvSpPr>
        <p:spPr>
          <a:xfrm>
            <a:off x="6858000" y="-914400"/>
            <a:ext cx="4114800" cy="4114800"/>
          </a:xfrm>
          <a:prstGeom prst="ellipse">
            <a:avLst/>
          </a:prstGeom>
          <a:solidFill>
            <a:srgbClr val="1D9E75">
              <a:alpha val="18000"/>
            </a:srgbClr>
          </a:solidFill>
          <a:ln w="12700">
            <a:solidFill>
              <a:srgbClr val="1D9E75">
                <a:alpha val="18000"/>
              </a:srgbClr>
            </a:solidFill>
            <a:prstDash val="solid"/>
          </a:ln>
        </p:spPr>
        <p:txBody>
          <a:bodyPr/>
          <a:lstStyle/>
          <a:p>
            <a:endParaRPr lang="es-ES_tradnl"/>
          </a:p>
        </p:txBody>
      </p:sp>
      <p:sp>
        <p:nvSpPr>
          <p:cNvPr id="3" name="Text 1"/>
          <p:cNvSpPr/>
          <p:nvPr/>
        </p:nvSpPr>
        <p:spPr>
          <a:xfrm>
            <a:off x="640080" y="411480"/>
            <a:ext cx="7772400" cy="502920"/>
          </a:xfrm>
          <a:prstGeom prst="rect">
            <a:avLst/>
          </a:prstGeom>
          <a:noFill/>
          <a:ln/>
        </p:spPr>
        <p:txBody>
          <a:bodyPr wrap="square" lIns="0" tIns="0" rIns="0" bIns="0" rtlCol="0" anchor="ctr"/>
          <a:lstStyle/>
          <a:p>
            <a:pPr marL="0" indent="0">
              <a:buNone/>
            </a:pPr>
            <a:r>
              <a:rPr lang="en-US" sz="1400" b="1" kern="0" spc="200" dirty="0">
                <a:solidFill>
                  <a:srgbClr val="1D9E75"/>
                </a:solidFill>
                <a:latin typeface="Calibri" pitchFamily="34" charset="0"/>
                <a:ea typeface="Calibri" pitchFamily="34" charset="-122"/>
                <a:cs typeface="Calibri" pitchFamily="34" charset="-120"/>
              </a:rPr>
              <a:t>🧪  Ejercicio 1</a:t>
            </a:r>
            <a:endParaRPr lang="en-US" sz="1400" dirty="0"/>
          </a:p>
        </p:txBody>
      </p:sp>
      <p:sp>
        <p:nvSpPr>
          <p:cNvPr id="4" name="Text 2"/>
          <p:cNvSpPr/>
          <p:nvPr/>
        </p:nvSpPr>
        <p:spPr>
          <a:xfrm>
            <a:off x="640080" y="960120"/>
            <a:ext cx="7772400" cy="868680"/>
          </a:xfrm>
          <a:prstGeom prst="rect">
            <a:avLst/>
          </a:prstGeom>
          <a:noFill/>
          <a:ln/>
        </p:spPr>
        <p:txBody>
          <a:bodyPr wrap="square" lIns="0" tIns="0" rIns="0" bIns="0" rtlCol="0" anchor="ctr"/>
          <a:lstStyle/>
          <a:p>
            <a:pPr marL="0" indent="0">
              <a:buNone/>
            </a:pPr>
            <a:r>
              <a:rPr lang="en-US" sz="2800" b="1" dirty="0">
                <a:solidFill>
                  <a:srgbClr val="FFFFFF"/>
                </a:solidFill>
                <a:latin typeface="Cambria" pitchFamily="34" charset="0"/>
                <a:ea typeface="Cambria" pitchFamily="34" charset="-122"/>
                <a:cs typeface="Cambria" pitchFamily="34" charset="-120"/>
              </a:rPr>
              <a:t>¿Crear un archivo es lo mismo que describirlo?</a:t>
            </a:r>
            <a:endParaRPr lang="en-US" sz="2800" dirty="0"/>
          </a:p>
        </p:txBody>
      </p:sp>
      <p:sp>
        <p:nvSpPr>
          <p:cNvPr id="5" name="Shape 3"/>
          <p:cNvSpPr/>
          <p:nvPr/>
        </p:nvSpPr>
        <p:spPr>
          <a:xfrm>
            <a:off x="640080" y="1938528"/>
            <a:ext cx="7863840" cy="1170432"/>
          </a:xfrm>
          <a:prstGeom prst="roundRect">
            <a:avLst>
              <a:gd name="adj" fmla="val 9375"/>
            </a:avLst>
          </a:prstGeom>
          <a:solidFill>
            <a:srgbClr val="1E1E35"/>
          </a:solidFill>
          <a:ln w="10160">
            <a:solidFill>
              <a:srgbClr val="534AB7"/>
            </a:solidFill>
            <a:prstDash val="solid"/>
          </a:ln>
        </p:spPr>
        <p:txBody>
          <a:bodyPr/>
          <a:lstStyle/>
          <a:p>
            <a:endParaRPr lang="es-ES_tradnl"/>
          </a:p>
        </p:txBody>
      </p:sp>
      <p:sp>
        <p:nvSpPr>
          <p:cNvPr id="6" name="Text 4"/>
          <p:cNvSpPr/>
          <p:nvPr/>
        </p:nvSpPr>
        <p:spPr>
          <a:xfrm>
            <a:off x="822960" y="2011680"/>
            <a:ext cx="7498080" cy="292608"/>
          </a:xfrm>
          <a:prstGeom prst="rect">
            <a:avLst/>
          </a:prstGeom>
          <a:noFill/>
          <a:ln/>
        </p:spPr>
        <p:txBody>
          <a:bodyPr wrap="square" lIns="0" tIns="0" rIns="0" bIns="0" rtlCol="0" anchor="ctr"/>
          <a:lstStyle/>
          <a:p>
            <a:pPr marL="0" indent="0">
              <a:buNone/>
            </a:pPr>
            <a:r>
              <a:rPr lang="en-US" sz="1100" dirty="0">
                <a:solidFill>
                  <a:srgbClr val="7B74D4"/>
                </a:solidFill>
                <a:latin typeface="Calibri" pitchFamily="34" charset="0"/>
                <a:ea typeface="Calibri" pitchFamily="34" charset="-122"/>
                <a:cs typeface="Calibri" pitchFamily="34" charset="-120"/>
              </a:rPr>
              <a:t>Hazle la misma instrucción a claude.ai (navegador) y a Claude Code (terminal):</a:t>
            </a:r>
            <a:endParaRPr lang="en-US" sz="1100" dirty="0"/>
          </a:p>
        </p:txBody>
      </p:sp>
      <p:sp>
        <p:nvSpPr>
          <p:cNvPr id="7" name="Text 5"/>
          <p:cNvSpPr/>
          <p:nvPr/>
        </p:nvSpPr>
        <p:spPr>
          <a:xfrm>
            <a:off x="822960" y="2331720"/>
            <a:ext cx="7498080" cy="658368"/>
          </a:xfrm>
          <a:prstGeom prst="rect">
            <a:avLst/>
          </a:prstGeom>
          <a:noFill/>
          <a:ln/>
        </p:spPr>
        <p:txBody>
          <a:bodyPr wrap="square" lIns="0" tIns="0" rIns="0" bIns="0" rtlCol="0" anchor="ctr"/>
          <a:lstStyle/>
          <a:p>
            <a:pPr marL="0" indent="0">
              <a:buNone/>
            </a:pPr>
            <a:r>
              <a:rPr lang="en-US" sz="1300" i="1" dirty="0">
                <a:solidFill>
                  <a:srgbClr val="FFFFFF"/>
                </a:solidFill>
                <a:latin typeface="Cambria" pitchFamily="34" charset="0"/>
                <a:ea typeface="Cambria" pitchFamily="34" charset="-122"/>
                <a:cs typeface="Cambria" pitchFamily="34" charset="-120"/>
              </a:rPr>
              <a:t>"Crea un archivo llamado fibonacci.txt con los primeros 10 números de Fibonacci y guárdalo en esta carpeta"</a:t>
            </a:r>
            <a:endParaRPr lang="en-US" sz="1300" dirty="0"/>
          </a:p>
        </p:txBody>
      </p:sp>
      <p:sp>
        <p:nvSpPr>
          <p:cNvPr id="8" name="Text 6"/>
          <p:cNvSpPr/>
          <p:nvPr/>
        </p:nvSpPr>
        <p:spPr>
          <a:xfrm>
            <a:off x="640080" y="3246120"/>
            <a:ext cx="7863840" cy="1508760"/>
          </a:xfrm>
          <a:prstGeom prst="rect">
            <a:avLst/>
          </a:prstGeom>
          <a:noFill/>
          <a:ln/>
        </p:spPr>
        <p:txBody>
          <a:bodyPr wrap="square" rtlCol="0" anchor="ctr"/>
          <a:lstStyle/>
          <a:p>
            <a:pPr marL="342900" indent="-342900">
              <a:spcAft>
                <a:spcPts val="600"/>
              </a:spcAft>
              <a:buSzPct val="100000"/>
              <a:buChar char="•"/>
            </a:pPr>
            <a:r>
              <a:rPr lang="en-US" sz="1200" dirty="0">
                <a:solidFill>
                  <a:srgbClr val="FFFFFF"/>
                </a:solidFill>
                <a:latin typeface="Calibri" pitchFamily="34" charset="0"/>
                <a:ea typeface="Calibri" pitchFamily="34" charset="-122"/>
                <a:cs typeface="Calibri" pitchFamily="34" charset="-120"/>
              </a:rPr>
              <a:t>¿Cuál de los dos produjo el archivo?  →  Verifica con ls en la terminal</a:t>
            </a:r>
            <a:endParaRPr lang="en-US" sz="1200" dirty="0"/>
          </a:p>
          <a:p>
            <a:pPr marL="342900" indent="-342900">
              <a:spcAft>
                <a:spcPts val="600"/>
              </a:spcAft>
              <a:buSzPct val="100000"/>
              <a:buChar char="•"/>
            </a:pPr>
            <a:r>
              <a:rPr lang="en-US" sz="1200" dirty="0">
                <a:solidFill>
                  <a:srgbClr val="FFFFFF"/>
                </a:solidFill>
                <a:latin typeface="Calibri" pitchFamily="34" charset="0"/>
                <a:ea typeface="Calibri" pitchFamily="34" charset="-122"/>
                <a:cs typeface="Calibri" pitchFamily="34" charset="-120"/>
              </a:rPr>
              <a:t>¿Qué hizo claude.ai en cambio? ¿Te dio el código para que tú lo corrieras?</a:t>
            </a:r>
            <a:endParaRPr lang="en-US" sz="1200" dirty="0"/>
          </a:p>
          <a:p>
            <a:pPr marL="342900" indent="-342900">
              <a:spcAft>
                <a:spcPts val="600"/>
              </a:spcAft>
              <a:buSzPct val="100000"/>
              <a:buChar char="•"/>
            </a:pPr>
            <a:r>
              <a:rPr lang="en-US" sz="1200" dirty="0">
                <a:solidFill>
                  <a:srgbClr val="FFFFFF"/>
                </a:solidFill>
                <a:latin typeface="Calibri" pitchFamily="34" charset="0"/>
                <a:ea typeface="Calibri" pitchFamily="34" charset="-122"/>
                <a:cs typeface="Calibri" pitchFamily="34" charset="-120"/>
              </a:rPr>
              <a:t>¿Cuál es la diferencia entre describir una acción y ejecutarla?</a:t>
            </a:r>
            <a:endParaRPr lang="en-US" sz="1200" dirty="0"/>
          </a:p>
        </p:txBody>
      </p:sp>
      <p:sp>
        <p:nvSpPr>
          <p:cNvPr id="9" name="Text 7"/>
          <p:cNvSpPr/>
          <p:nvPr/>
        </p:nvSpPr>
        <p:spPr>
          <a:xfrm>
            <a:off x="640080" y="4736592"/>
            <a:ext cx="7772400" cy="274320"/>
          </a:xfrm>
          <a:prstGeom prst="rect">
            <a:avLst/>
          </a:prstGeom>
          <a:noFill/>
          <a:ln/>
        </p:spPr>
        <p:txBody>
          <a:bodyPr wrap="square" lIns="0" tIns="0" rIns="0" bIns="0" rtlCol="0" anchor="ctr"/>
          <a:lstStyle/>
          <a:p>
            <a:pPr marL="0" indent="0">
              <a:buNone/>
            </a:pPr>
            <a:r>
              <a:rPr lang="en-US" sz="1050" i="1" dirty="0">
                <a:solidFill>
                  <a:srgbClr val="1D9E75"/>
                </a:solidFill>
                <a:latin typeface="Calibri" pitchFamily="34" charset="0"/>
                <a:ea typeface="Calibri" pitchFamily="34" charset="-122"/>
                <a:cs typeface="Calibri" pitchFamily="34" charset="-120"/>
              </a:rPr>
              <a:t>5 min · el archivo existe o no existe — no hay respuesta intermedia</a:t>
            </a:r>
            <a:endParaRPr lang="en-US" sz="105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9">
    <p:bg>
      <p:bgPr>
        <a:solidFill>
          <a:srgbClr val="F8F8F6"/>
        </a:solidFill>
        <a:effectLst/>
      </p:bgPr>
    </p:bg>
    <p:spTree>
      <p:nvGrpSpPr>
        <p:cNvPr id="1" name=""/>
        <p:cNvGrpSpPr/>
        <p:nvPr/>
      </p:nvGrpSpPr>
      <p:grpSpPr>
        <a:xfrm>
          <a:off x="0" y="0"/>
          <a:ext cx="0" cy="0"/>
          <a:chOff x="0" y="0"/>
          <a:chExt cx="0" cy="0"/>
        </a:xfrm>
      </p:grpSpPr>
      <p:sp>
        <p:nvSpPr>
          <p:cNvPr id="2" name="Text 0"/>
          <p:cNvSpPr/>
          <p:nvPr/>
        </p:nvSpPr>
        <p:spPr>
          <a:xfrm>
            <a:off x="457200" y="256032"/>
            <a:ext cx="8229600" cy="566928"/>
          </a:xfrm>
          <a:prstGeom prst="rect">
            <a:avLst/>
          </a:prstGeom>
          <a:noFill/>
          <a:ln/>
        </p:spPr>
        <p:txBody>
          <a:bodyPr wrap="square" lIns="0" tIns="0" rIns="0" bIns="0" rtlCol="0" anchor="ctr"/>
          <a:lstStyle/>
          <a:p>
            <a:pPr marL="0" indent="0">
              <a:buNone/>
            </a:pPr>
            <a:r>
              <a:rPr lang="en-US" sz="2700" b="1" dirty="0">
                <a:solidFill>
                  <a:srgbClr val="2C2C2A"/>
                </a:solidFill>
                <a:latin typeface="Cambria" pitchFamily="34" charset="0"/>
                <a:ea typeface="Cambria" pitchFamily="34" charset="-122"/>
                <a:cs typeface="Cambria" pitchFamily="34" charset="-120"/>
              </a:rPr>
              <a:t>Agenda del día 1</a:t>
            </a:r>
            <a:endParaRPr lang="en-US" sz="2700" dirty="0"/>
          </a:p>
        </p:txBody>
      </p:sp>
      <p:sp>
        <p:nvSpPr>
          <p:cNvPr id="3" name="Text 1"/>
          <p:cNvSpPr/>
          <p:nvPr/>
        </p:nvSpPr>
        <p:spPr>
          <a:xfrm>
            <a:off x="457200" y="822960"/>
            <a:ext cx="8229600" cy="320040"/>
          </a:xfrm>
          <a:prstGeom prst="rect">
            <a:avLst/>
          </a:prstGeom>
          <a:noFill/>
          <a:ln/>
        </p:spPr>
        <p:txBody>
          <a:bodyPr wrap="square" lIns="0" tIns="0" rIns="0" bIns="0" rtlCol="0" anchor="ctr"/>
          <a:lstStyle/>
          <a:p>
            <a:pPr marL="0" indent="0">
              <a:buNone/>
            </a:pPr>
            <a:r>
              <a:rPr lang="en-US" sz="1300" i="1" dirty="0">
                <a:solidFill>
                  <a:srgbClr val="5F5E5A"/>
                </a:solidFill>
                <a:latin typeface="Calibri" pitchFamily="34" charset="0"/>
                <a:ea typeface="Calibri" pitchFamily="34" charset="-122"/>
                <a:cs typeface="Calibri" pitchFamily="34" charset="-120"/>
              </a:rPr>
              <a:t>Aprender a trabajar con Claude Code — sin escribir una línea de código</a:t>
            </a:r>
            <a:endParaRPr lang="en-US" sz="1300" dirty="0"/>
          </a:p>
        </p:txBody>
      </p:sp>
      <p:sp>
        <p:nvSpPr>
          <p:cNvPr id="4" name="Shape 2"/>
          <p:cNvSpPr/>
          <p:nvPr/>
        </p:nvSpPr>
        <p:spPr>
          <a:xfrm>
            <a:off x="320040" y="1417320"/>
            <a:ext cx="2697480" cy="1508760"/>
          </a:xfrm>
          <a:prstGeom prst="roundRect">
            <a:avLst>
              <a:gd name="adj" fmla="val 6061"/>
            </a:avLst>
          </a:prstGeom>
          <a:solidFill>
            <a:srgbClr val="534AB7"/>
          </a:solidFill>
          <a:ln w="25400">
            <a:solidFill>
              <a:srgbClr val="534AB7"/>
            </a:solidFill>
            <a:prstDash val="solid"/>
          </a:ln>
          <a:effectLst>
            <a:outerShdw blurRad="88900" dist="25400" dir="2700000" algn="bl" rotWithShape="0">
              <a:srgbClr val="000000">
                <a:alpha val="11000"/>
              </a:srgbClr>
            </a:outerShdw>
          </a:effectLst>
        </p:spPr>
        <p:txBody>
          <a:bodyPr/>
          <a:lstStyle/>
          <a:p>
            <a:endParaRPr lang="es-ES_tradnl"/>
          </a:p>
        </p:txBody>
      </p:sp>
      <p:sp>
        <p:nvSpPr>
          <p:cNvPr id="5" name="Text 3"/>
          <p:cNvSpPr/>
          <p:nvPr/>
        </p:nvSpPr>
        <p:spPr>
          <a:xfrm>
            <a:off x="457200" y="1508760"/>
            <a:ext cx="2423160" cy="274320"/>
          </a:xfrm>
          <a:prstGeom prst="rect">
            <a:avLst/>
          </a:prstGeom>
          <a:noFill/>
          <a:ln/>
        </p:spPr>
        <p:txBody>
          <a:bodyPr wrap="square" lIns="0" tIns="0" rIns="0" bIns="0" rtlCol="0" anchor="ctr"/>
          <a:lstStyle/>
          <a:p>
            <a:pPr marL="0" indent="0">
              <a:buNone/>
            </a:pPr>
            <a:r>
              <a:rPr lang="en-US" sz="900" b="1" kern="0" spc="100" dirty="0">
                <a:solidFill>
                  <a:srgbClr val="EEEDFE"/>
                </a:solidFill>
                <a:latin typeface="Calibri" pitchFamily="34" charset="0"/>
                <a:ea typeface="Calibri" pitchFamily="34" charset="-122"/>
                <a:cs typeface="Calibri" pitchFamily="34" charset="-120"/>
              </a:rPr>
              <a:t>09:00</a:t>
            </a:r>
            <a:endParaRPr lang="en-US" sz="900" dirty="0"/>
          </a:p>
        </p:txBody>
      </p:sp>
      <p:sp>
        <p:nvSpPr>
          <p:cNvPr id="6" name="Text 4"/>
          <p:cNvSpPr/>
          <p:nvPr/>
        </p:nvSpPr>
        <p:spPr>
          <a:xfrm>
            <a:off x="457200" y="1764792"/>
            <a:ext cx="2423160" cy="411480"/>
          </a:xfrm>
          <a:prstGeom prst="rect">
            <a:avLst/>
          </a:prstGeom>
          <a:noFill/>
          <a:ln/>
        </p:spPr>
        <p:txBody>
          <a:bodyPr wrap="square" lIns="0" tIns="0" rIns="0" bIns="0" rtlCol="0" anchor="ctr"/>
          <a:lstStyle/>
          <a:p>
            <a:pPr marL="0" indent="0">
              <a:buNone/>
            </a:pPr>
            <a:r>
              <a:rPr lang="en-US" sz="2200" b="1" dirty="0">
                <a:solidFill>
                  <a:srgbClr val="EEEDFE"/>
                </a:solidFill>
                <a:latin typeface="Cambria" pitchFamily="34" charset="0"/>
                <a:ea typeface="Cambria" pitchFamily="34" charset="-122"/>
                <a:cs typeface="Cambria" pitchFamily="34" charset="-120"/>
              </a:rPr>
              <a:t>M1</a:t>
            </a:r>
            <a:endParaRPr lang="en-US" sz="2200" dirty="0"/>
          </a:p>
        </p:txBody>
      </p:sp>
      <p:sp>
        <p:nvSpPr>
          <p:cNvPr id="7" name="Text 5"/>
          <p:cNvSpPr/>
          <p:nvPr/>
        </p:nvSpPr>
        <p:spPr>
          <a:xfrm>
            <a:off x="457200" y="2194560"/>
            <a:ext cx="2423160" cy="640080"/>
          </a:xfrm>
          <a:prstGeom prst="rect">
            <a:avLst/>
          </a:prstGeom>
          <a:noFill/>
          <a:ln/>
        </p:spPr>
        <p:txBody>
          <a:bodyPr wrap="square" lIns="0" tIns="0" rIns="0" bIns="0" rtlCol="0" anchor="ctr"/>
          <a:lstStyle/>
          <a:p>
            <a:pPr marL="0" indent="0">
              <a:buNone/>
            </a:pPr>
            <a:r>
              <a:rPr lang="en-US" sz="1100" dirty="0">
                <a:solidFill>
                  <a:srgbClr val="FFFFFF"/>
                </a:solidFill>
                <a:latin typeface="Calibri" pitchFamily="34" charset="0"/>
                <a:ea typeface="Calibri" pitchFamily="34" charset="-122"/>
                <a:cs typeface="Calibri" pitchFamily="34" charset="-120"/>
              </a:rPr>
              <a:t>¿Qué es un agente? Demo</a:t>
            </a:r>
            <a:endParaRPr lang="en-US" sz="1100" dirty="0"/>
          </a:p>
        </p:txBody>
      </p:sp>
      <p:sp>
        <p:nvSpPr>
          <p:cNvPr id="8" name="Shape 6"/>
          <p:cNvSpPr/>
          <p:nvPr/>
        </p:nvSpPr>
        <p:spPr>
          <a:xfrm>
            <a:off x="3172968" y="1417320"/>
            <a:ext cx="2697480" cy="1508760"/>
          </a:xfrm>
          <a:prstGeom prst="roundRect">
            <a:avLst>
              <a:gd name="adj" fmla="val 6061"/>
            </a:avLst>
          </a:prstGeom>
          <a:solidFill>
            <a:srgbClr val="FFFFFF"/>
          </a:solidFill>
          <a:ln w="6350">
            <a:solidFill>
              <a:srgbClr val="D3D1C7"/>
            </a:solidFill>
            <a:prstDash val="solid"/>
          </a:ln>
          <a:effectLst>
            <a:outerShdw blurRad="88900" dist="25400" dir="2700000" algn="bl" rotWithShape="0">
              <a:srgbClr val="000000">
                <a:alpha val="11000"/>
              </a:srgbClr>
            </a:outerShdw>
          </a:effectLst>
        </p:spPr>
        <p:txBody>
          <a:bodyPr/>
          <a:lstStyle/>
          <a:p>
            <a:endParaRPr lang="es-ES_tradnl"/>
          </a:p>
        </p:txBody>
      </p:sp>
      <p:sp>
        <p:nvSpPr>
          <p:cNvPr id="9" name="Text 7"/>
          <p:cNvSpPr/>
          <p:nvPr/>
        </p:nvSpPr>
        <p:spPr>
          <a:xfrm>
            <a:off x="3310128" y="1508760"/>
            <a:ext cx="2423160" cy="274320"/>
          </a:xfrm>
          <a:prstGeom prst="rect">
            <a:avLst/>
          </a:prstGeom>
          <a:noFill/>
          <a:ln/>
        </p:spPr>
        <p:txBody>
          <a:bodyPr wrap="square" lIns="0" tIns="0" rIns="0" bIns="0" rtlCol="0" anchor="ctr"/>
          <a:lstStyle/>
          <a:p>
            <a:pPr marL="0" indent="0">
              <a:buNone/>
            </a:pPr>
            <a:r>
              <a:rPr lang="en-US" sz="900" b="1" kern="0" spc="100" dirty="0">
                <a:solidFill>
                  <a:srgbClr val="888780"/>
                </a:solidFill>
                <a:latin typeface="Calibri" pitchFamily="34" charset="0"/>
                <a:ea typeface="Calibri" pitchFamily="34" charset="-122"/>
                <a:cs typeface="Calibri" pitchFamily="34" charset="-120"/>
              </a:rPr>
              <a:t>09:30</a:t>
            </a:r>
            <a:endParaRPr lang="en-US" sz="900" dirty="0"/>
          </a:p>
        </p:txBody>
      </p:sp>
      <p:sp>
        <p:nvSpPr>
          <p:cNvPr id="10" name="Text 8"/>
          <p:cNvSpPr/>
          <p:nvPr/>
        </p:nvSpPr>
        <p:spPr>
          <a:xfrm>
            <a:off x="3310128" y="1764792"/>
            <a:ext cx="2423160" cy="411480"/>
          </a:xfrm>
          <a:prstGeom prst="rect">
            <a:avLst/>
          </a:prstGeom>
          <a:noFill/>
          <a:ln/>
        </p:spPr>
        <p:txBody>
          <a:bodyPr wrap="square" lIns="0" tIns="0" rIns="0" bIns="0" rtlCol="0" anchor="ctr"/>
          <a:lstStyle/>
          <a:p>
            <a:pPr marL="0" indent="0">
              <a:buNone/>
            </a:pPr>
            <a:r>
              <a:rPr lang="en-US" sz="2200" b="1" dirty="0">
                <a:solidFill>
                  <a:srgbClr val="534AB7"/>
                </a:solidFill>
                <a:latin typeface="Cambria" pitchFamily="34" charset="0"/>
                <a:ea typeface="Cambria" pitchFamily="34" charset="-122"/>
                <a:cs typeface="Cambria" pitchFamily="34" charset="-120"/>
              </a:rPr>
              <a:t>M2</a:t>
            </a:r>
            <a:endParaRPr lang="en-US" sz="2200" dirty="0"/>
          </a:p>
        </p:txBody>
      </p:sp>
      <p:sp>
        <p:nvSpPr>
          <p:cNvPr id="11" name="Text 9"/>
          <p:cNvSpPr/>
          <p:nvPr/>
        </p:nvSpPr>
        <p:spPr>
          <a:xfrm>
            <a:off x="3310128" y="2194560"/>
            <a:ext cx="2423160" cy="640080"/>
          </a:xfrm>
          <a:prstGeom prst="rect">
            <a:avLst/>
          </a:prstGeom>
          <a:noFill/>
          <a:ln/>
        </p:spPr>
        <p:txBody>
          <a:bodyPr wrap="square" lIns="0" tIns="0" rIns="0" bIns="0" rtlCol="0" anchor="ctr"/>
          <a:lstStyle/>
          <a:p>
            <a:pPr marL="0" indent="0">
              <a:buNone/>
            </a:pPr>
            <a:r>
              <a:rPr lang="en-US" sz="1100" dirty="0">
                <a:solidFill>
                  <a:srgbClr val="2C2C2A"/>
                </a:solidFill>
                <a:latin typeface="Calibri" pitchFamily="34" charset="0"/>
                <a:ea typeface="Calibri" pitchFamily="34" charset="-122"/>
                <a:cs typeface="Calibri" pitchFamily="34" charset="-120"/>
              </a:rPr>
              <a:t>Instalación y entorno</a:t>
            </a:r>
            <a:endParaRPr lang="en-US" sz="1100" dirty="0"/>
          </a:p>
        </p:txBody>
      </p:sp>
      <p:sp>
        <p:nvSpPr>
          <p:cNvPr id="12" name="Shape 10"/>
          <p:cNvSpPr/>
          <p:nvPr/>
        </p:nvSpPr>
        <p:spPr>
          <a:xfrm>
            <a:off x="6025896" y="1417320"/>
            <a:ext cx="2697480" cy="1508760"/>
          </a:xfrm>
          <a:prstGeom prst="roundRect">
            <a:avLst>
              <a:gd name="adj" fmla="val 6061"/>
            </a:avLst>
          </a:prstGeom>
          <a:solidFill>
            <a:srgbClr val="FFFFFF"/>
          </a:solidFill>
          <a:ln w="6350">
            <a:solidFill>
              <a:srgbClr val="D3D1C7"/>
            </a:solidFill>
            <a:prstDash val="solid"/>
          </a:ln>
          <a:effectLst>
            <a:outerShdw blurRad="88900" dist="25400" dir="2700000" algn="bl" rotWithShape="0">
              <a:srgbClr val="000000">
                <a:alpha val="11000"/>
              </a:srgbClr>
            </a:outerShdw>
          </a:effectLst>
        </p:spPr>
        <p:txBody>
          <a:bodyPr/>
          <a:lstStyle/>
          <a:p>
            <a:endParaRPr lang="es-ES_tradnl"/>
          </a:p>
        </p:txBody>
      </p:sp>
      <p:sp>
        <p:nvSpPr>
          <p:cNvPr id="13" name="Text 11"/>
          <p:cNvSpPr/>
          <p:nvPr/>
        </p:nvSpPr>
        <p:spPr>
          <a:xfrm>
            <a:off x="6163056" y="1508760"/>
            <a:ext cx="2423160" cy="274320"/>
          </a:xfrm>
          <a:prstGeom prst="rect">
            <a:avLst/>
          </a:prstGeom>
          <a:noFill/>
          <a:ln/>
        </p:spPr>
        <p:txBody>
          <a:bodyPr wrap="square" lIns="0" tIns="0" rIns="0" bIns="0" rtlCol="0" anchor="ctr"/>
          <a:lstStyle/>
          <a:p>
            <a:pPr marL="0" indent="0">
              <a:buNone/>
            </a:pPr>
            <a:r>
              <a:rPr lang="en-US" sz="900" b="1" kern="0" spc="100" dirty="0">
                <a:solidFill>
                  <a:srgbClr val="888780"/>
                </a:solidFill>
                <a:latin typeface="Calibri" pitchFamily="34" charset="0"/>
                <a:ea typeface="Calibri" pitchFamily="34" charset="-122"/>
                <a:cs typeface="Calibri" pitchFamily="34" charset="-120"/>
              </a:rPr>
              <a:t>11:00</a:t>
            </a:r>
            <a:endParaRPr lang="en-US" sz="900" dirty="0"/>
          </a:p>
        </p:txBody>
      </p:sp>
      <p:sp>
        <p:nvSpPr>
          <p:cNvPr id="14" name="Text 12"/>
          <p:cNvSpPr/>
          <p:nvPr/>
        </p:nvSpPr>
        <p:spPr>
          <a:xfrm>
            <a:off x="6163056" y="1764792"/>
            <a:ext cx="2423160" cy="411480"/>
          </a:xfrm>
          <a:prstGeom prst="rect">
            <a:avLst/>
          </a:prstGeom>
          <a:noFill/>
          <a:ln/>
        </p:spPr>
        <p:txBody>
          <a:bodyPr wrap="square" lIns="0" tIns="0" rIns="0" bIns="0" rtlCol="0" anchor="ctr"/>
          <a:lstStyle/>
          <a:p>
            <a:pPr marL="0" indent="0">
              <a:buNone/>
            </a:pPr>
            <a:r>
              <a:rPr lang="en-US" sz="2200" b="1" dirty="0">
                <a:solidFill>
                  <a:srgbClr val="534AB7"/>
                </a:solidFill>
                <a:latin typeface="Cambria" pitchFamily="34" charset="0"/>
                <a:ea typeface="Cambria" pitchFamily="34" charset="-122"/>
                <a:cs typeface="Cambria" pitchFamily="34" charset="-120"/>
              </a:rPr>
              <a:t>M3</a:t>
            </a:r>
            <a:endParaRPr lang="en-US" sz="2200" dirty="0"/>
          </a:p>
        </p:txBody>
      </p:sp>
      <p:sp>
        <p:nvSpPr>
          <p:cNvPr id="15" name="Text 13"/>
          <p:cNvSpPr/>
          <p:nvPr/>
        </p:nvSpPr>
        <p:spPr>
          <a:xfrm>
            <a:off x="6163056" y="2194560"/>
            <a:ext cx="2423160" cy="640080"/>
          </a:xfrm>
          <a:prstGeom prst="rect">
            <a:avLst/>
          </a:prstGeom>
          <a:noFill/>
          <a:ln/>
        </p:spPr>
        <p:txBody>
          <a:bodyPr wrap="square" lIns="0" tIns="0" rIns="0" bIns="0" rtlCol="0" anchor="ctr"/>
          <a:lstStyle/>
          <a:p>
            <a:pPr marL="0" indent="0">
              <a:buNone/>
            </a:pPr>
            <a:r>
              <a:rPr lang="en-US" sz="1100" dirty="0">
                <a:solidFill>
                  <a:srgbClr val="2C2C2A"/>
                </a:solidFill>
                <a:latin typeface="Calibri" pitchFamily="34" charset="0"/>
                <a:ea typeface="Calibri" pitchFamily="34" charset="-122"/>
                <a:cs typeface="Calibri" pitchFamily="34" charset="-120"/>
              </a:rPr>
              <a:t>Modelos, tokens y contexto</a:t>
            </a:r>
            <a:endParaRPr lang="en-US" sz="1100" dirty="0"/>
          </a:p>
        </p:txBody>
      </p:sp>
      <p:sp>
        <p:nvSpPr>
          <p:cNvPr id="16" name="Shape 14"/>
          <p:cNvSpPr/>
          <p:nvPr/>
        </p:nvSpPr>
        <p:spPr>
          <a:xfrm>
            <a:off x="320040" y="3108960"/>
            <a:ext cx="2697480" cy="1508760"/>
          </a:xfrm>
          <a:prstGeom prst="roundRect">
            <a:avLst>
              <a:gd name="adj" fmla="val 6061"/>
            </a:avLst>
          </a:prstGeom>
          <a:solidFill>
            <a:srgbClr val="FFFFFF"/>
          </a:solidFill>
          <a:ln w="6350">
            <a:solidFill>
              <a:srgbClr val="D3D1C7"/>
            </a:solidFill>
            <a:prstDash val="solid"/>
          </a:ln>
          <a:effectLst>
            <a:outerShdw blurRad="88900" dist="25400" dir="2700000" algn="bl" rotWithShape="0">
              <a:srgbClr val="000000">
                <a:alpha val="11000"/>
              </a:srgbClr>
            </a:outerShdw>
          </a:effectLst>
        </p:spPr>
        <p:txBody>
          <a:bodyPr/>
          <a:lstStyle/>
          <a:p>
            <a:endParaRPr lang="es-ES_tradnl"/>
          </a:p>
        </p:txBody>
      </p:sp>
      <p:sp>
        <p:nvSpPr>
          <p:cNvPr id="17" name="Text 15"/>
          <p:cNvSpPr/>
          <p:nvPr/>
        </p:nvSpPr>
        <p:spPr>
          <a:xfrm>
            <a:off x="457200" y="3200400"/>
            <a:ext cx="2423160" cy="274320"/>
          </a:xfrm>
          <a:prstGeom prst="rect">
            <a:avLst/>
          </a:prstGeom>
          <a:noFill/>
          <a:ln/>
        </p:spPr>
        <p:txBody>
          <a:bodyPr wrap="square" lIns="0" tIns="0" rIns="0" bIns="0" rtlCol="0" anchor="ctr"/>
          <a:lstStyle/>
          <a:p>
            <a:pPr marL="0" indent="0">
              <a:buNone/>
            </a:pPr>
            <a:r>
              <a:rPr lang="en-US" sz="900" b="1" kern="0" spc="100" dirty="0">
                <a:solidFill>
                  <a:srgbClr val="888780"/>
                </a:solidFill>
                <a:latin typeface="Calibri" pitchFamily="34" charset="0"/>
                <a:ea typeface="Calibri" pitchFamily="34" charset="-122"/>
                <a:cs typeface="Calibri" pitchFamily="34" charset="-120"/>
              </a:rPr>
              <a:t>11:30</a:t>
            </a:r>
            <a:endParaRPr lang="en-US" sz="900" dirty="0"/>
          </a:p>
        </p:txBody>
      </p:sp>
      <p:sp>
        <p:nvSpPr>
          <p:cNvPr id="18" name="Text 16"/>
          <p:cNvSpPr/>
          <p:nvPr/>
        </p:nvSpPr>
        <p:spPr>
          <a:xfrm>
            <a:off x="457200" y="3456432"/>
            <a:ext cx="2423160" cy="411480"/>
          </a:xfrm>
          <a:prstGeom prst="rect">
            <a:avLst/>
          </a:prstGeom>
          <a:noFill/>
          <a:ln/>
        </p:spPr>
        <p:txBody>
          <a:bodyPr wrap="square" lIns="0" tIns="0" rIns="0" bIns="0" rtlCol="0" anchor="ctr"/>
          <a:lstStyle/>
          <a:p>
            <a:pPr marL="0" indent="0">
              <a:buNone/>
            </a:pPr>
            <a:r>
              <a:rPr lang="en-US" sz="2200" b="1" dirty="0">
                <a:solidFill>
                  <a:srgbClr val="534AB7"/>
                </a:solidFill>
                <a:latin typeface="Cambria" pitchFamily="34" charset="0"/>
                <a:ea typeface="Cambria" pitchFamily="34" charset="-122"/>
                <a:cs typeface="Cambria" pitchFamily="34" charset="-120"/>
              </a:rPr>
              <a:t>M4</a:t>
            </a:r>
            <a:endParaRPr lang="en-US" sz="2200" dirty="0"/>
          </a:p>
        </p:txBody>
      </p:sp>
      <p:sp>
        <p:nvSpPr>
          <p:cNvPr id="19" name="Text 17"/>
          <p:cNvSpPr/>
          <p:nvPr/>
        </p:nvSpPr>
        <p:spPr>
          <a:xfrm>
            <a:off x="457200" y="3886200"/>
            <a:ext cx="2423160" cy="640080"/>
          </a:xfrm>
          <a:prstGeom prst="rect">
            <a:avLst/>
          </a:prstGeom>
          <a:noFill/>
          <a:ln/>
        </p:spPr>
        <p:txBody>
          <a:bodyPr wrap="square" lIns="0" tIns="0" rIns="0" bIns="0" rtlCol="0" anchor="ctr"/>
          <a:lstStyle/>
          <a:p>
            <a:pPr marL="0" indent="0">
              <a:buNone/>
            </a:pPr>
            <a:r>
              <a:rPr lang="en-US" sz="1100" dirty="0">
                <a:solidFill>
                  <a:srgbClr val="2C2C2A"/>
                </a:solidFill>
                <a:latin typeface="Calibri" pitchFamily="34" charset="0"/>
                <a:ea typeface="Calibri" pitchFamily="34" charset="-122"/>
                <a:cs typeface="Calibri" pitchFamily="34" charset="-120"/>
              </a:rPr>
              <a:t>Manejo de archivos</a:t>
            </a:r>
            <a:endParaRPr lang="en-US" sz="1100" dirty="0"/>
          </a:p>
        </p:txBody>
      </p:sp>
      <p:sp>
        <p:nvSpPr>
          <p:cNvPr id="20" name="Shape 18"/>
          <p:cNvSpPr/>
          <p:nvPr/>
        </p:nvSpPr>
        <p:spPr>
          <a:xfrm>
            <a:off x="3172968" y="3108960"/>
            <a:ext cx="2697480" cy="1508760"/>
          </a:xfrm>
          <a:prstGeom prst="roundRect">
            <a:avLst>
              <a:gd name="adj" fmla="val 6061"/>
            </a:avLst>
          </a:prstGeom>
          <a:solidFill>
            <a:srgbClr val="FFFFFF"/>
          </a:solidFill>
          <a:ln w="6350">
            <a:solidFill>
              <a:srgbClr val="D3D1C7"/>
            </a:solidFill>
            <a:prstDash val="solid"/>
          </a:ln>
          <a:effectLst>
            <a:outerShdw blurRad="88900" dist="25400" dir="2700000" algn="bl" rotWithShape="0">
              <a:srgbClr val="000000">
                <a:alpha val="11000"/>
              </a:srgbClr>
            </a:outerShdw>
          </a:effectLst>
        </p:spPr>
        <p:txBody>
          <a:bodyPr/>
          <a:lstStyle/>
          <a:p>
            <a:endParaRPr lang="es-ES_tradnl"/>
          </a:p>
        </p:txBody>
      </p:sp>
      <p:sp>
        <p:nvSpPr>
          <p:cNvPr id="21" name="Text 19"/>
          <p:cNvSpPr/>
          <p:nvPr/>
        </p:nvSpPr>
        <p:spPr>
          <a:xfrm>
            <a:off x="3310128" y="3200400"/>
            <a:ext cx="2423160" cy="274320"/>
          </a:xfrm>
          <a:prstGeom prst="rect">
            <a:avLst/>
          </a:prstGeom>
          <a:noFill/>
          <a:ln/>
        </p:spPr>
        <p:txBody>
          <a:bodyPr wrap="square" lIns="0" tIns="0" rIns="0" bIns="0" rtlCol="0" anchor="ctr"/>
          <a:lstStyle/>
          <a:p>
            <a:pPr marL="0" indent="0">
              <a:buNone/>
            </a:pPr>
            <a:r>
              <a:rPr lang="en-US" sz="900" b="1" kern="0" spc="100" dirty="0">
                <a:solidFill>
                  <a:srgbClr val="888780"/>
                </a:solidFill>
                <a:latin typeface="Calibri" pitchFamily="34" charset="0"/>
                <a:ea typeface="Calibri" pitchFamily="34" charset="-122"/>
                <a:cs typeface="Calibri" pitchFamily="34" charset="-120"/>
              </a:rPr>
              <a:t>12:00</a:t>
            </a:r>
            <a:endParaRPr lang="en-US" sz="900" dirty="0"/>
          </a:p>
        </p:txBody>
      </p:sp>
      <p:sp>
        <p:nvSpPr>
          <p:cNvPr id="22" name="Text 20"/>
          <p:cNvSpPr/>
          <p:nvPr/>
        </p:nvSpPr>
        <p:spPr>
          <a:xfrm>
            <a:off x="3310128" y="3456432"/>
            <a:ext cx="2423160" cy="411480"/>
          </a:xfrm>
          <a:prstGeom prst="rect">
            <a:avLst/>
          </a:prstGeom>
          <a:noFill/>
          <a:ln/>
        </p:spPr>
        <p:txBody>
          <a:bodyPr wrap="square" lIns="0" tIns="0" rIns="0" bIns="0" rtlCol="0" anchor="ctr"/>
          <a:lstStyle/>
          <a:p>
            <a:pPr marL="0" indent="0">
              <a:buNone/>
            </a:pPr>
            <a:r>
              <a:rPr lang="en-US" sz="2200" b="1" dirty="0">
                <a:solidFill>
                  <a:srgbClr val="534AB7"/>
                </a:solidFill>
                <a:latin typeface="Cambria" pitchFamily="34" charset="0"/>
                <a:ea typeface="Cambria" pitchFamily="34" charset="-122"/>
                <a:cs typeface="Cambria" pitchFamily="34" charset="-120"/>
              </a:rPr>
              <a:t>M5</a:t>
            </a:r>
            <a:endParaRPr lang="en-US" sz="2200" dirty="0"/>
          </a:p>
        </p:txBody>
      </p:sp>
      <p:sp>
        <p:nvSpPr>
          <p:cNvPr id="23" name="Text 21"/>
          <p:cNvSpPr/>
          <p:nvPr/>
        </p:nvSpPr>
        <p:spPr>
          <a:xfrm>
            <a:off x="3310128" y="3886200"/>
            <a:ext cx="2423160" cy="640080"/>
          </a:xfrm>
          <a:prstGeom prst="rect">
            <a:avLst/>
          </a:prstGeom>
          <a:noFill/>
          <a:ln/>
        </p:spPr>
        <p:txBody>
          <a:bodyPr wrap="square" lIns="0" tIns="0" rIns="0" bIns="0" rtlCol="0" anchor="ctr"/>
          <a:lstStyle/>
          <a:p>
            <a:pPr marL="0" indent="0">
              <a:buNone/>
            </a:pPr>
            <a:r>
              <a:rPr lang="en-US" sz="1100" dirty="0">
                <a:solidFill>
                  <a:srgbClr val="2C2C2A"/>
                </a:solidFill>
                <a:latin typeface="Calibri" pitchFamily="34" charset="0"/>
                <a:ea typeface="Calibri" pitchFamily="34" charset="-122"/>
                <a:cs typeface="Calibri" pitchFamily="34" charset="-120"/>
              </a:rPr>
              <a:t>CLAUDE.md, Skills y MCP</a:t>
            </a:r>
            <a:endParaRPr lang="en-US" sz="1100" dirty="0"/>
          </a:p>
        </p:txBody>
      </p:sp>
      <p:sp>
        <p:nvSpPr>
          <p:cNvPr id="24" name="Shape 22"/>
          <p:cNvSpPr/>
          <p:nvPr/>
        </p:nvSpPr>
        <p:spPr>
          <a:xfrm>
            <a:off x="6025896" y="3108960"/>
            <a:ext cx="2697480" cy="1508760"/>
          </a:xfrm>
          <a:prstGeom prst="roundRect">
            <a:avLst>
              <a:gd name="adj" fmla="val 6061"/>
            </a:avLst>
          </a:prstGeom>
          <a:solidFill>
            <a:srgbClr val="FFFFFF"/>
          </a:solidFill>
          <a:ln w="6350">
            <a:solidFill>
              <a:srgbClr val="D3D1C7"/>
            </a:solidFill>
            <a:prstDash val="solid"/>
          </a:ln>
          <a:effectLst>
            <a:outerShdw blurRad="88900" dist="25400" dir="2700000" algn="bl" rotWithShape="0">
              <a:srgbClr val="000000">
                <a:alpha val="11000"/>
              </a:srgbClr>
            </a:outerShdw>
          </a:effectLst>
        </p:spPr>
        <p:txBody>
          <a:bodyPr/>
          <a:lstStyle/>
          <a:p>
            <a:endParaRPr lang="es-ES_tradnl"/>
          </a:p>
        </p:txBody>
      </p:sp>
      <p:sp>
        <p:nvSpPr>
          <p:cNvPr id="25" name="Text 23"/>
          <p:cNvSpPr/>
          <p:nvPr/>
        </p:nvSpPr>
        <p:spPr>
          <a:xfrm>
            <a:off x="6163056" y="3200400"/>
            <a:ext cx="2423160" cy="274320"/>
          </a:xfrm>
          <a:prstGeom prst="rect">
            <a:avLst/>
          </a:prstGeom>
          <a:noFill/>
          <a:ln/>
        </p:spPr>
        <p:txBody>
          <a:bodyPr wrap="square" lIns="0" tIns="0" rIns="0" bIns="0" rtlCol="0" anchor="ctr"/>
          <a:lstStyle/>
          <a:p>
            <a:pPr marL="0" indent="0">
              <a:buNone/>
            </a:pPr>
            <a:r>
              <a:rPr lang="en-US" sz="900" b="1" kern="0" spc="100" dirty="0">
                <a:solidFill>
                  <a:srgbClr val="888780"/>
                </a:solidFill>
                <a:latin typeface="Calibri" pitchFamily="34" charset="0"/>
                <a:ea typeface="Calibri" pitchFamily="34" charset="-122"/>
                <a:cs typeface="Calibri" pitchFamily="34" charset="-120"/>
              </a:rPr>
              <a:t>12:30</a:t>
            </a:r>
            <a:endParaRPr lang="en-US" sz="900" dirty="0"/>
          </a:p>
        </p:txBody>
      </p:sp>
      <p:sp>
        <p:nvSpPr>
          <p:cNvPr id="26" name="Text 24"/>
          <p:cNvSpPr/>
          <p:nvPr/>
        </p:nvSpPr>
        <p:spPr>
          <a:xfrm>
            <a:off x="6163056" y="3456432"/>
            <a:ext cx="2423160" cy="411480"/>
          </a:xfrm>
          <a:prstGeom prst="rect">
            <a:avLst/>
          </a:prstGeom>
          <a:noFill/>
          <a:ln/>
        </p:spPr>
        <p:txBody>
          <a:bodyPr wrap="square" lIns="0" tIns="0" rIns="0" bIns="0" rtlCol="0" anchor="ctr"/>
          <a:lstStyle/>
          <a:p>
            <a:pPr marL="0" indent="0">
              <a:buNone/>
            </a:pPr>
            <a:r>
              <a:rPr lang="en-US" sz="2200" b="1" dirty="0">
                <a:solidFill>
                  <a:srgbClr val="534AB7"/>
                </a:solidFill>
                <a:latin typeface="Cambria" pitchFamily="34" charset="0"/>
                <a:ea typeface="Cambria" pitchFamily="34" charset="-122"/>
                <a:cs typeface="Cambria" pitchFamily="34" charset="-120"/>
              </a:rPr>
              <a:t>M6</a:t>
            </a:r>
            <a:endParaRPr lang="en-US" sz="2200" dirty="0"/>
          </a:p>
        </p:txBody>
      </p:sp>
      <p:sp>
        <p:nvSpPr>
          <p:cNvPr id="27" name="Text 25"/>
          <p:cNvSpPr/>
          <p:nvPr/>
        </p:nvSpPr>
        <p:spPr>
          <a:xfrm>
            <a:off x="6163056" y="3886200"/>
            <a:ext cx="2423160" cy="640080"/>
          </a:xfrm>
          <a:prstGeom prst="rect">
            <a:avLst/>
          </a:prstGeom>
          <a:noFill/>
          <a:ln/>
        </p:spPr>
        <p:txBody>
          <a:bodyPr wrap="square" lIns="0" tIns="0" rIns="0" bIns="0" rtlCol="0" anchor="ctr"/>
          <a:lstStyle/>
          <a:p>
            <a:pPr marL="0" indent="0">
              <a:buNone/>
            </a:pPr>
            <a:r>
              <a:rPr lang="en-US" sz="1100" dirty="0">
                <a:solidFill>
                  <a:srgbClr val="2C2C2A"/>
                </a:solidFill>
                <a:latin typeface="Calibri" pitchFamily="34" charset="0"/>
                <a:ea typeface="Calibri" pitchFamily="34" charset="-122"/>
                <a:cs typeface="Calibri" pitchFamily="34" charset="-120"/>
              </a:rPr>
              <a:t>Buenas prácticas de prompting</a:t>
            </a:r>
            <a:endParaRPr lang="en-US" sz="11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0">
    <p:bg>
      <p:bgPr>
        <a:solidFill>
          <a:srgbClr val="1A1A2E"/>
        </a:solidFill>
        <a:effectLst/>
      </p:bgPr>
    </p:bg>
    <p:spTree>
      <p:nvGrpSpPr>
        <p:cNvPr id="1" name=""/>
        <p:cNvGrpSpPr/>
        <p:nvPr/>
      </p:nvGrpSpPr>
      <p:grpSpPr>
        <a:xfrm>
          <a:off x="0" y="0"/>
          <a:ext cx="0" cy="0"/>
          <a:chOff x="0" y="0"/>
          <a:chExt cx="0" cy="0"/>
        </a:xfrm>
      </p:grpSpPr>
      <p:sp>
        <p:nvSpPr>
          <p:cNvPr id="2" name="Shape 0"/>
          <p:cNvSpPr/>
          <p:nvPr/>
        </p:nvSpPr>
        <p:spPr>
          <a:xfrm>
            <a:off x="6858000" y="-914400"/>
            <a:ext cx="4572000" cy="4572000"/>
          </a:xfrm>
          <a:prstGeom prst="ellipse">
            <a:avLst/>
          </a:prstGeom>
          <a:solidFill>
            <a:srgbClr val="7B74D4">
              <a:alpha val="22000"/>
            </a:srgbClr>
          </a:solidFill>
          <a:ln w="12700">
            <a:solidFill>
              <a:srgbClr val="7B74D4">
                <a:alpha val="22000"/>
              </a:srgbClr>
            </a:solidFill>
            <a:prstDash val="solid"/>
          </a:ln>
        </p:spPr>
        <p:txBody>
          <a:bodyPr/>
          <a:lstStyle/>
          <a:p>
            <a:endParaRPr lang="es-ES_tradnl"/>
          </a:p>
        </p:txBody>
      </p:sp>
      <p:sp>
        <p:nvSpPr>
          <p:cNvPr id="3" name="Shape 1"/>
          <p:cNvSpPr/>
          <p:nvPr/>
        </p:nvSpPr>
        <p:spPr>
          <a:xfrm>
            <a:off x="-1371600" y="3200400"/>
            <a:ext cx="3200400" cy="3200400"/>
          </a:xfrm>
          <a:prstGeom prst="ellipse">
            <a:avLst/>
          </a:prstGeom>
          <a:solidFill>
            <a:srgbClr val="1D9E75">
              <a:alpha val="16000"/>
            </a:srgbClr>
          </a:solidFill>
          <a:ln w="12700">
            <a:solidFill>
              <a:srgbClr val="1D9E75">
                <a:alpha val="16000"/>
              </a:srgbClr>
            </a:solidFill>
            <a:prstDash val="solid"/>
          </a:ln>
        </p:spPr>
        <p:txBody>
          <a:bodyPr/>
          <a:lstStyle/>
          <a:p>
            <a:endParaRPr lang="es-ES_tradnl"/>
          </a:p>
        </p:txBody>
      </p:sp>
      <p:sp>
        <p:nvSpPr>
          <p:cNvPr id="4" name="Text 2"/>
          <p:cNvSpPr/>
          <p:nvPr/>
        </p:nvSpPr>
        <p:spPr>
          <a:xfrm>
            <a:off x="640080" y="822960"/>
            <a:ext cx="7772400" cy="411480"/>
          </a:xfrm>
          <a:prstGeom prst="rect">
            <a:avLst/>
          </a:prstGeom>
          <a:noFill/>
          <a:ln/>
        </p:spPr>
        <p:txBody>
          <a:bodyPr wrap="square" lIns="0" tIns="0" rIns="0" bIns="0" rtlCol="0" anchor="ctr"/>
          <a:lstStyle/>
          <a:p>
            <a:pPr marL="0" indent="0">
              <a:buNone/>
            </a:pPr>
            <a:r>
              <a:rPr lang="en-US" sz="1300" b="1" kern="0" spc="400" dirty="0">
                <a:solidFill>
                  <a:srgbClr val="7B74D4"/>
                </a:solidFill>
                <a:latin typeface="Calibri" pitchFamily="34" charset="0"/>
                <a:ea typeface="Calibri" pitchFamily="34" charset="-122"/>
                <a:cs typeface="Calibri" pitchFamily="34" charset="-120"/>
              </a:rPr>
              <a:t>Módulo 2</a:t>
            </a:r>
            <a:endParaRPr lang="en-US" sz="1300" dirty="0"/>
          </a:p>
        </p:txBody>
      </p:sp>
      <p:sp>
        <p:nvSpPr>
          <p:cNvPr id="5" name="Text 3"/>
          <p:cNvSpPr/>
          <p:nvPr/>
        </p:nvSpPr>
        <p:spPr>
          <a:xfrm>
            <a:off x="640080" y="1280160"/>
            <a:ext cx="7498080" cy="1005840"/>
          </a:xfrm>
          <a:prstGeom prst="rect">
            <a:avLst/>
          </a:prstGeom>
          <a:noFill/>
          <a:ln/>
        </p:spPr>
        <p:txBody>
          <a:bodyPr wrap="square" lIns="0" tIns="0" rIns="0" bIns="0" rtlCol="0" anchor="ctr"/>
          <a:lstStyle/>
          <a:p>
            <a:pPr marL="0" indent="0">
              <a:buNone/>
            </a:pPr>
            <a:r>
              <a:rPr lang="en-US" sz="3600" b="1" dirty="0">
                <a:solidFill>
                  <a:srgbClr val="FFFFFF"/>
                </a:solidFill>
                <a:latin typeface="Cambria" pitchFamily="34" charset="0"/>
                <a:ea typeface="Cambria" pitchFamily="34" charset="-122"/>
                <a:cs typeface="Cambria" pitchFamily="34" charset="-120"/>
              </a:rPr>
              <a:t>Instalación y entorno</a:t>
            </a:r>
            <a:endParaRPr lang="en-US" sz="3600" dirty="0"/>
          </a:p>
        </p:txBody>
      </p:sp>
      <p:sp>
        <p:nvSpPr>
          <p:cNvPr id="6" name="Text 4"/>
          <p:cNvSpPr/>
          <p:nvPr/>
        </p:nvSpPr>
        <p:spPr>
          <a:xfrm>
            <a:off x="640080" y="2377440"/>
            <a:ext cx="6858000" cy="594360"/>
          </a:xfrm>
          <a:prstGeom prst="rect">
            <a:avLst/>
          </a:prstGeom>
          <a:noFill/>
          <a:ln/>
        </p:spPr>
        <p:txBody>
          <a:bodyPr wrap="square" lIns="0" tIns="0" rIns="0" bIns="0" rtlCol="0" anchor="ctr"/>
          <a:lstStyle/>
          <a:p>
            <a:pPr marL="0" indent="0">
              <a:buNone/>
            </a:pPr>
            <a:r>
              <a:rPr lang="en-US" sz="1300" i="1" dirty="0">
                <a:solidFill>
                  <a:srgbClr val="7B74D4"/>
                </a:solidFill>
                <a:latin typeface="Calibri" pitchFamily="34" charset="0"/>
                <a:ea typeface="Calibri" pitchFamily="34" charset="-122"/>
                <a:cs typeface="Calibri" pitchFamily="34" charset="-120"/>
              </a:rPr>
              <a:t>La terminal, Claude Code y tu primer branch en GitHub</a:t>
            </a:r>
            <a:endParaRPr lang="en-US" sz="1300" dirty="0"/>
          </a:p>
        </p:txBody>
      </p:sp>
      <p:sp>
        <p:nvSpPr>
          <p:cNvPr id="7" name="Shape 5"/>
          <p:cNvSpPr/>
          <p:nvPr/>
        </p:nvSpPr>
        <p:spPr>
          <a:xfrm>
            <a:off x="640080" y="3154680"/>
            <a:ext cx="2011680" cy="0"/>
          </a:xfrm>
          <a:prstGeom prst="line">
            <a:avLst/>
          </a:prstGeom>
          <a:noFill/>
          <a:ln w="31750">
            <a:solidFill>
              <a:srgbClr val="1D9E75"/>
            </a:solidFill>
            <a:prstDash val="solid"/>
          </a:ln>
        </p:spPr>
        <p:txBody>
          <a:bodyPr/>
          <a:lstStyle/>
          <a:p>
            <a:endParaRPr lang="es-ES_tradnl"/>
          </a:p>
        </p:txBody>
      </p:sp>
      <p:sp>
        <p:nvSpPr>
          <p:cNvPr id="8" name="Text 6"/>
          <p:cNvSpPr/>
          <p:nvPr/>
        </p:nvSpPr>
        <p:spPr>
          <a:xfrm>
            <a:off x="640080" y="4526280"/>
            <a:ext cx="7772400" cy="292608"/>
          </a:xfrm>
          <a:prstGeom prst="rect">
            <a:avLst/>
          </a:prstGeom>
          <a:noFill/>
          <a:ln/>
        </p:spPr>
        <p:txBody>
          <a:bodyPr wrap="square" lIns="0" tIns="0" rIns="0" bIns="0" rtlCol="0" anchor="ctr"/>
          <a:lstStyle/>
          <a:p>
            <a:pPr marL="0" indent="0">
              <a:buNone/>
            </a:pPr>
            <a:r>
              <a:rPr lang="en-US" sz="1000" dirty="0">
                <a:solidFill>
                  <a:srgbClr val="888780"/>
                </a:solidFill>
                <a:latin typeface="Calibri" pitchFamily="34" charset="0"/>
                <a:ea typeface="Calibri" pitchFamily="34" charset="-122"/>
                <a:cs typeface="Calibri" pitchFamily="34" charset="-120"/>
              </a:rPr>
              <a:t>09:30 – 10:30 · 60 minutos</a:t>
            </a:r>
            <a:endParaRPr lang="en-US" sz="10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1">
    <p:bg>
      <p:bgPr>
        <a:solidFill>
          <a:srgbClr val="F8F8F6"/>
        </a:solidFill>
        <a:effectLst/>
      </p:bgPr>
    </p:bg>
    <p:spTree>
      <p:nvGrpSpPr>
        <p:cNvPr id="1" name=""/>
        <p:cNvGrpSpPr/>
        <p:nvPr/>
      </p:nvGrpSpPr>
      <p:grpSpPr>
        <a:xfrm>
          <a:off x="0" y="0"/>
          <a:ext cx="0" cy="0"/>
          <a:chOff x="0" y="0"/>
          <a:chExt cx="0" cy="0"/>
        </a:xfrm>
      </p:grpSpPr>
      <p:sp>
        <p:nvSpPr>
          <p:cNvPr id="2" name="Text 0"/>
          <p:cNvSpPr/>
          <p:nvPr/>
        </p:nvSpPr>
        <p:spPr>
          <a:xfrm>
            <a:off x="457200" y="256032"/>
            <a:ext cx="8229600" cy="566928"/>
          </a:xfrm>
          <a:prstGeom prst="rect">
            <a:avLst/>
          </a:prstGeom>
          <a:noFill/>
          <a:ln/>
        </p:spPr>
        <p:txBody>
          <a:bodyPr wrap="square" lIns="0" tIns="0" rIns="0" bIns="0" rtlCol="0" anchor="ctr"/>
          <a:lstStyle/>
          <a:p>
            <a:pPr marL="0" indent="0">
              <a:buNone/>
            </a:pPr>
            <a:r>
              <a:rPr lang="en-US" sz="2700" b="1" dirty="0">
                <a:solidFill>
                  <a:srgbClr val="2C2C2A"/>
                </a:solidFill>
                <a:latin typeface="Cambria" pitchFamily="34" charset="0"/>
                <a:ea typeface="Cambria" pitchFamily="34" charset="-122"/>
                <a:cs typeface="Cambria" pitchFamily="34" charset="-120"/>
              </a:rPr>
              <a:t>¿Por qué GitHub en un curso de IA?</a:t>
            </a:r>
            <a:endParaRPr lang="en-US" sz="2700" dirty="0"/>
          </a:p>
        </p:txBody>
      </p:sp>
      <p:sp>
        <p:nvSpPr>
          <p:cNvPr id="3" name="Text 1"/>
          <p:cNvSpPr/>
          <p:nvPr/>
        </p:nvSpPr>
        <p:spPr>
          <a:xfrm>
            <a:off x="457200" y="822960"/>
            <a:ext cx="8229600" cy="320040"/>
          </a:xfrm>
          <a:prstGeom prst="rect">
            <a:avLst/>
          </a:prstGeom>
          <a:noFill/>
          <a:ln/>
        </p:spPr>
        <p:txBody>
          <a:bodyPr wrap="square" lIns="0" tIns="0" rIns="0" bIns="0" rtlCol="0" anchor="ctr"/>
          <a:lstStyle/>
          <a:p>
            <a:pPr marL="0" indent="0">
              <a:buNone/>
            </a:pPr>
            <a:r>
              <a:rPr lang="en-US" sz="1300" i="1" dirty="0">
                <a:solidFill>
                  <a:srgbClr val="5F5E5A"/>
                </a:solidFill>
                <a:latin typeface="Calibri" pitchFamily="34" charset="0"/>
                <a:ea typeface="Calibri" pitchFamily="34" charset="-122"/>
                <a:cs typeface="Calibri" pitchFamily="34" charset="-120"/>
              </a:rPr>
              <a:t>No es solo almacenamiento — es el eje de reproducibilidad del análisis</a:t>
            </a:r>
            <a:endParaRPr lang="en-US" sz="1300" dirty="0"/>
          </a:p>
        </p:txBody>
      </p:sp>
      <p:sp>
        <p:nvSpPr>
          <p:cNvPr id="4" name="Shape 2"/>
          <p:cNvSpPr/>
          <p:nvPr/>
        </p:nvSpPr>
        <p:spPr>
          <a:xfrm>
            <a:off x="365760" y="1261872"/>
            <a:ext cx="8412480" cy="658368"/>
          </a:xfrm>
          <a:prstGeom prst="roundRect">
            <a:avLst>
              <a:gd name="adj" fmla="val 13889"/>
            </a:avLst>
          </a:prstGeom>
          <a:solidFill>
            <a:srgbClr val="EEEDFE"/>
          </a:solidFill>
          <a:ln w="6350">
            <a:solidFill>
              <a:srgbClr val="534AB7"/>
            </a:solidFill>
            <a:prstDash val="solid"/>
          </a:ln>
        </p:spPr>
        <p:txBody>
          <a:bodyPr/>
          <a:lstStyle/>
          <a:p>
            <a:endParaRPr lang="es-ES_tradnl"/>
          </a:p>
        </p:txBody>
      </p:sp>
      <p:sp>
        <p:nvSpPr>
          <p:cNvPr id="5" name="Text 3"/>
          <p:cNvSpPr/>
          <p:nvPr/>
        </p:nvSpPr>
        <p:spPr>
          <a:xfrm>
            <a:off x="548640" y="1353312"/>
            <a:ext cx="8046720" cy="475488"/>
          </a:xfrm>
          <a:prstGeom prst="rect">
            <a:avLst/>
          </a:prstGeom>
          <a:noFill/>
          <a:ln/>
        </p:spPr>
        <p:txBody>
          <a:bodyPr wrap="square" lIns="0" tIns="0" rIns="0" bIns="0" rtlCol="0" anchor="ctr"/>
          <a:lstStyle/>
          <a:p>
            <a:pPr marL="0" indent="0">
              <a:buNone/>
            </a:pPr>
            <a:r>
              <a:rPr lang="en-US" sz="1150" i="1" dirty="0">
                <a:solidFill>
                  <a:srgbClr val="534AB7"/>
                </a:solidFill>
                <a:latin typeface="Calibri" pitchFamily="34" charset="0"/>
                <a:ea typeface="Calibri" pitchFamily="34" charset="-122"/>
                <a:cs typeface="Calibri" pitchFamily="34" charset="-120"/>
              </a:rPr>
              <a:t>En ciencia asistida por IA, la reproducibilidad ya no depende solo del código — depende también de los prompts, el contexto del agente y las decisiones tomadas en cada sesión. GitHub guarda todo eso.</a:t>
            </a:r>
            <a:endParaRPr lang="en-US" sz="1150" dirty="0"/>
          </a:p>
        </p:txBody>
      </p:sp>
      <p:sp>
        <p:nvSpPr>
          <p:cNvPr id="6" name="Shape 4"/>
          <p:cNvSpPr/>
          <p:nvPr/>
        </p:nvSpPr>
        <p:spPr>
          <a:xfrm>
            <a:off x="320040" y="2084832"/>
            <a:ext cx="4206240" cy="1417320"/>
          </a:xfrm>
          <a:prstGeom prst="roundRect">
            <a:avLst>
              <a:gd name="adj" fmla="val 6452"/>
            </a:avLst>
          </a:prstGeom>
          <a:solidFill>
            <a:srgbClr val="FFFFFF"/>
          </a:solidFill>
          <a:ln w="6350">
            <a:solidFill>
              <a:srgbClr val="D3D1C7"/>
            </a:solidFill>
            <a:prstDash val="solid"/>
          </a:ln>
          <a:effectLst>
            <a:outerShdw blurRad="88900" dist="25400" dir="2700000" algn="bl" rotWithShape="0">
              <a:srgbClr val="000000">
                <a:alpha val="11000"/>
              </a:srgbClr>
            </a:outerShdw>
          </a:effectLst>
        </p:spPr>
        <p:txBody>
          <a:bodyPr/>
          <a:lstStyle/>
          <a:p>
            <a:endParaRPr lang="es-ES_tradnl"/>
          </a:p>
        </p:txBody>
      </p:sp>
      <p:sp>
        <p:nvSpPr>
          <p:cNvPr id="7" name="Text 5"/>
          <p:cNvSpPr/>
          <p:nvPr/>
        </p:nvSpPr>
        <p:spPr>
          <a:xfrm>
            <a:off x="484632" y="2194560"/>
            <a:ext cx="3858768" cy="347472"/>
          </a:xfrm>
          <a:prstGeom prst="rect">
            <a:avLst/>
          </a:prstGeom>
          <a:noFill/>
          <a:ln/>
        </p:spPr>
        <p:txBody>
          <a:bodyPr wrap="square" lIns="0" tIns="0" rIns="0" bIns="0" rtlCol="0" anchor="ctr"/>
          <a:lstStyle/>
          <a:p>
            <a:pPr marL="0" indent="0">
              <a:buNone/>
            </a:pPr>
            <a:r>
              <a:rPr lang="en-US" sz="1050" b="1" dirty="0">
                <a:solidFill>
                  <a:srgbClr val="534AB7"/>
                </a:solidFill>
                <a:latin typeface="Calibri" pitchFamily="34" charset="0"/>
                <a:ea typeface="Calibri" pitchFamily="34" charset="-122"/>
                <a:cs typeface="Calibri" pitchFamily="34" charset="-120"/>
              </a:rPr>
              <a:t>🗂️  Control de versiones del análisis</a:t>
            </a:r>
            <a:endParaRPr lang="en-US" sz="1050" dirty="0"/>
          </a:p>
        </p:txBody>
      </p:sp>
      <p:sp>
        <p:nvSpPr>
          <p:cNvPr id="8" name="Text 6"/>
          <p:cNvSpPr/>
          <p:nvPr/>
        </p:nvSpPr>
        <p:spPr>
          <a:xfrm>
            <a:off x="484632" y="2560320"/>
            <a:ext cx="3858768" cy="822960"/>
          </a:xfrm>
          <a:prstGeom prst="rect">
            <a:avLst/>
          </a:prstGeom>
          <a:noFill/>
          <a:ln/>
        </p:spPr>
        <p:txBody>
          <a:bodyPr wrap="square" lIns="0" tIns="0" rIns="0" bIns="0" rtlCol="0" anchor="ctr"/>
          <a:lstStyle/>
          <a:p>
            <a:pPr marL="0" indent="0">
              <a:buNone/>
            </a:pPr>
            <a:r>
              <a:rPr lang="en-US" sz="950" dirty="0">
                <a:solidFill>
                  <a:srgbClr val="5F5E5A"/>
                </a:solidFill>
                <a:latin typeface="Calibri" pitchFamily="34" charset="0"/>
                <a:ea typeface="Calibri" pitchFamily="34" charset="-122"/>
                <a:cs typeface="Calibri" pitchFamily="34" charset="-120"/>
              </a:rPr>
              <a:t>Cada commit guarda el estado de tu CLAUDE.md, prompts y resultados — como un cuaderno de laboratorio con fecha y firma.</a:t>
            </a:r>
            <a:endParaRPr lang="en-US" sz="950" dirty="0"/>
          </a:p>
        </p:txBody>
      </p:sp>
      <p:sp>
        <p:nvSpPr>
          <p:cNvPr id="9" name="Shape 7"/>
          <p:cNvSpPr/>
          <p:nvPr/>
        </p:nvSpPr>
        <p:spPr>
          <a:xfrm>
            <a:off x="4709160" y="2084832"/>
            <a:ext cx="4206240" cy="1417320"/>
          </a:xfrm>
          <a:prstGeom prst="roundRect">
            <a:avLst>
              <a:gd name="adj" fmla="val 6452"/>
            </a:avLst>
          </a:prstGeom>
          <a:solidFill>
            <a:srgbClr val="FFFFFF"/>
          </a:solidFill>
          <a:ln w="6350">
            <a:solidFill>
              <a:srgbClr val="D3D1C7"/>
            </a:solidFill>
            <a:prstDash val="solid"/>
          </a:ln>
          <a:effectLst>
            <a:outerShdw blurRad="88900" dist="25400" dir="2700000" algn="bl" rotWithShape="0">
              <a:srgbClr val="000000">
                <a:alpha val="11000"/>
              </a:srgbClr>
            </a:outerShdw>
          </a:effectLst>
        </p:spPr>
        <p:txBody>
          <a:bodyPr/>
          <a:lstStyle/>
          <a:p>
            <a:endParaRPr lang="es-ES_tradnl"/>
          </a:p>
        </p:txBody>
      </p:sp>
      <p:sp>
        <p:nvSpPr>
          <p:cNvPr id="10" name="Text 8"/>
          <p:cNvSpPr/>
          <p:nvPr/>
        </p:nvSpPr>
        <p:spPr>
          <a:xfrm>
            <a:off x="4873752" y="2194560"/>
            <a:ext cx="3858768" cy="347472"/>
          </a:xfrm>
          <a:prstGeom prst="rect">
            <a:avLst/>
          </a:prstGeom>
          <a:noFill/>
          <a:ln/>
        </p:spPr>
        <p:txBody>
          <a:bodyPr wrap="square" lIns="0" tIns="0" rIns="0" bIns="0" rtlCol="0" anchor="ctr"/>
          <a:lstStyle/>
          <a:p>
            <a:pPr marL="0" indent="0">
              <a:buNone/>
            </a:pPr>
            <a:r>
              <a:rPr lang="en-US" sz="1050" b="1" dirty="0">
                <a:solidFill>
                  <a:srgbClr val="1D9E75"/>
                </a:solidFill>
                <a:latin typeface="Calibri" pitchFamily="34" charset="0"/>
                <a:ea typeface="Calibri" pitchFamily="34" charset="-122"/>
                <a:cs typeface="Calibri" pitchFamily="34" charset="-120"/>
              </a:rPr>
              <a:t>🌿  Branches = espacios de trabajo independientes</a:t>
            </a:r>
            <a:endParaRPr lang="en-US" sz="1050" dirty="0"/>
          </a:p>
        </p:txBody>
      </p:sp>
      <p:sp>
        <p:nvSpPr>
          <p:cNvPr id="11" name="Text 9"/>
          <p:cNvSpPr/>
          <p:nvPr/>
        </p:nvSpPr>
        <p:spPr>
          <a:xfrm>
            <a:off x="4873752" y="2560320"/>
            <a:ext cx="3858768" cy="822960"/>
          </a:xfrm>
          <a:prstGeom prst="rect">
            <a:avLst/>
          </a:prstGeom>
          <a:noFill/>
          <a:ln/>
        </p:spPr>
        <p:txBody>
          <a:bodyPr wrap="square" lIns="0" tIns="0" rIns="0" bIns="0" rtlCol="0" anchor="ctr"/>
          <a:lstStyle/>
          <a:p>
            <a:pPr marL="0" indent="0">
              <a:buNone/>
            </a:pPr>
            <a:r>
              <a:rPr lang="en-US" sz="950" dirty="0">
                <a:solidFill>
                  <a:srgbClr val="5F5E5A"/>
                </a:solidFill>
                <a:latin typeface="Calibri" pitchFamily="34" charset="0"/>
                <a:ea typeface="Calibri" pitchFamily="34" charset="-122"/>
                <a:cs typeface="Calibri" pitchFamily="34" charset="-120"/>
              </a:rPr>
              <a:t>Cada participante trabaja en su propio branch sin pisar el código de los demás. Mismo repositorio, soluciones distintas — el experimento central del curso.</a:t>
            </a:r>
            <a:endParaRPr lang="en-US" sz="950" dirty="0"/>
          </a:p>
        </p:txBody>
      </p:sp>
      <p:sp>
        <p:nvSpPr>
          <p:cNvPr id="12" name="Shape 10"/>
          <p:cNvSpPr/>
          <p:nvPr/>
        </p:nvSpPr>
        <p:spPr>
          <a:xfrm>
            <a:off x="320040" y="3639312"/>
            <a:ext cx="4206240" cy="1417320"/>
          </a:xfrm>
          <a:prstGeom prst="roundRect">
            <a:avLst>
              <a:gd name="adj" fmla="val 6452"/>
            </a:avLst>
          </a:prstGeom>
          <a:solidFill>
            <a:srgbClr val="FFFFFF"/>
          </a:solidFill>
          <a:ln w="6350">
            <a:solidFill>
              <a:srgbClr val="D3D1C7"/>
            </a:solidFill>
            <a:prstDash val="solid"/>
          </a:ln>
          <a:effectLst>
            <a:outerShdw blurRad="88900" dist="25400" dir="2700000" algn="bl" rotWithShape="0">
              <a:srgbClr val="000000">
                <a:alpha val="11000"/>
              </a:srgbClr>
            </a:outerShdw>
          </a:effectLst>
        </p:spPr>
        <p:txBody>
          <a:bodyPr/>
          <a:lstStyle/>
          <a:p>
            <a:endParaRPr lang="es-ES_tradnl"/>
          </a:p>
        </p:txBody>
      </p:sp>
      <p:sp>
        <p:nvSpPr>
          <p:cNvPr id="13" name="Text 11"/>
          <p:cNvSpPr/>
          <p:nvPr/>
        </p:nvSpPr>
        <p:spPr>
          <a:xfrm>
            <a:off x="484632" y="3749040"/>
            <a:ext cx="3858768" cy="347472"/>
          </a:xfrm>
          <a:prstGeom prst="rect">
            <a:avLst/>
          </a:prstGeom>
          <a:noFill/>
          <a:ln/>
        </p:spPr>
        <p:txBody>
          <a:bodyPr wrap="square" lIns="0" tIns="0" rIns="0" bIns="0" rtlCol="0" anchor="ctr"/>
          <a:lstStyle/>
          <a:p>
            <a:pPr marL="0" indent="0">
              <a:buNone/>
            </a:pPr>
            <a:r>
              <a:rPr lang="en-US" sz="1050" b="1" dirty="0">
                <a:solidFill>
                  <a:srgbClr val="C97B2A"/>
                </a:solidFill>
                <a:latin typeface="Calibri" pitchFamily="34" charset="0"/>
                <a:ea typeface="Calibri" pitchFamily="34" charset="-122"/>
                <a:cs typeface="Calibri" pitchFamily="34" charset="-120"/>
              </a:rPr>
              <a:t>🔍  Comparación entre soluciones</a:t>
            </a:r>
            <a:endParaRPr lang="en-US" sz="1050" dirty="0"/>
          </a:p>
        </p:txBody>
      </p:sp>
      <p:sp>
        <p:nvSpPr>
          <p:cNvPr id="14" name="Text 12"/>
          <p:cNvSpPr/>
          <p:nvPr/>
        </p:nvSpPr>
        <p:spPr>
          <a:xfrm>
            <a:off x="484632" y="4114800"/>
            <a:ext cx="3858768" cy="822960"/>
          </a:xfrm>
          <a:prstGeom prst="rect">
            <a:avLst/>
          </a:prstGeom>
          <a:noFill/>
          <a:ln/>
        </p:spPr>
        <p:txBody>
          <a:bodyPr wrap="square" lIns="0" tIns="0" rIns="0" bIns="0" rtlCol="0" anchor="ctr"/>
          <a:lstStyle/>
          <a:p>
            <a:pPr marL="0" indent="0">
              <a:buNone/>
            </a:pPr>
            <a:r>
              <a:rPr lang="en-US" sz="950" dirty="0">
                <a:solidFill>
                  <a:srgbClr val="5F5E5A"/>
                </a:solidFill>
                <a:latin typeface="Calibri" pitchFamily="34" charset="0"/>
                <a:ea typeface="Calibri" pitchFamily="34" charset="-122"/>
                <a:cs typeface="Calibri" pitchFamily="34" charset="-120"/>
              </a:rPr>
              <a:t>En el Módulo 10, compararemos branches en vivo: mismo paper, mismo dataset, distintos CLAUDE.md y prompts → resultados distintos. El branch es la variable experimental.</a:t>
            </a:r>
            <a:endParaRPr lang="en-US" sz="950" dirty="0"/>
          </a:p>
        </p:txBody>
      </p:sp>
      <p:sp>
        <p:nvSpPr>
          <p:cNvPr id="15" name="Shape 13"/>
          <p:cNvSpPr/>
          <p:nvPr/>
        </p:nvSpPr>
        <p:spPr>
          <a:xfrm>
            <a:off x="4709160" y="3639312"/>
            <a:ext cx="4206240" cy="1417320"/>
          </a:xfrm>
          <a:prstGeom prst="roundRect">
            <a:avLst>
              <a:gd name="adj" fmla="val 6452"/>
            </a:avLst>
          </a:prstGeom>
          <a:solidFill>
            <a:srgbClr val="FFFFFF"/>
          </a:solidFill>
          <a:ln w="6350">
            <a:solidFill>
              <a:srgbClr val="D3D1C7"/>
            </a:solidFill>
            <a:prstDash val="solid"/>
          </a:ln>
          <a:effectLst>
            <a:outerShdw blurRad="88900" dist="25400" dir="2700000" algn="bl" rotWithShape="0">
              <a:srgbClr val="000000">
                <a:alpha val="11000"/>
              </a:srgbClr>
            </a:outerShdw>
          </a:effectLst>
        </p:spPr>
        <p:txBody>
          <a:bodyPr/>
          <a:lstStyle/>
          <a:p>
            <a:endParaRPr lang="es-ES_tradnl"/>
          </a:p>
        </p:txBody>
      </p:sp>
      <p:sp>
        <p:nvSpPr>
          <p:cNvPr id="16" name="Text 14"/>
          <p:cNvSpPr/>
          <p:nvPr/>
        </p:nvSpPr>
        <p:spPr>
          <a:xfrm>
            <a:off x="4873752" y="3749040"/>
            <a:ext cx="3858768" cy="347472"/>
          </a:xfrm>
          <a:prstGeom prst="rect">
            <a:avLst/>
          </a:prstGeom>
          <a:noFill/>
          <a:ln/>
        </p:spPr>
        <p:txBody>
          <a:bodyPr wrap="square" lIns="0" tIns="0" rIns="0" bIns="0" rtlCol="0" anchor="ctr"/>
          <a:lstStyle/>
          <a:p>
            <a:pPr marL="0" indent="0">
              <a:buNone/>
            </a:pPr>
            <a:r>
              <a:rPr lang="en-US" sz="1050" b="1" dirty="0">
                <a:solidFill>
                  <a:srgbClr val="7B74D4"/>
                </a:solidFill>
                <a:latin typeface="Calibri" pitchFamily="34" charset="0"/>
                <a:ea typeface="Calibri" pitchFamily="34" charset="-122"/>
                <a:cs typeface="Calibri" pitchFamily="34" charset="-120"/>
              </a:rPr>
              <a:t>🔁  Reproducibilidad real</a:t>
            </a:r>
            <a:endParaRPr lang="en-US" sz="1050" dirty="0"/>
          </a:p>
        </p:txBody>
      </p:sp>
      <p:sp>
        <p:nvSpPr>
          <p:cNvPr id="17" name="Text 15"/>
          <p:cNvSpPr/>
          <p:nvPr/>
        </p:nvSpPr>
        <p:spPr>
          <a:xfrm>
            <a:off x="4873752" y="4114800"/>
            <a:ext cx="3858768" cy="822960"/>
          </a:xfrm>
          <a:prstGeom prst="rect">
            <a:avLst/>
          </a:prstGeom>
          <a:noFill/>
          <a:ln/>
        </p:spPr>
        <p:txBody>
          <a:bodyPr wrap="square" lIns="0" tIns="0" rIns="0" bIns="0" rtlCol="0" anchor="ctr"/>
          <a:lstStyle/>
          <a:p>
            <a:pPr marL="0" indent="0">
              <a:buNone/>
            </a:pPr>
            <a:r>
              <a:rPr lang="en-US" sz="950" dirty="0">
                <a:solidFill>
                  <a:srgbClr val="5F5E5A"/>
                </a:solidFill>
                <a:latin typeface="Calibri" pitchFamily="34" charset="0"/>
                <a:ea typeface="Calibri" pitchFamily="34" charset="-122"/>
                <a:cs typeface="Calibri" pitchFamily="34" charset="-120"/>
              </a:rPr>
              <a:t>Cualquier persona puede clonar tu branch y reproducir exactamente tu análisis: mismo agente, mismo contexto, mismo resultado.</a:t>
            </a:r>
            <a:endParaRPr lang="en-US" sz="95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2">
    <p:bg>
      <p:bgPr>
        <a:solidFill>
          <a:srgbClr val="F8F8F6"/>
        </a:solidFill>
        <a:effectLst/>
      </p:bgPr>
    </p:bg>
    <p:spTree>
      <p:nvGrpSpPr>
        <p:cNvPr id="1" name=""/>
        <p:cNvGrpSpPr/>
        <p:nvPr/>
      </p:nvGrpSpPr>
      <p:grpSpPr>
        <a:xfrm>
          <a:off x="0" y="0"/>
          <a:ext cx="0" cy="0"/>
          <a:chOff x="0" y="0"/>
          <a:chExt cx="0" cy="0"/>
        </a:xfrm>
      </p:grpSpPr>
      <p:sp>
        <p:nvSpPr>
          <p:cNvPr id="2" name="Text 0"/>
          <p:cNvSpPr/>
          <p:nvPr/>
        </p:nvSpPr>
        <p:spPr>
          <a:xfrm>
            <a:off x="457200" y="256032"/>
            <a:ext cx="8229600" cy="566928"/>
          </a:xfrm>
          <a:prstGeom prst="rect">
            <a:avLst/>
          </a:prstGeom>
          <a:noFill/>
          <a:ln/>
        </p:spPr>
        <p:txBody>
          <a:bodyPr wrap="square" lIns="0" tIns="0" rIns="0" bIns="0" rtlCol="0" anchor="ctr"/>
          <a:lstStyle/>
          <a:p>
            <a:pPr marL="0" indent="0">
              <a:buNone/>
            </a:pPr>
            <a:r>
              <a:rPr lang="en-US" sz="2700" b="1" dirty="0">
                <a:solidFill>
                  <a:srgbClr val="2C2C2A"/>
                </a:solidFill>
                <a:latin typeface="Cambria" pitchFamily="34" charset="0"/>
                <a:ea typeface="Cambria" pitchFamily="34" charset="-122"/>
                <a:cs typeface="Cambria" pitchFamily="34" charset="-120"/>
              </a:rPr>
              <a:t>La terminal sin miedo</a:t>
            </a:r>
            <a:endParaRPr lang="en-US" sz="2700" dirty="0"/>
          </a:p>
        </p:txBody>
      </p:sp>
      <p:sp>
        <p:nvSpPr>
          <p:cNvPr id="3" name="Text 1"/>
          <p:cNvSpPr/>
          <p:nvPr/>
        </p:nvSpPr>
        <p:spPr>
          <a:xfrm>
            <a:off x="457200" y="822960"/>
            <a:ext cx="8229600" cy="320040"/>
          </a:xfrm>
          <a:prstGeom prst="rect">
            <a:avLst/>
          </a:prstGeom>
          <a:noFill/>
          <a:ln/>
        </p:spPr>
        <p:txBody>
          <a:bodyPr wrap="square" lIns="0" tIns="0" rIns="0" bIns="0" rtlCol="0" anchor="ctr"/>
          <a:lstStyle/>
          <a:p>
            <a:pPr marL="0" indent="0">
              <a:buNone/>
            </a:pPr>
            <a:r>
              <a:rPr lang="en-US" sz="1300" i="1" dirty="0">
                <a:solidFill>
                  <a:srgbClr val="5F5E5A"/>
                </a:solidFill>
                <a:latin typeface="Calibri" pitchFamily="34" charset="0"/>
                <a:ea typeface="Calibri" pitchFamily="34" charset="-122"/>
                <a:cs typeface="Calibri" pitchFamily="34" charset="-120"/>
              </a:rPr>
              <a:t>Solo 3 comandos — los mismos que usaremos todo el curso</a:t>
            </a:r>
            <a:endParaRPr lang="en-US" sz="1300" dirty="0"/>
          </a:p>
        </p:txBody>
      </p:sp>
      <p:sp>
        <p:nvSpPr>
          <p:cNvPr id="4" name="Shape 2"/>
          <p:cNvSpPr/>
          <p:nvPr/>
        </p:nvSpPr>
        <p:spPr>
          <a:xfrm>
            <a:off x="320040" y="1216152"/>
            <a:ext cx="2788920" cy="3429000"/>
          </a:xfrm>
          <a:prstGeom prst="roundRect">
            <a:avLst>
              <a:gd name="adj" fmla="val 3279"/>
            </a:avLst>
          </a:prstGeom>
          <a:solidFill>
            <a:srgbClr val="FFFFFF"/>
          </a:solidFill>
          <a:ln w="6350">
            <a:solidFill>
              <a:srgbClr val="D3D1C7"/>
            </a:solidFill>
            <a:prstDash val="solid"/>
          </a:ln>
          <a:effectLst>
            <a:outerShdw blurRad="88900" dist="25400" dir="2700000" algn="bl" rotWithShape="0">
              <a:srgbClr val="000000">
                <a:alpha val="11000"/>
              </a:srgbClr>
            </a:outerShdw>
          </a:effectLst>
        </p:spPr>
        <p:txBody>
          <a:bodyPr/>
          <a:lstStyle/>
          <a:p>
            <a:endParaRPr lang="es-ES_tradnl"/>
          </a:p>
        </p:txBody>
      </p:sp>
      <p:sp>
        <p:nvSpPr>
          <p:cNvPr id="5" name="Shape 3"/>
          <p:cNvSpPr/>
          <p:nvPr/>
        </p:nvSpPr>
        <p:spPr>
          <a:xfrm>
            <a:off x="429768" y="1325880"/>
            <a:ext cx="2560320" cy="594360"/>
          </a:xfrm>
          <a:prstGeom prst="roundRect">
            <a:avLst>
              <a:gd name="adj" fmla="val 12308"/>
            </a:avLst>
          </a:prstGeom>
          <a:solidFill>
            <a:srgbClr val="1E1E2E"/>
          </a:solidFill>
          <a:ln w="6350">
            <a:solidFill>
              <a:srgbClr val="2A2A4A"/>
            </a:solidFill>
            <a:prstDash val="solid"/>
          </a:ln>
        </p:spPr>
        <p:txBody>
          <a:bodyPr/>
          <a:lstStyle/>
          <a:p>
            <a:endParaRPr lang="es-ES_tradnl"/>
          </a:p>
        </p:txBody>
      </p:sp>
      <p:sp>
        <p:nvSpPr>
          <p:cNvPr id="6" name="Text 4"/>
          <p:cNvSpPr/>
          <p:nvPr/>
        </p:nvSpPr>
        <p:spPr>
          <a:xfrm>
            <a:off x="548640" y="1380744"/>
            <a:ext cx="2331720" cy="438912"/>
          </a:xfrm>
          <a:prstGeom prst="rect">
            <a:avLst/>
          </a:prstGeom>
          <a:noFill/>
          <a:ln/>
        </p:spPr>
        <p:txBody>
          <a:bodyPr wrap="square" lIns="0" tIns="0" rIns="0" bIns="0" rtlCol="0" anchor="ctr"/>
          <a:lstStyle/>
          <a:p>
            <a:pPr marL="0" indent="0">
              <a:buNone/>
            </a:pPr>
            <a:r>
              <a:rPr lang="en-US" sz="1600" b="1" dirty="0">
                <a:solidFill>
                  <a:srgbClr val="5EEAD4"/>
                </a:solidFill>
                <a:latin typeface="Courier New" pitchFamily="34" charset="0"/>
                <a:ea typeface="Courier New" pitchFamily="34" charset="-122"/>
                <a:cs typeface="Courier New" pitchFamily="34" charset="-120"/>
              </a:rPr>
              <a:t>pwd</a:t>
            </a:r>
            <a:endParaRPr lang="en-US" sz="1600" dirty="0"/>
          </a:p>
        </p:txBody>
      </p:sp>
      <p:sp>
        <p:nvSpPr>
          <p:cNvPr id="7" name="Text 5"/>
          <p:cNvSpPr/>
          <p:nvPr/>
        </p:nvSpPr>
        <p:spPr>
          <a:xfrm>
            <a:off x="429768" y="2039112"/>
            <a:ext cx="2560320" cy="365760"/>
          </a:xfrm>
          <a:prstGeom prst="rect">
            <a:avLst/>
          </a:prstGeom>
          <a:noFill/>
          <a:ln/>
        </p:spPr>
        <p:txBody>
          <a:bodyPr wrap="square" lIns="0" tIns="0" rIns="0" bIns="0" rtlCol="0" anchor="ctr"/>
          <a:lstStyle/>
          <a:p>
            <a:pPr marL="0" indent="0">
              <a:buNone/>
            </a:pPr>
            <a:r>
              <a:rPr lang="en-US" sz="1200" b="1" dirty="0">
                <a:solidFill>
                  <a:srgbClr val="2C2C2A"/>
                </a:solidFill>
                <a:latin typeface="Calibri" pitchFamily="34" charset="0"/>
                <a:ea typeface="Calibri" pitchFamily="34" charset="-122"/>
                <a:cs typeface="Calibri" pitchFamily="34" charset="-120"/>
              </a:rPr>
              <a:t>¿Dónde estoy?</a:t>
            </a:r>
            <a:endParaRPr lang="en-US" sz="1200" dirty="0"/>
          </a:p>
        </p:txBody>
      </p:sp>
      <p:sp>
        <p:nvSpPr>
          <p:cNvPr id="8" name="Text 6"/>
          <p:cNvSpPr/>
          <p:nvPr/>
        </p:nvSpPr>
        <p:spPr>
          <a:xfrm>
            <a:off x="429768" y="2478024"/>
            <a:ext cx="2560320" cy="1097280"/>
          </a:xfrm>
          <a:prstGeom prst="rect">
            <a:avLst/>
          </a:prstGeom>
          <a:noFill/>
          <a:ln/>
        </p:spPr>
        <p:txBody>
          <a:bodyPr wrap="square" lIns="0" tIns="0" rIns="0" bIns="0" rtlCol="0" anchor="ctr"/>
          <a:lstStyle/>
          <a:p>
            <a:pPr marL="0" indent="0">
              <a:buNone/>
            </a:pPr>
            <a:r>
              <a:rPr lang="en-US" sz="1050" dirty="0">
                <a:solidFill>
                  <a:srgbClr val="5F5E5A"/>
                </a:solidFill>
                <a:latin typeface="Calibri" pitchFamily="34" charset="0"/>
                <a:ea typeface="Calibri" pitchFamily="34" charset="-122"/>
                <a:cs typeface="Calibri" pitchFamily="34" charset="-120"/>
              </a:rPr>
              <a:t>Muestra la ruta de la carpeta donde estás parado</a:t>
            </a:r>
            <a:endParaRPr lang="en-US" sz="1050" dirty="0"/>
          </a:p>
        </p:txBody>
      </p:sp>
      <p:sp>
        <p:nvSpPr>
          <p:cNvPr id="9" name="Shape 7"/>
          <p:cNvSpPr/>
          <p:nvPr/>
        </p:nvSpPr>
        <p:spPr>
          <a:xfrm>
            <a:off x="3264408" y="1216152"/>
            <a:ext cx="2788920" cy="3429000"/>
          </a:xfrm>
          <a:prstGeom prst="roundRect">
            <a:avLst>
              <a:gd name="adj" fmla="val 3279"/>
            </a:avLst>
          </a:prstGeom>
          <a:solidFill>
            <a:srgbClr val="FFFFFF"/>
          </a:solidFill>
          <a:ln w="6350">
            <a:solidFill>
              <a:srgbClr val="D3D1C7"/>
            </a:solidFill>
            <a:prstDash val="solid"/>
          </a:ln>
          <a:effectLst>
            <a:outerShdw blurRad="88900" dist="25400" dir="2700000" algn="bl" rotWithShape="0">
              <a:srgbClr val="000000">
                <a:alpha val="11000"/>
              </a:srgbClr>
            </a:outerShdw>
          </a:effectLst>
        </p:spPr>
        <p:txBody>
          <a:bodyPr/>
          <a:lstStyle/>
          <a:p>
            <a:endParaRPr lang="es-ES_tradnl"/>
          </a:p>
        </p:txBody>
      </p:sp>
      <p:sp>
        <p:nvSpPr>
          <p:cNvPr id="10" name="Shape 8"/>
          <p:cNvSpPr/>
          <p:nvPr/>
        </p:nvSpPr>
        <p:spPr>
          <a:xfrm>
            <a:off x="3374136" y="1325880"/>
            <a:ext cx="2560320" cy="594360"/>
          </a:xfrm>
          <a:prstGeom prst="roundRect">
            <a:avLst>
              <a:gd name="adj" fmla="val 12308"/>
            </a:avLst>
          </a:prstGeom>
          <a:solidFill>
            <a:srgbClr val="1E1E2E"/>
          </a:solidFill>
          <a:ln w="6350">
            <a:solidFill>
              <a:srgbClr val="2A2A4A"/>
            </a:solidFill>
            <a:prstDash val="solid"/>
          </a:ln>
        </p:spPr>
        <p:txBody>
          <a:bodyPr/>
          <a:lstStyle/>
          <a:p>
            <a:endParaRPr lang="es-ES_tradnl"/>
          </a:p>
        </p:txBody>
      </p:sp>
      <p:sp>
        <p:nvSpPr>
          <p:cNvPr id="11" name="Text 9"/>
          <p:cNvSpPr/>
          <p:nvPr/>
        </p:nvSpPr>
        <p:spPr>
          <a:xfrm>
            <a:off x="3493008" y="1380744"/>
            <a:ext cx="2331720" cy="438912"/>
          </a:xfrm>
          <a:prstGeom prst="rect">
            <a:avLst/>
          </a:prstGeom>
          <a:noFill/>
          <a:ln/>
        </p:spPr>
        <p:txBody>
          <a:bodyPr wrap="square" lIns="0" tIns="0" rIns="0" bIns="0" rtlCol="0" anchor="ctr"/>
          <a:lstStyle/>
          <a:p>
            <a:pPr marL="0" indent="0">
              <a:buNone/>
            </a:pPr>
            <a:r>
              <a:rPr lang="en-US" sz="1600" b="1" dirty="0">
                <a:solidFill>
                  <a:srgbClr val="F9C74F"/>
                </a:solidFill>
                <a:latin typeface="Courier New" pitchFamily="34" charset="0"/>
                <a:ea typeface="Courier New" pitchFamily="34" charset="-122"/>
                <a:cs typeface="Courier New" pitchFamily="34" charset="-120"/>
              </a:rPr>
              <a:t>ls</a:t>
            </a:r>
            <a:endParaRPr lang="en-US" sz="1600" dirty="0"/>
          </a:p>
        </p:txBody>
      </p:sp>
      <p:sp>
        <p:nvSpPr>
          <p:cNvPr id="12" name="Text 10"/>
          <p:cNvSpPr/>
          <p:nvPr/>
        </p:nvSpPr>
        <p:spPr>
          <a:xfrm>
            <a:off x="3374136" y="2039112"/>
            <a:ext cx="2560320" cy="365760"/>
          </a:xfrm>
          <a:prstGeom prst="rect">
            <a:avLst/>
          </a:prstGeom>
          <a:noFill/>
          <a:ln/>
        </p:spPr>
        <p:txBody>
          <a:bodyPr wrap="square" lIns="0" tIns="0" rIns="0" bIns="0" rtlCol="0" anchor="ctr"/>
          <a:lstStyle/>
          <a:p>
            <a:pPr marL="0" indent="0">
              <a:buNone/>
            </a:pPr>
            <a:r>
              <a:rPr lang="en-US" sz="1200" b="1" dirty="0">
                <a:solidFill>
                  <a:srgbClr val="2C2C2A"/>
                </a:solidFill>
                <a:latin typeface="Calibri" pitchFamily="34" charset="0"/>
                <a:ea typeface="Calibri" pitchFamily="34" charset="-122"/>
                <a:cs typeface="Calibri" pitchFamily="34" charset="-120"/>
              </a:rPr>
              <a:t>¿Qué hay aquí?</a:t>
            </a:r>
            <a:endParaRPr lang="en-US" sz="1200" dirty="0"/>
          </a:p>
        </p:txBody>
      </p:sp>
      <p:sp>
        <p:nvSpPr>
          <p:cNvPr id="13" name="Text 11"/>
          <p:cNvSpPr/>
          <p:nvPr/>
        </p:nvSpPr>
        <p:spPr>
          <a:xfrm>
            <a:off x="3374136" y="2478024"/>
            <a:ext cx="2560320" cy="1097280"/>
          </a:xfrm>
          <a:prstGeom prst="rect">
            <a:avLst/>
          </a:prstGeom>
          <a:noFill/>
          <a:ln/>
        </p:spPr>
        <p:txBody>
          <a:bodyPr wrap="square" lIns="0" tIns="0" rIns="0" bIns="0" rtlCol="0" anchor="ctr"/>
          <a:lstStyle/>
          <a:p>
            <a:pPr marL="0" indent="0">
              <a:buNone/>
            </a:pPr>
            <a:r>
              <a:rPr lang="en-US" sz="1050" dirty="0">
                <a:solidFill>
                  <a:srgbClr val="5F5E5A"/>
                </a:solidFill>
                <a:latin typeface="Calibri" pitchFamily="34" charset="0"/>
                <a:ea typeface="Calibri" pitchFamily="34" charset="-122"/>
                <a:cs typeface="Calibri" pitchFamily="34" charset="-120"/>
              </a:rPr>
              <a:t>Lista los archivos y carpetas del directorio actual</a:t>
            </a:r>
            <a:endParaRPr lang="en-US" sz="1050" dirty="0"/>
          </a:p>
        </p:txBody>
      </p:sp>
      <p:sp>
        <p:nvSpPr>
          <p:cNvPr id="14" name="Shape 12"/>
          <p:cNvSpPr/>
          <p:nvPr/>
        </p:nvSpPr>
        <p:spPr>
          <a:xfrm>
            <a:off x="6208776" y="1216152"/>
            <a:ext cx="2788920" cy="3429000"/>
          </a:xfrm>
          <a:prstGeom prst="roundRect">
            <a:avLst>
              <a:gd name="adj" fmla="val 3279"/>
            </a:avLst>
          </a:prstGeom>
          <a:solidFill>
            <a:srgbClr val="FFFFFF"/>
          </a:solidFill>
          <a:ln w="6350">
            <a:solidFill>
              <a:srgbClr val="D3D1C7"/>
            </a:solidFill>
            <a:prstDash val="solid"/>
          </a:ln>
          <a:effectLst>
            <a:outerShdw blurRad="88900" dist="25400" dir="2700000" algn="bl" rotWithShape="0">
              <a:srgbClr val="000000">
                <a:alpha val="11000"/>
              </a:srgbClr>
            </a:outerShdw>
          </a:effectLst>
        </p:spPr>
        <p:txBody>
          <a:bodyPr/>
          <a:lstStyle/>
          <a:p>
            <a:endParaRPr lang="es-ES_tradnl"/>
          </a:p>
        </p:txBody>
      </p:sp>
      <p:sp>
        <p:nvSpPr>
          <p:cNvPr id="15" name="Shape 13"/>
          <p:cNvSpPr/>
          <p:nvPr/>
        </p:nvSpPr>
        <p:spPr>
          <a:xfrm>
            <a:off x="6318504" y="1325880"/>
            <a:ext cx="2560320" cy="594360"/>
          </a:xfrm>
          <a:prstGeom prst="roundRect">
            <a:avLst>
              <a:gd name="adj" fmla="val 12308"/>
            </a:avLst>
          </a:prstGeom>
          <a:solidFill>
            <a:srgbClr val="1E1E2E"/>
          </a:solidFill>
          <a:ln w="6350">
            <a:solidFill>
              <a:srgbClr val="2A2A4A"/>
            </a:solidFill>
            <a:prstDash val="solid"/>
          </a:ln>
        </p:spPr>
        <p:txBody>
          <a:bodyPr/>
          <a:lstStyle/>
          <a:p>
            <a:endParaRPr lang="es-ES_tradnl"/>
          </a:p>
        </p:txBody>
      </p:sp>
      <p:sp>
        <p:nvSpPr>
          <p:cNvPr id="16" name="Text 14"/>
          <p:cNvSpPr/>
          <p:nvPr/>
        </p:nvSpPr>
        <p:spPr>
          <a:xfrm>
            <a:off x="6437376" y="1380744"/>
            <a:ext cx="2331720" cy="438912"/>
          </a:xfrm>
          <a:prstGeom prst="rect">
            <a:avLst/>
          </a:prstGeom>
          <a:noFill/>
          <a:ln/>
        </p:spPr>
        <p:txBody>
          <a:bodyPr wrap="square" lIns="0" tIns="0" rIns="0" bIns="0" rtlCol="0" anchor="ctr"/>
          <a:lstStyle/>
          <a:p>
            <a:pPr marL="0" indent="0">
              <a:buNone/>
            </a:pPr>
            <a:r>
              <a:rPr lang="en-US" sz="1600" b="1" dirty="0">
                <a:solidFill>
                  <a:srgbClr val="A78BFA"/>
                </a:solidFill>
                <a:latin typeface="Courier New" pitchFamily="34" charset="0"/>
                <a:ea typeface="Courier New" pitchFamily="34" charset="-122"/>
                <a:cs typeface="Courier New" pitchFamily="34" charset="-120"/>
              </a:rPr>
              <a:t>cd nombre/</a:t>
            </a:r>
            <a:endParaRPr lang="en-US" sz="1600" dirty="0"/>
          </a:p>
        </p:txBody>
      </p:sp>
      <p:sp>
        <p:nvSpPr>
          <p:cNvPr id="17" name="Text 15"/>
          <p:cNvSpPr/>
          <p:nvPr/>
        </p:nvSpPr>
        <p:spPr>
          <a:xfrm>
            <a:off x="6318504" y="2039112"/>
            <a:ext cx="2560320" cy="365760"/>
          </a:xfrm>
          <a:prstGeom prst="rect">
            <a:avLst/>
          </a:prstGeom>
          <a:noFill/>
          <a:ln/>
        </p:spPr>
        <p:txBody>
          <a:bodyPr wrap="square" lIns="0" tIns="0" rIns="0" bIns="0" rtlCol="0" anchor="ctr"/>
          <a:lstStyle/>
          <a:p>
            <a:pPr marL="0" indent="0">
              <a:buNone/>
            </a:pPr>
            <a:r>
              <a:rPr lang="en-US" sz="1200" b="1" dirty="0">
                <a:solidFill>
                  <a:srgbClr val="2C2C2A"/>
                </a:solidFill>
                <a:latin typeface="Calibri" pitchFamily="34" charset="0"/>
                <a:ea typeface="Calibri" pitchFamily="34" charset="-122"/>
                <a:cs typeface="Calibri" pitchFamily="34" charset="-120"/>
              </a:rPr>
              <a:t>Moverme a una carpeta</a:t>
            </a:r>
            <a:endParaRPr lang="en-US" sz="1200" dirty="0"/>
          </a:p>
        </p:txBody>
      </p:sp>
      <p:sp>
        <p:nvSpPr>
          <p:cNvPr id="18" name="Text 16"/>
          <p:cNvSpPr/>
          <p:nvPr/>
        </p:nvSpPr>
        <p:spPr>
          <a:xfrm>
            <a:off x="6318504" y="2478024"/>
            <a:ext cx="2560320" cy="1097280"/>
          </a:xfrm>
          <a:prstGeom prst="rect">
            <a:avLst/>
          </a:prstGeom>
          <a:noFill/>
          <a:ln/>
        </p:spPr>
        <p:txBody>
          <a:bodyPr wrap="square" lIns="0" tIns="0" rIns="0" bIns="0" rtlCol="0" anchor="ctr"/>
          <a:lstStyle/>
          <a:p>
            <a:pPr marL="0" indent="0">
              <a:buNone/>
            </a:pPr>
            <a:r>
              <a:rPr lang="en-US" sz="1050" dirty="0">
                <a:solidFill>
                  <a:srgbClr val="5F5E5A"/>
                </a:solidFill>
                <a:latin typeface="Calibri" pitchFamily="34" charset="0"/>
                <a:ea typeface="Calibri" pitchFamily="34" charset="-122"/>
                <a:cs typeface="Calibri" pitchFamily="34" charset="-120"/>
              </a:rPr>
              <a:t>Entra a la carpeta 'nombre'. Usa cd .. para subir un nivel</a:t>
            </a:r>
            <a:endParaRPr lang="en-US" sz="1050" dirty="0"/>
          </a:p>
        </p:txBody>
      </p:sp>
      <p:sp>
        <p:nvSpPr>
          <p:cNvPr id="19" name="Shape 17"/>
          <p:cNvSpPr/>
          <p:nvPr/>
        </p:nvSpPr>
        <p:spPr>
          <a:xfrm>
            <a:off x="320040" y="4613148"/>
            <a:ext cx="8503920" cy="530352"/>
          </a:xfrm>
          <a:prstGeom prst="roundRect">
            <a:avLst>
              <a:gd name="adj" fmla="val 13793"/>
            </a:avLst>
          </a:prstGeom>
          <a:solidFill>
            <a:srgbClr val="EEEDFE"/>
          </a:solidFill>
          <a:ln w="6350">
            <a:solidFill>
              <a:srgbClr val="534AB7"/>
            </a:solidFill>
            <a:prstDash val="solid"/>
          </a:ln>
        </p:spPr>
        <p:txBody>
          <a:bodyPr/>
          <a:lstStyle/>
          <a:p>
            <a:endParaRPr lang="es-ES_tradnl"/>
          </a:p>
        </p:txBody>
      </p:sp>
      <p:sp>
        <p:nvSpPr>
          <p:cNvPr id="20" name="Text 18"/>
          <p:cNvSpPr/>
          <p:nvPr/>
        </p:nvSpPr>
        <p:spPr>
          <a:xfrm>
            <a:off x="502920" y="4686300"/>
            <a:ext cx="8229600" cy="384048"/>
          </a:xfrm>
          <a:prstGeom prst="rect">
            <a:avLst/>
          </a:prstGeom>
          <a:noFill/>
          <a:ln/>
        </p:spPr>
        <p:txBody>
          <a:bodyPr wrap="square" lIns="0" tIns="0" rIns="0" bIns="0" rtlCol="0" anchor="ctr"/>
          <a:lstStyle/>
          <a:p>
            <a:pPr marL="0" indent="0">
              <a:buNone/>
            </a:pPr>
            <a:r>
              <a:rPr lang="en-US" sz="1100" dirty="0">
                <a:solidFill>
                  <a:srgbClr val="534AB7"/>
                </a:solidFill>
                <a:latin typeface="Calibri" pitchFamily="34" charset="0"/>
                <a:ea typeface="Calibri" pitchFamily="34" charset="-122"/>
                <a:cs typeface="Calibri" pitchFamily="34" charset="-120"/>
              </a:rPr>
              <a:t>Tip: usa la tecla Tab para autocompletar nombres de archivos y carpetas</a:t>
            </a:r>
            <a:endParaRPr lang="en-US" sz="11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3">
    <p:bg>
      <p:bgPr>
        <a:solidFill>
          <a:srgbClr val="F8F8F6"/>
        </a:solidFill>
        <a:effectLst/>
      </p:bgPr>
    </p:bg>
    <p:spTree>
      <p:nvGrpSpPr>
        <p:cNvPr id="1" name=""/>
        <p:cNvGrpSpPr/>
        <p:nvPr/>
      </p:nvGrpSpPr>
      <p:grpSpPr>
        <a:xfrm>
          <a:off x="0" y="0"/>
          <a:ext cx="0" cy="0"/>
          <a:chOff x="0" y="0"/>
          <a:chExt cx="0" cy="0"/>
        </a:xfrm>
      </p:grpSpPr>
      <p:sp>
        <p:nvSpPr>
          <p:cNvPr id="2" name="Text 0"/>
          <p:cNvSpPr/>
          <p:nvPr/>
        </p:nvSpPr>
        <p:spPr>
          <a:xfrm>
            <a:off x="457200" y="256032"/>
            <a:ext cx="8229600" cy="566928"/>
          </a:xfrm>
          <a:prstGeom prst="rect">
            <a:avLst/>
          </a:prstGeom>
          <a:noFill/>
          <a:ln/>
        </p:spPr>
        <p:txBody>
          <a:bodyPr wrap="square" lIns="0" tIns="0" rIns="0" bIns="0" rtlCol="0" anchor="ctr"/>
          <a:lstStyle/>
          <a:p>
            <a:pPr marL="0" indent="0">
              <a:buNone/>
            </a:pPr>
            <a:r>
              <a:rPr lang="en-US" sz="2700" b="1" dirty="0">
                <a:solidFill>
                  <a:srgbClr val="2C2C2A"/>
                </a:solidFill>
                <a:latin typeface="Cambria" pitchFamily="34" charset="0"/>
                <a:ea typeface="Cambria" pitchFamily="34" charset="-122"/>
                <a:cs typeface="Cambria" pitchFamily="34" charset="-120"/>
              </a:rPr>
              <a:t>Autenticar Claude Code</a:t>
            </a:r>
            <a:endParaRPr lang="en-US" sz="2700" dirty="0"/>
          </a:p>
        </p:txBody>
      </p:sp>
      <p:sp>
        <p:nvSpPr>
          <p:cNvPr id="3" name="Text 1"/>
          <p:cNvSpPr/>
          <p:nvPr/>
        </p:nvSpPr>
        <p:spPr>
          <a:xfrm>
            <a:off x="457200" y="822960"/>
            <a:ext cx="8229600" cy="320040"/>
          </a:xfrm>
          <a:prstGeom prst="rect">
            <a:avLst/>
          </a:prstGeom>
          <a:noFill/>
          <a:ln/>
        </p:spPr>
        <p:txBody>
          <a:bodyPr wrap="square" lIns="0" tIns="0" rIns="0" bIns="0" rtlCol="0" anchor="ctr"/>
          <a:lstStyle/>
          <a:p>
            <a:pPr marL="0" indent="0">
              <a:buNone/>
            </a:pPr>
            <a:r>
              <a:rPr lang="en-US" sz="1300" i="1" dirty="0">
                <a:solidFill>
                  <a:srgbClr val="5F5E5A"/>
                </a:solidFill>
                <a:latin typeface="Calibri" pitchFamily="34" charset="0"/>
                <a:ea typeface="Calibri" pitchFamily="34" charset="-122"/>
                <a:cs typeface="Calibri" pitchFamily="34" charset="-120"/>
              </a:rPr>
              <a:t>Con Node.js ya instalado desde los requisitos previos</a:t>
            </a:r>
            <a:endParaRPr lang="en-US" sz="1300" dirty="0"/>
          </a:p>
        </p:txBody>
      </p:sp>
      <p:sp>
        <p:nvSpPr>
          <p:cNvPr id="4" name="Shape 2"/>
          <p:cNvSpPr/>
          <p:nvPr/>
        </p:nvSpPr>
        <p:spPr>
          <a:xfrm>
            <a:off x="365760" y="1325880"/>
            <a:ext cx="5120640" cy="1417320"/>
          </a:xfrm>
          <a:prstGeom prst="roundRect">
            <a:avLst>
              <a:gd name="adj" fmla="val 6452"/>
            </a:avLst>
          </a:prstGeom>
          <a:solidFill>
            <a:srgbClr val="1E1E2E"/>
          </a:solidFill>
          <a:ln w="6350">
            <a:solidFill>
              <a:srgbClr val="2A2A4A"/>
            </a:solidFill>
            <a:prstDash val="solid"/>
          </a:ln>
        </p:spPr>
        <p:txBody>
          <a:bodyPr/>
          <a:lstStyle/>
          <a:p>
            <a:endParaRPr lang="es-ES_tradnl"/>
          </a:p>
        </p:txBody>
      </p:sp>
      <p:sp>
        <p:nvSpPr>
          <p:cNvPr id="5" name="Text 3"/>
          <p:cNvSpPr/>
          <p:nvPr/>
        </p:nvSpPr>
        <p:spPr>
          <a:xfrm>
            <a:off x="530352" y="1453896"/>
            <a:ext cx="4800600" cy="256032"/>
          </a:xfrm>
          <a:prstGeom prst="rect">
            <a:avLst/>
          </a:prstGeom>
          <a:noFill/>
          <a:ln/>
        </p:spPr>
        <p:txBody>
          <a:bodyPr wrap="square" lIns="0" tIns="0" rIns="0" bIns="0" rtlCol="0" anchor="ctr"/>
          <a:lstStyle/>
          <a:p>
            <a:pPr marL="0" indent="0">
              <a:buNone/>
            </a:pPr>
            <a:r>
              <a:rPr lang="en-US" sz="950" dirty="0">
                <a:solidFill>
                  <a:srgbClr val="888780"/>
                </a:solidFill>
                <a:latin typeface="Courier New" pitchFamily="34" charset="0"/>
                <a:ea typeface="Courier New" pitchFamily="34" charset="-122"/>
                <a:cs typeface="Courier New" pitchFamily="34" charset="-120"/>
              </a:rPr>
              <a:t># Verificar Node.js</a:t>
            </a:r>
            <a:endParaRPr lang="en-US" sz="950" dirty="0"/>
          </a:p>
        </p:txBody>
      </p:sp>
      <p:sp>
        <p:nvSpPr>
          <p:cNvPr id="6" name="Text 4"/>
          <p:cNvSpPr/>
          <p:nvPr/>
        </p:nvSpPr>
        <p:spPr>
          <a:xfrm>
            <a:off x="530352" y="1728216"/>
            <a:ext cx="4800600" cy="256032"/>
          </a:xfrm>
          <a:prstGeom prst="rect">
            <a:avLst/>
          </a:prstGeom>
          <a:noFill/>
          <a:ln/>
        </p:spPr>
        <p:txBody>
          <a:bodyPr wrap="square" lIns="0" tIns="0" rIns="0" bIns="0" rtlCol="0" anchor="ctr"/>
          <a:lstStyle/>
          <a:p>
            <a:pPr marL="0" indent="0">
              <a:buNone/>
            </a:pPr>
            <a:r>
              <a:rPr lang="en-US" sz="950" dirty="0">
                <a:solidFill>
                  <a:srgbClr val="5EEAD4"/>
                </a:solidFill>
                <a:latin typeface="Courier New" pitchFamily="34" charset="0"/>
                <a:ea typeface="Courier New" pitchFamily="34" charset="-122"/>
                <a:cs typeface="Courier New" pitchFamily="34" charset="-120"/>
              </a:rPr>
              <a:t>node --version</a:t>
            </a:r>
            <a:endParaRPr lang="en-US" sz="950" dirty="0"/>
          </a:p>
        </p:txBody>
      </p:sp>
      <p:sp>
        <p:nvSpPr>
          <p:cNvPr id="7" name="Text 5"/>
          <p:cNvSpPr/>
          <p:nvPr/>
        </p:nvSpPr>
        <p:spPr>
          <a:xfrm>
            <a:off x="530352" y="2002536"/>
            <a:ext cx="4800600" cy="256032"/>
          </a:xfrm>
          <a:prstGeom prst="rect">
            <a:avLst/>
          </a:prstGeom>
          <a:noFill/>
          <a:ln/>
        </p:spPr>
        <p:txBody>
          <a:bodyPr wrap="square" lIns="0" tIns="0" rIns="0" bIns="0" rtlCol="0" anchor="ctr"/>
          <a:lstStyle/>
          <a:p>
            <a:pPr marL="0" indent="0">
              <a:buNone/>
            </a:pPr>
            <a:r>
              <a:rPr lang="en-US" sz="950" dirty="0">
                <a:solidFill>
                  <a:srgbClr val="888780"/>
                </a:solidFill>
                <a:latin typeface="Courier New" pitchFamily="34" charset="0"/>
                <a:ea typeface="Courier New" pitchFamily="34" charset="-122"/>
                <a:cs typeface="Courier New" pitchFamily="34" charset="-120"/>
              </a:rPr>
              <a:t># Instalar Claude Code (si no está aún)</a:t>
            </a:r>
            <a:endParaRPr lang="en-US" sz="950" dirty="0"/>
          </a:p>
        </p:txBody>
      </p:sp>
      <p:sp>
        <p:nvSpPr>
          <p:cNvPr id="8" name="Text 6"/>
          <p:cNvSpPr/>
          <p:nvPr/>
        </p:nvSpPr>
        <p:spPr>
          <a:xfrm>
            <a:off x="530352" y="2276856"/>
            <a:ext cx="4800600" cy="256032"/>
          </a:xfrm>
          <a:prstGeom prst="rect">
            <a:avLst/>
          </a:prstGeom>
          <a:noFill/>
          <a:ln/>
        </p:spPr>
        <p:txBody>
          <a:bodyPr wrap="square" lIns="0" tIns="0" rIns="0" bIns="0" rtlCol="0" anchor="ctr"/>
          <a:lstStyle/>
          <a:p>
            <a:pPr marL="0" indent="0">
              <a:buNone/>
            </a:pPr>
            <a:r>
              <a:rPr lang="en-US" sz="950" dirty="0">
                <a:solidFill>
                  <a:srgbClr val="5EEAD4"/>
                </a:solidFill>
                <a:latin typeface="Courier New" pitchFamily="34" charset="0"/>
                <a:ea typeface="Courier New" pitchFamily="34" charset="-122"/>
                <a:cs typeface="Courier New" pitchFamily="34" charset="-120"/>
              </a:rPr>
              <a:t>npm install -g @anthropic-ai/claude-code</a:t>
            </a:r>
            <a:endParaRPr lang="en-US" sz="950" dirty="0"/>
          </a:p>
        </p:txBody>
      </p:sp>
      <p:sp>
        <p:nvSpPr>
          <p:cNvPr id="9" name="Shape 7"/>
          <p:cNvSpPr/>
          <p:nvPr/>
        </p:nvSpPr>
        <p:spPr>
          <a:xfrm>
            <a:off x="365760" y="2880360"/>
            <a:ext cx="5120640" cy="1143000"/>
          </a:xfrm>
          <a:prstGeom prst="roundRect">
            <a:avLst>
              <a:gd name="adj" fmla="val 8000"/>
            </a:avLst>
          </a:prstGeom>
          <a:solidFill>
            <a:srgbClr val="1E1E2E"/>
          </a:solidFill>
          <a:ln w="6350">
            <a:solidFill>
              <a:srgbClr val="2A2A4A"/>
            </a:solidFill>
            <a:prstDash val="solid"/>
          </a:ln>
        </p:spPr>
        <p:txBody>
          <a:bodyPr/>
          <a:lstStyle/>
          <a:p>
            <a:endParaRPr lang="es-ES_tradnl"/>
          </a:p>
        </p:txBody>
      </p:sp>
      <p:sp>
        <p:nvSpPr>
          <p:cNvPr id="10" name="Text 8"/>
          <p:cNvSpPr/>
          <p:nvPr/>
        </p:nvSpPr>
        <p:spPr>
          <a:xfrm>
            <a:off x="530352" y="3008376"/>
            <a:ext cx="4800600" cy="256032"/>
          </a:xfrm>
          <a:prstGeom prst="rect">
            <a:avLst/>
          </a:prstGeom>
          <a:noFill/>
          <a:ln/>
        </p:spPr>
        <p:txBody>
          <a:bodyPr wrap="square" lIns="0" tIns="0" rIns="0" bIns="0" rtlCol="0" anchor="ctr"/>
          <a:lstStyle/>
          <a:p>
            <a:pPr marL="0" indent="0">
              <a:buNone/>
            </a:pPr>
            <a:r>
              <a:rPr lang="en-US" sz="950" dirty="0">
                <a:solidFill>
                  <a:srgbClr val="888780"/>
                </a:solidFill>
                <a:latin typeface="Courier New" pitchFamily="34" charset="0"/>
                <a:ea typeface="Courier New" pitchFamily="34" charset="-122"/>
                <a:cs typeface="Courier New" pitchFamily="34" charset="-120"/>
              </a:rPr>
              <a:t># Iniciar Claude Code</a:t>
            </a:r>
            <a:endParaRPr lang="en-US" sz="950" dirty="0"/>
          </a:p>
        </p:txBody>
      </p:sp>
      <p:sp>
        <p:nvSpPr>
          <p:cNvPr id="11" name="Text 9"/>
          <p:cNvSpPr/>
          <p:nvPr/>
        </p:nvSpPr>
        <p:spPr>
          <a:xfrm>
            <a:off x="530352" y="3282696"/>
            <a:ext cx="4800600" cy="256032"/>
          </a:xfrm>
          <a:prstGeom prst="rect">
            <a:avLst/>
          </a:prstGeom>
          <a:noFill/>
          <a:ln/>
        </p:spPr>
        <p:txBody>
          <a:bodyPr wrap="square" lIns="0" tIns="0" rIns="0" bIns="0" rtlCol="0" anchor="ctr"/>
          <a:lstStyle/>
          <a:p>
            <a:pPr marL="0" indent="0">
              <a:buNone/>
            </a:pPr>
            <a:r>
              <a:rPr lang="en-US" sz="950" dirty="0">
                <a:solidFill>
                  <a:srgbClr val="F9C74F"/>
                </a:solidFill>
                <a:latin typeface="Courier New" pitchFamily="34" charset="0"/>
                <a:ea typeface="Courier New" pitchFamily="34" charset="-122"/>
                <a:cs typeface="Courier New" pitchFamily="34" charset="-120"/>
              </a:rPr>
              <a:t>claude</a:t>
            </a:r>
            <a:endParaRPr lang="en-US" sz="950" dirty="0"/>
          </a:p>
        </p:txBody>
      </p:sp>
      <p:sp>
        <p:nvSpPr>
          <p:cNvPr id="12" name="Text 10"/>
          <p:cNvSpPr/>
          <p:nvPr/>
        </p:nvSpPr>
        <p:spPr>
          <a:xfrm>
            <a:off x="530352" y="3557016"/>
            <a:ext cx="4800600" cy="256032"/>
          </a:xfrm>
          <a:prstGeom prst="rect">
            <a:avLst/>
          </a:prstGeom>
          <a:noFill/>
          <a:ln/>
        </p:spPr>
        <p:txBody>
          <a:bodyPr wrap="square" lIns="0" tIns="0" rIns="0" bIns="0" rtlCol="0" anchor="ctr"/>
          <a:lstStyle/>
          <a:p>
            <a:pPr marL="0" indent="0">
              <a:buNone/>
            </a:pPr>
            <a:r>
              <a:rPr lang="en-US" sz="950" dirty="0">
                <a:solidFill>
                  <a:srgbClr val="888780"/>
                </a:solidFill>
                <a:latin typeface="Courier New" pitchFamily="34" charset="0"/>
                <a:ea typeface="Courier New" pitchFamily="34" charset="-122"/>
                <a:cs typeface="Courier New" pitchFamily="34" charset="-120"/>
              </a:rPr>
              <a:t># Primera vez: pedirá login con Claude Pro</a:t>
            </a:r>
            <a:endParaRPr lang="en-US" sz="950" dirty="0"/>
          </a:p>
        </p:txBody>
      </p:sp>
      <p:sp>
        <p:nvSpPr>
          <p:cNvPr id="13" name="Shape 11"/>
          <p:cNvSpPr/>
          <p:nvPr/>
        </p:nvSpPr>
        <p:spPr>
          <a:xfrm>
            <a:off x="5669280" y="1325880"/>
            <a:ext cx="3200400" cy="3291840"/>
          </a:xfrm>
          <a:prstGeom prst="roundRect">
            <a:avLst>
              <a:gd name="adj" fmla="val 3429"/>
            </a:avLst>
          </a:prstGeom>
          <a:solidFill>
            <a:srgbClr val="FFFFFF"/>
          </a:solidFill>
          <a:ln w="6350">
            <a:solidFill>
              <a:srgbClr val="D3D1C7"/>
            </a:solidFill>
            <a:prstDash val="solid"/>
          </a:ln>
          <a:effectLst>
            <a:outerShdw blurRad="88900" dist="25400" dir="2700000" algn="bl" rotWithShape="0">
              <a:srgbClr val="000000">
                <a:alpha val="11000"/>
              </a:srgbClr>
            </a:outerShdw>
          </a:effectLst>
        </p:spPr>
        <p:txBody>
          <a:bodyPr/>
          <a:lstStyle/>
          <a:p>
            <a:endParaRPr lang="es-ES_tradnl"/>
          </a:p>
        </p:txBody>
      </p:sp>
      <p:sp>
        <p:nvSpPr>
          <p:cNvPr id="14" name="Text 12"/>
          <p:cNvSpPr/>
          <p:nvPr/>
        </p:nvSpPr>
        <p:spPr>
          <a:xfrm>
            <a:off x="5833872" y="1417320"/>
            <a:ext cx="2880360" cy="347472"/>
          </a:xfrm>
          <a:prstGeom prst="rect">
            <a:avLst/>
          </a:prstGeom>
          <a:noFill/>
          <a:ln/>
        </p:spPr>
        <p:txBody>
          <a:bodyPr wrap="square" lIns="0" tIns="0" rIns="0" bIns="0" rtlCol="0" anchor="ctr"/>
          <a:lstStyle/>
          <a:p>
            <a:pPr marL="0" indent="0">
              <a:buNone/>
            </a:pPr>
            <a:r>
              <a:rPr lang="en-US" sz="1100" b="1" dirty="0">
                <a:solidFill>
                  <a:srgbClr val="534AB7"/>
                </a:solidFill>
                <a:latin typeface="Calibri" pitchFamily="34" charset="0"/>
                <a:ea typeface="Calibri" pitchFamily="34" charset="-122"/>
                <a:cs typeface="Calibri" pitchFamily="34" charset="-120"/>
              </a:rPr>
              <a:t>Qué ocurre al ejecutar claude</a:t>
            </a:r>
            <a:endParaRPr lang="en-US" sz="1100" dirty="0"/>
          </a:p>
        </p:txBody>
      </p:sp>
      <p:sp>
        <p:nvSpPr>
          <p:cNvPr id="15" name="Text 13"/>
          <p:cNvSpPr/>
          <p:nvPr/>
        </p:nvSpPr>
        <p:spPr>
          <a:xfrm>
            <a:off x="5833872" y="1874520"/>
            <a:ext cx="2880360" cy="594360"/>
          </a:xfrm>
          <a:prstGeom prst="rect">
            <a:avLst/>
          </a:prstGeom>
          <a:noFill/>
          <a:ln/>
        </p:spPr>
        <p:txBody>
          <a:bodyPr wrap="square" lIns="0" tIns="0" rIns="0" bIns="0" rtlCol="0" anchor="ctr"/>
          <a:lstStyle/>
          <a:p>
            <a:pPr marL="0" indent="0">
              <a:buNone/>
            </a:pPr>
            <a:r>
              <a:rPr lang="en-US" sz="1000" dirty="0">
                <a:solidFill>
                  <a:srgbClr val="5F5E5A"/>
                </a:solidFill>
                <a:latin typeface="Calibri" pitchFamily="34" charset="0"/>
                <a:ea typeface="Calibri" pitchFamily="34" charset="-122"/>
                <a:cs typeface="Calibri" pitchFamily="34" charset="-120"/>
              </a:rPr>
              <a:t>1. Se abre una sesión interactiva en la terminal</a:t>
            </a:r>
            <a:endParaRPr lang="en-US" sz="1000" dirty="0"/>
          </a:p>
        </p:txBody>
      </p:sp>
      <p:sp>
        <p:nvSpPr>
          <p:cNvPr id="16" name="Text 14"/>
          <p:cNvSpPr/>
          <p:nvPr/>
        </p:nvSpPr>
        <p:spPr>
          <a:xfrm>
            <a:off x="5833872" y="2532888"/>
            <a:ext cx="2880360" cy="594360"/>
          </a:xfrm>
          <a:prstGeom prst="rect">
            <a:avLst/>
          </a:prstGeom>
          <a:noFill/>
          <a:ln/>
        </p:spPr>
        <p:txBody>
          <a:bodyPr wrap="square" lIns="0" tIns="0" rIns="0" bIns="0" rtlCol="0" anchor="ctr"/>
          <a:lstStyle/>
          <a:p>
            <a:pPr marL="0" indent="0">
              <a:buNone/>
            </a:pPr>
            <a:r>
              <a:rPr lang="en-US" sz="1000" dirty="0">
                <a:solidFill>
                  <a:srgbClr val="5F5E5A"/>
                </a:solidFill>
                <a:latin typeface="Calibri" pitchFamily="34" charset="0"/>
                <a:ea typeface="Calibri" pitchFamily="34" charset="-122"/>
                <a:cs typeface="Calibri" pitchFamily="34" charset="-120"/>
              </a:rPr>
              <a:t>2. Primera vez: redirige al navegador para iniciar sesión con Claude Pro</a:t>
            </a:r>
            <a:endParaRPr lang="en-US" sz="1000" dirty="0"/>
          </a:p>
        </p:txBody>
      </p:sp>
      <p:sp>
        <p:nvSpPr>
          <p:cNvPr id="17" name="Text 15"/>
          <p:cNvSpPr/>
          <p:nvPr/>
        </p:nvSpPr>
        <p:spPr>
          <a:xfrm>
            <a:off x="5833872" y="3191256"/>
            <a:ext cx="2880360" cy="594360"/>
          </a:xfrm>
          <a:prstGeom prst="rect">
            <a:avLst/>
          </a:prstGeom>
          <a:noFill/>
          <a:ln/>
        </p:spPr>
        <p:txBody>
          <a:bodyPr wrap="square" lIns="0" tIns="0" rIns="0" bIns="0" rtlCol="0" anchor="ctr"/>
          <a:lstStyle/>
          <a:p>
            <a:pPr marL="0" indent="0">
              <a:buNone/>
            </a:pPr>
            <a:r>
              <a:rPr lang="en-US" sz="1000" dirty="0">
                <a:solidFill>
                  <a:srgbClr val="5F5E5A"/>
                </a:solidFill>
                <a:latin typeface="Calibri" pitchFamily="34" charset="0"/>
                <a:ea typeface="Calibri" pitchFamily="34" charset="-122"/>
                <a:cs typeface="Calibri" pitchFamily="34" charset="-120"/>
              </a:rPr>
              <a:t>3. Una vez autenticado, verás el prompt &gt; listo para instrucciones</a:t>
            </a:r>
            <a:endParaRPr lang="en-US" sz="1000" dirty="0"/>
          </a:p>
        </p:txBody>
      </p:sp>
      <p:sp>
        <p:nvSpPr>
          <p:cNvPr id="18" name="Text 16"/>
          <p:cNvSpPr/>
          <p:nvPr/>
        </p:nvSpPr>
        <p:spPr>
          <a:xfrm>
            <a:off x="5833872" y="3849624"/>
            <a:ext cx="2880360" cy="594360"/>
          </a:xfrm>
          <a:prstGeom prst="rect">
            <a:avLst/>
          </a:prstGeom>
          <a:noFill/>
          <a:ln/>
        </p:spPr>
        <p:txBody>
          <a:bodyPr wrap="square" lIns="0" tIns="0" rIns="0" bIns="0" rtlCol="0" anchor="ctr"/>
          <a:lstStyle/>
          <a:p>
            <a:pPr marL="0" indent="0">
              <a:buNone/>
            </a:pPr>
            <a:r>
              <a:rPr lang="en-US" sz="1000" dirty="0">
                <a:solidFill>
                  <a:srgbClr val="5F5E5A"/>
                </a:solidFill>
                <a:latin typeface="Calibri" pitchFamily="34" charset="0"/>
                <a:ea typeface="Calibri" pitchFamily="34" charset="-122"/>
                <a:cs typeface="Calibri" pitchFamily="34" charset="-120"/>
              </a:rPr>
              <a:t>4. Para salir: /exit o Ctrl+C</a:t>
            </a:r>
            <a:endParaRPr lang="en-US" sz="1000" dirty="0"/>
          </a:p>
        </p:txBody>
      </p:sp>
      <p:sp>
        <p:nvSpPr>
          <p:cNvPr id="19" name="Shape 17"/>
          <p:cNvSpPr/>
          <p:nvPr/>
        </p:nvSpPr>
        <p:spPr>
          <a:xfrm>
            <a:off x="365760" y="4480560"/>
            <a:ext cx="7579027" cy="548640"/>
          </a:xfrm>
          <a:prstGeom prst="roundRect">
            <a:avLst>
              <a:gd name="adj" fmla="val 10667"/>
            </a:avLst>
          </a:prstGeom>
          <a:solidFill>
            <a:srgbClr val="E1F5EE"/>
          </a:solidFill>
          <a:ln w="6350">
            <a:solidFill>
              <a:srgbClr val="1D9E75"/>
            </a:solidFill>
            <a:prstDash val="solid"/>
          </a:ln>
        </p:spPr>
        <p:txBody>
          <a:bodyPr/>
          <a:lstStyle/>
          <a:p>
            <a:endParaRPr lang="es-ES_tradnl"/>
          </a:p>
        </p:txBody>
      </p:sp>
      <p:sp>
        <p:nvSpPr>
          <p:cNvPr id="20" name="Text 18"/>
          <p:cNvSpPr/>
          <p:nvPr/>
        </p:nvSpPr>
        <p:spPr>
          <a:xfrm>
            <a:off x="548640" y="4572000"/>
            <a:ext cx="7249504" cy="402336"/>
          </a:xfrm>
          <a:prstGeom prst="rect">
            <a:avLst/>
          </a:prstGeom>
          <a:noFill/>
          <a:ln/>
        </p:spPr>
        <p:txBody>
          <a:bodyPr wrap="square" lIns="0" tIns="0" rIns="0" bIns="0" rtlCol="0" anchor="ctr"/>
          <a:lstStyle/>
          <a:p>
            <a:pPr marL="0" indent="0">
              <a:buNone/>
            </a:pPr>
            <a:r>
              <a:rPr lang="en-US" sz="1100" dirty="0">
                <a:solidFill>
                  <a:srgbClr val="0F6E56"/>
                </a:solidFill>
                <a:latin typeface="Calibri" pitchFamily="34" charset="0"/>
                <a:ea typeface="Calibri" pitchFamily="34" charset="-122"/>
                <a:cs typeface="Calibri" pitchFamily="34" charset="-120"/>
              </a:rPr>
              <a:t>Checkpoint: escribe 'hola' en Claude Code y verifica que responde antes de continuar con Git</a:t>
            </a:r>
            <a:endParaRPr lang="en-US" sz="11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4">
    <p:bg>
      <p:bgPr>
        <a:solidFill>
          <a:srgbClr val="F8F8F6"/>
        </a:solidFill>
        <a:effectLst/>
      </p:bgPr>
    </p:bg>
    <p:spTree>
      <p:nvGrpSpPr>
        <p:cNvPr id="1" name=""/>
        <p:cNvGrpSpPr/>
        <p:nvPr/>
      </p:nvGrpSpPr>
      <p:grpSpPr>
        <a:xfrm>
          <a:off x="0" y="0"/>
          <a:ext cx="0" cy="0"/>
          <a:chOff x="0" y="0"/>
          <a:chExt cx="0" cy="0"/>
        </a:xfrm>
      </p:grpSpPr>
      <p:sp>
        <p:nvSpPr>
          <p:cNvPr id="2" name="Text 0"/>
          <p:cNvSpPr/>
          <p:nvPr/>
        </p:nvSpPr>
        <p:spPr>
          <a:xfrm>
            <a:off x="457200" y="256032"/>
            <a:ext cx="8229600" cy="566928"/>
          </a:xfrm>
          <a:prstGeom prst="rect">
            <a:avLst/>
          </a:prstGeom>
          <a:noFill/>
          <a:ln/>
        </p:spPr>
        <p:txBody>
          <a:bodyPr wrap="square" lIns="0" tIns="0" rIns="0" bIns="0" rtlCol="0" anchor="ctr"/>
          <a:lstStyle/>
          <a:p>
            <a:pPr marL="0" indent="0">
              <a:buNone/>
            </a:pPr>
            <a:r>
              <a:rPr lang="en-US" sz="2700" b="1" dirty="0">
                <a:solidFill>
                  <a:srgbClr val="2C2C2A"/>
                </a:solidFill>
                <a:latin typeface="Cambria" pitchFamily="34" charset="0"/>
                <a:ea typeface="Cambria" pitchFamily="34" charset="-122"/>
                <a:cs typeface="Cambria" pitchFamily="34" charset="-120"/>
              </a:rPr>
              <a:t>Git esencial: clonar y crear tu branch</a:t>
            </a:r>
            <a:endParaRPr lang="en-US" sz="2700" dirty="0"/>
          </a:p>
        </p:txBody>
      </p:sp>
      <p:sp>
        <p:nvSpPr>
          <p:cNvPr id="3" name="Text 1"/>
          <p:cNvSpPr/>
          <p:nvPr/>
        </p:nvSpPr>
        <p:spPr>
          <a:xfrm>
            <a:off x="457200" y="822960"/>
            <a:ext cx="8229600" cy="320040"/>
          </a:xfrm>
          <a:prstGeom prst="rect">
            <a:avLst/>
          </a:prstGeom>
          <a:noFill/>
          <a:ln/>
        </p:spPr>
        <p:txBody>
          <a:bodyPr wrap="square" lIns="0" tIns="0" rIns="0" bIns="0" rtlCol="0" anchor="ctr"/>
          <a:lstStyle/>
          <a:p>
            <a:pPr marL="0" indent="0">
              <a:buNone/>
            </a:pPr>
            <a:r>
              <a:rPr lang="en-US" sz="1300" i="1" dirty="0">
                <a:solidFill>
                  <a:srgbClr val="5F5E5A"/>
                </a:solidFill>
                <a:latin typeface="Calibri" pitchFamily="34" charset="0"/>
                <a:ea typeface="Calibri" pitchFamily="34" charset="-122"/>
                <a:cs typeface="Calibri" pitchFamily="34" charset="-120"/>
              </a:rPr>
              <a:t>Solo 4 comandos — no es necesario saber más por ahora</a:t>
            </a:r>
            <a:endParaRPr lang="en-US" sz="1300" dirty="0"/>
          </a:p>
        </p:txBody>
      </p:sp>
      <p:sp>
        <p:nvSpPr>
          <p:cNvPr id="4" name="Shape 2"/>
          <p:cNvSpPr/>
          <p:nvPr/>
        </p:nvSpPr>
        <p:spPr>
          <a:xfrm>
            <a:off x="365760" y="1325880"/>
            <a:ext cx="8412480" cy="2377440"/>
          </a:xfrm>
          <a:prstGeom prst="roundRect">
            <a:avLst>
              <a:gd name="adj" fmla="val 3846"/>
            </a:avLst>
          </a:prstGeom>
          <a:solidFill>
            <a:srgbClr val="1E1E2E"/>
          </a:solidFill>
          <a:ln w="6350">
            <a:solidFill>
              <a:srgbClr val="2A2A4A"/>
            </a:solidFill>
            <a:prstDash val="solid"/>
          </a:ln>
        </p:spPr>
        <p:txBody>
          <a:bodyPr/>
          <a:lstStyle/>
          <a:p>
            <a:endParaRPr lang="es-ES_tradnl"/>
          </a:p>
        </p:txBody>
      </p:sp>
      <p:sp>
        <p:nvSpPr>
          <p:cNvPr id="5" name="Text 3"/>
          <p:cNvSpPr/>
          <p:nvPr/>
        </p:nvSpPr>
        <p:spPr>
          <a:xfrm>
            <a:off x="530352" y="1453896"/>
            <a:ext cx="8092440" cy="256032"/>
          </a:xfrm>
          <a:prstGeom prst="rect">
            <a:avLst/>
          </a:prstGeom>
          <a:noFill/>
          <a:ln/>
        </p:spPr>
        <p:txBody>
          <a:bodyPr wrap="square" lIns="0" tIns="0" rIns="0" bIns="0" rtlCol="0" anchor="ctr"/>
          <a:lstStyle/>
          <a:p>
            <a:pPr marL="0" indent="0">
              <a:buNone/>
            </a:pPr>
            <a:r>
              <a:rPr lang="en-US" sz="950" dirty="0">
                <a:solidFill>
                  <a:srgbClr val="888780"/>
                </a:solidFill>
                <a:latin typeface="Courier New" pitchFamily="34" charset="0"/>
                <a:ea typeface="Courier New" pitchFamily="34" charset="-122"/>
                <a:cs typeface="Courier New" pitchFamily="34" charset="-120"/>
              </a:rPr>
              <a:t># 1. Clonar el repositorio del curso</a:t>
            </a:r>
            <a:endParaRPr lang="en-US" sz="950" dirty="0"/>
          </a:p>
        </p:txBody>
      </p:sp>
      <p:sp>
        <p:nvSpPr>
          <p:cNvPr id="6" name="Text 4"/>
          <p:cNvSpPr/>
          <p:nvPr/>
        </p:nvSpPr>
        <p:spPr>
          <a:xfrm>
            <a:off x="530352" y="1728216"/>
            <a:ext cx="8092440" cy="256032"/>
          </a:xfrm>
          <a:prstGeom prst="rect">
            <a:avLst/>
          </a:prstGeom>
          <a:noFill/>
          <a:ln/>
        </p:spPr>
        <p:txBody>
          <a:bodyPr wrap="square" lIns="0" tIns="0" rIns="0" bIns="0" rtlCol="0" anchor="ctr"/>
          <a:lstStyle/>
          <a:p>
            <a:pPr marL="0" indent="0">
              <a:buNone/>
            </a:pPr>
            <a:r>
              <a:rPr lang="en-US" sz="950" dirty="0">
                <a:solidFill>
                  <a:srgbClr val="5EEAD4"/>
                </a:solidFill>
                <a:latin typeface="Courier New" pitchFamily="34" charset="0"/>
                <a:ea typeface="Courier New" pitchFamily="34" charset="-122"/>
                <a:cs typeface="Courier New" pitchFamily="34" charset="-120"/>
              </a:rPr>
              <a:t>git clone https://github.com/cristinamunoz/curso-analisis-claude</a:t>
            </a:r>
            <a:endParaRPr lang="en-US" sz="950" dirty="0"/>
          </a:p>
        </p:txBody>
      </p:sp>
      <p:sp>
        <p:nvSpPr>
          <p:cNvPr id="7" name="Text 5"/>
          <p:cNvSpPr/>
          <p:nvPr/>
        </p:nvSpPr>
        <p:spPr>
          <a:xfrm>
            <a:off x="530352" y="2002536"/>
            <a:ext cx="8092440" cy="256032"/>
          </a:xfrm>
          <a:prstGeom prst="rect">
            <a:avLst/>
          </a:prstGeom>
          <a:noFill/>
          <a:ln/>
        </p:spPr>
        <p:txBody>
          <a:bodyPr wrap="square" lIns="0" tIns="0" rIns="0" bIns="0" rtlCol="0" anchor="ctr"/>
          <a:lstStyle/>
          <a:p>
            <a:pPr marL="0" indent="0">
              <a:buNone/>
            </a:pPr>
            <a:r>
              <a:rPr lang="en-US" sz="950" dirty="0">
                <a:solidFill>
                  <a:srgbClr val="888780"/>
                </a:solidFill>
                <a:latin typeface="Courier New" pitchFamily="34" charset="0"/>
                <a:ea typeface="Courier New" pitchFamily="34" charset="-122"/>
                <a:cs typeface="Courier New" pitchFamily="34" charset="-120"/>
              </a:rPr>
              <a:t># 2. Entrar a la carpeta</a:t>
            </a:r>
            <a:endParaRPr lang="en-US" sz="950" dirty="0"/>
          </a:p>
        </p:txBody>
      </p:sp>
      <p:sp>
        <p:nvSpPr>
          <p:cNvPr id="8" name="Text 6"/>
          <p:cNvSpPr/>
          <p:nvPr/>
        </p:nvSpPr>
        <p:spPr>
          <a:xfrm>
            <a:off x="530352" y="2276856"/>
            <a:ext cx="8092440" cy="256032"/>
          </a:xfrm>
          <a:prstGeom prst="rect">
            <a:avLst/>
          </a:prstGeom>
          <a:noFill/>
          <a:ln/>
        </p:spPr>
        <p:txBody>
          <a:bodyPr wrap="square" lIns="0" tIns="0" rIns="0" bIns="0" rtlCol="0" anchor="ctr"/>
          <a:lstStyle/>
          <a:p>
            <a:pPr marL="0" indent="0">
              <a:buNone/>
            </a:pPr>
            <a:r>
              <a:rPr lang="en-US" sz="950" dirty="0">
                <a:solidFill>
                  <a:srgbClr val="5EEAD4"/>
                </a:solidFill>
                <a:latin typeface="Courier New" pitchFamily="34" charset="0"/>
                <a:ea typeface="Courier New" pitchFamily="34" charset="-122"/>
                <a:cs typeface="Courier New" pitchFamily="34" charset="-120"/>
              </a:rPr>
              <a:t>cd curso-analisis-claude</a:t>
            </a:r>
            <a:endParaRPr lang="en-US" sz="950" dirty="0"/>
          </a:p>
        </p:txBody>
      </p:sp>
      <p:sp>
        <p:nvSpPr>
          <p:cNvPr id="9" name="Text 7"/>
          <p:cNvSpPr/>
          <p:nvPr/>
        </p:nvSpPr>
        <p:spPr>
          <a:xfrm>
            <a:off x="530352" y="2551176"/>
            <a:ext cx="8092440" cy="256032"/>
          </a:xfrm>
          <a:prstGeom prst="rect">
            <a:avLst/>
          </a:prstGeom>
          <a:noFill/>
          <a:ln/>
        </p:spPr>
        <p:txBody>
          <a:bodyPr wrap="square" lIns="0" tIns="0" rIns="0" bIns="0" rtlCol="0" anchor="ctr"/>
          <a:lstStyle/>
          <a:p>
            <a:pPr marL="0" indent="0">
              <a:buNone/>
            </a:pPr>
            <a:r>
              <a:rPr lang="en-US" sz="950" dirty="0">
                <a:solidFill>
                  <a:srgbClr val="888780"/>
                </a:solidFill>
                <a:latin typeface="Courier New" pitchFamily="34" charset="0"/>
                <a:ea typeface="Courier New" pitchFamily="34" charset="-122"/>
                <a:cs typeface="Courier New" pitchFamily="34" charset="-120"/>
              </a:rPr>
              <a:t># 3. Crear tu branch personal</a:t>
            </a:r>
            <a:endParaRPr lang="en-US" sz="950" dirty="0"/>
          </a:p>
        </p:txBody>
      </p:sp>
      <p:sp>
        <p:nvSpPr>
          <p:cNvPr id="10" name="Text 8"/>
          <p:cNvSpPr/>
          <p:nvPr/>
        </p:nvSpPr>
        <p:spPr>
          <a:xfrm>
            <a:off x="530352" y="2825496"/>
            <a:ext cx="8092440" cy="256032"/>
          </a:xfrm>
          <a:prstGeom prst="rect">
            <a:avLst/>
          </a:prstGeom>
          <a:noFill/>
          <a:ln/>
        </p:spPr>
        <p:txBody>
          <a:bodyPr wrap="square" lIns="0" tIns="0" rIns="0" bIns="0" rtlCol="0" anchor="ctr"/>
          <a:lstStyle/>
          <a:p>
            <a:pPr marL="0" indent="0">
              <a:buNone/>
            </a:pPr>
            <a:r>
              <a:rPr lang="en-US" sz="950" dirty="0">
                <a:solidFill>
                  <a:srgbClr val="F9C74F"/>
                </a:solidFill>
                <a:latin typeface="Courier New" pitchFamily="34" charset="0"/>
                <a:ea typeface="Courier New" pitchFamily="34" charset="-122"/>
                <a:cs typeface="Courier New" pitchFamily="34" charset="-120"/>
              </a:rPr>
              <a:t>git checkout -b tu-nombre</a:t>
            </a:r>
            <a:endParaRPr lang="en-US" sz="950" dirty="0"/>
          </a:p>
        </p:txBody>
      </p:sp>
      <p:sp>
        <p:nvSpPr>
          <p:cNvPr id="11" name="Text 9"/>
          <p:cNvSpPr/>
          <p:nvPr/>
        </p:nvSpPr>
        <p:spPr>
          <a:xfrm>
            <a:off x="530352" y="3099816"/>
            <a:ext cx="8092440" cy="256032"/>
          </a:xfrm>
          <a:prstGeom prst="rect">
            <a:avLst/>
          </a:prstGeom>
          <a:noFill/>
          <a:ln/>
        </p:spPr>
        <p:txBody>
          <a:bodyPr wrap="square" lIns="0" tIns="0" rIns="0" bIns="0" rtlCol="0" anchor="ctr"/>
          <a:lstStyle/>
          <a:p>
            <a:pPr marL="0" indent="0">
              <a:buNone/>
            </a:pPr>
            <a:r>
              <a:rPr lang="en-US" sz="950" dirty="0">
                <a:solidFill>
                  <a:srgbClr val="888780"/>
                </a:solidFill>
                <a:latin typeface="Courier New" pitchFamily="34" charset="0"/>
                <a:ea typeface="Courier New" pitchFamily="34" charset="-122"/>
                <a:cs typeface="Courier New" pitchFamily="34" charset="-120"/>
              </a:rPr>
              <a:t># 4. Verificar que estás en tu branch</a:t>
            </a:r>
            <a:endParaRPr lang="en-US" sz="950" dirty="0"/>
          </a:p>
        </p:txBody>
      </p:sp>
      <p:sp>
        <p:nvSpPr>
          <p:cNvPr id="12" name="Text 10"/>
          <p:cNvSpPr/>
          <p:nvPr/>
        </p:nvSpPr>
        <p:spPr>
          <a:xfrm>
            <a:off x="530352" y="3374136"/>
            <a:ext cx="8092440" cy="256032"/>
          </a:xfrm>
          <a:prstGeom prst="rect">
            <a:avLst/>
          </a:prstGeom>
          <a:noFill/>
          <a:ln/>
        </p:spPr>
        <p:txBody>
          <a:bodyPr wrap="square" lIns="0" tIns="0" rIns="0" bIns="0" rtlCol="0" anchor="ctr"/>
          <a:lstStyle/>
          <a:p>
            <a:pPr marL="0" indent="0">
              <a:buNone/>
            </a:pPr>
            <a:r>
              <a:rPr lang="en-US" sz="950" dirty="0">
                <a:solidFill>
                  <a:srgbClr val="A78BFA"/>
                </a:solidFill>
                <a:latin typeface="Courier New" pitchFamily="34" charset="0"/>
                <a:ea typeface="Courier New" pitchFamily="34" charset="-122"/>
                <a:cs typeface="Courier New" pitchFamily="34" charset="-120"/>
              </a:rPr>
              <a:t>git branch</a:t>
            </a:r>
            <a:endParaRPr lang="en-US" sz="950" dirty="0"/>
          </a:p>
        </p:txBody>
      </p:sp>
      <p:sp>
        <p:nvSpPr>
          <p:cNvPr id="13" name="Shape 11"/>
          <p:cNvSpPr/>
          <p:nvPr/>
        </p:nvSpPr>
        <p:spPr>
          <a:xfrm>
            <a:off x="365760" y="3840480"/>
            <a:ext cx="4114800" cy="1051560"/>
          </a:xfrm>
          <a:prstGeom prst="roundRect">
            <a:avLst>
              <a:gd name="adj" fmla="val 8696"/>
            </a:avLst>
          </a:prstGeom>
          <a:solidFill>
            <a:srgbClr val="EEEDFE"/>
          </a:solidFill>
          <a:ln w="6350">
            <a:solidFill>
              <a:srgbClr val="534AB7"/>
            </a:solidFill>
            <a:prstDash val="solid"/>
          </a:ln>
        </p:spPr>
        <p:txBody>
          <a:bodyPr/>
          <a:lstStyle/>
          <a:p>
            <a:endParaRPr lang="es-ES_tradnl"/>
          </a:p>
        </p:txBody>
      </p:sp>
      <p:sp>
        <p:nvSpPr>
          <p:cNvPr id="14" name="Text 12"/>
          <p:cNvSpPr/>
          <p:nvPr/>
        </p:nvSpPr>
        <p:spPr>
          <a:xfrm>
            <a:off x="548640" y="3913632"/>
            <a:ext cx="3749040" cy="320040"/>
          </a:xfrm>
          <a:prstGeom prst="rect">
            <a:avLst/>
          </a:prstGeom>
          <a:noFill/>
          <a:ln/>
        </p:spPr>
        <p:txBody>
          <a:bodyPr wrap="square" lIns="0" tIns="0" rIns="0" bIns="0" rtlCol="0" anchor="ctr"/>
          <a:lstStyle/>
          <a:p>
            <a:pPr marL="0" indent="0">
              <a:buNone/>
            </a:pPr>
            <a:r>
              <a:rPr lang="en-US" sz="1050" b="1" dirty="0">
                <a:solidFill>
                  <a:srgbClr val="534AB7"/>
                </a:solidFill>
                <a:latin typeface="Calibri" pitchFamily="34" charset="0"/>
                <a:ea typeface="Calibri" pitchFamily="34" charset="-122"/>
                <a:cs typeface="Calibri" pitchFamily="34" charset="-120"/>
              </a:rPr>
              <a:t>¿Qué es un branch?</a:t>
            </a:r>
            <a:endParaRPr lang="en-US" sz="1050" dirty="0"/>
          </a:p>
        </p:txBody>
      </p:sp>
      <p:sp>
        <p:nvSpPr>
          <p:cNvPr id="15" name="Text 13"/>
          <p:cNvSpPr/>
          <p:nvPr/>
        </p:nvSpPr>
        <p:spPr>
          <a:xfrm>
            <a:off x="548640" y="4233672"/>
            <a:ext cx="3749040" cy="594360"/>
          </a:xfrm>
          <a:prstGeom prst="rect">
            <a:avLst/>
          </a:prstGeom>
          <a:noFill/>
          <a:ln/>
        </p:spPr>
        <p:txBody>
          <a:bodyPr wrap="square" lIns="0" tIns="0" rIns="0" bIns="0" rtlCol="0" anchor="ctr"/>
          <a:lstStyle/>
          <a:p>
            <a:pPr marL="0" indent="0">
              <a:buNone/>
            </a:pPr>
            <a:r>
              <a:rPr lang="en-US" sz="1000" dirty="0">
                <a:solidFill>
                  <a:srgbClr val="5F5E5A"/>
                </a:solidFill>
                <a:latin typeface="Calibri" pitchFamily="34" charset="0"/>
                <a:ea typeface="Calibri" pitchFamily="34" charset="-122"/>
                <a:cs typeface="Calibri" pitchFamily="34" charset="-120"/>
              </a:rPr>
              <a:t>Una copia de trabajo personal dentro del mismo repositorio. Cada participante tiene la suya — sin pisar el trabajo de los demás.</a:t>
            </a:r>
            <a:endParaRPr lang="en-US" sz="1000" dirty="0"/>
          </a:p>
        </p:txBody>
      </p:sp>
      <p:sp>
        <p:nvSpPr>
          <p:cNvPr id="16" name="Shape 14"/>
          <p:cNvSpPr/>
          <p:nvPr/>
        </p:nvSpPr>
        <p:spPr>
          <a:xfrm>
            <a:off x="4663440" y="3840480"/>
            <a:ext cx="4114800" cy="1051560"/>
          </a:xfrm>
          <a:prstGeom prst="roundRect">
            <a:avLst>
              <a:gd name="adj" fmla="val 8696"/>
            </a:avLst>
          </a:prstGeom>
          <a:solidFill>
            <a:srgbClr val="E1F5EE"/>
          </a:solidFill>
          <a:ln w="6350">
            <a:solidFill>
              <a:srgbClr val="1D9E75"/>
            </a:solidFill>
            <a:prstDash val="solid"/>
          </a:ln>
        </p:spPr>
        <p:txBody>
          <a:bodyPr/>
          <a:lstStyle/>
          <a:p>
            <a:endParaRPr lang="es-ES_tradnl"/>
          </a:p>
        </p:txBody>
      </p:sp>
      <p:sp>
        <p:nvSpPr>
          <p:cNvPr id="17" name="Text 15"/>
          <p:cNvSpPr/>
          <p:nvPr/>
        </p:nvSpPr>
        <p:spPr>
          <a:xfrm>
            <a:off x="4846320" y="3913632"/>
            <a:ext cx="3749040" cy="320040"/>
          </a:xfrm>
          <a:prstGeom prst="rect">
            <a:avLst/>
          </a:prstGeom>
          <a:noFill/>
          <a:ln/>
        </p:spPr>
        <p:txBody>
          <a:bodyPr wrap="square" lIns="0" tIns="0" rIns="0" bIns="0" rtlCol="0" anchor="ctr"/>
          <a:lstStyle/>
          <a:p>
            <a:pPr marL="0" indent="0">
              <a:buNone/>
            </a:pPr>
            <a:r>
              <a:rPr lang="en-US" sz="1050" b="1" dirty="0">
                <a:solidFill>
                  <a:srgbClr val="0F6E56"/>
                </a:solidFill>
                <a:latin typeface="Calibri" pitchFamily="34" charset="0"/>
                <a:ea typeface="Calibri" pitchFamily="34" charset="-122"/>
                <a:cs typeface="Calibri" pitchFamily="34" charset="-120"/>
              </a:rPr>
              <a:t>Verificación final del módulo</a:t>
            </a:r>
            <a:endParaRPr lang="en-US" sz="1050" dirty="0"/>
          </a:p>
        </p:txBody>
      </p:sp>
      <p:sp>
        <p:nvSpPr>
          <p:cNvPr id="18" name="Text 16"/>
          <p:cNvSpPr/>
          <p:nvPr/>
        </p:nvSpPr>
        <p:spPr>
          <a:xfrm>
            <a:off x="4846320" y="4233672"/>
            <a:ext cx="3749040" cy="594360"/>
          </a:xfrm>
          <a:prstGeom prst="rect">
            <a:avLst/>
          </a:prstGeom>
          <a:noFill/>
          <a:ln/>
        </p:spPr>
        <p:txBody>
          <a:bodyPr wrap="square" lIns="0" tIns="0" rIns="0" bIns="0" rtlCol="0" anchor="ctr"/>
          <a:lstStyle/>
          <a:p>
            <a:pPr marL="0" indent="0">
              <a:buNone/>
            </a:pPr>
            <a:r>
              <a:rPr lang="en-US" sz="1000" dirty="0">
                <a:solidFill>
                  <a:srgbClr val="5F5E5A"/>
                </a:solidFill>
                <a:latin typeface="Calibri" pitchFamily="34" charset="0"/>
                <a:ea typeface="Calibri" pitchFamily="34" charset="-122"/>
                <a:cs typeface="Calibri" pitchFamily="34" charset="-120"/>
              </a:rPr>
              <a:t>git branch debe mostrar tu nombre con * adelante y Claude Code debe responder al ejecutar claude.</a:t>
            </a:r>
            <a:endParaRPr lang="en-US" sz="10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5">
    <p:bg>
      <p:bgPr>
        <a:solidFill>
          <a:srgbClr val="1A1A2E"/>
        </a:solidFill>
        <a:effectLst/>
      </p:bgPr>
    </p:bg>
    <p:spTree>
      <p:nvGrpSpPr>
        <p:cNvPr id="1" name=""/>
        <p:cNvGrpSpPr/>
        <p:nvPr/>
      </p:nvGrpSpPr>
      <p:grpSpPr>
        <a:xfrm>
          <a:off x="0" y="0"/>
          <a:ext cx="0" cy="0"/>
          <a:chOff x="0" y="0"/>
          <a:chExt cx="0" cy="0"/>
        </a:xfrm>
      </p:grpSpPr>
      <p:sp>
        <p:nvSpPr>
          <p:cNvPr id="2" name="Shape 0"/>
          <p:cNvSpPr/>
          <p:nvPr/>
        </p:nvSpPr>
        <p:spPr>
          <a:xfrm>
            <a:off x="6858000" y="-914400"/>
            <a:ext cx="4114800" cy="4114800"/>
          </a:xfrm>
          <a:prstGeom prst="ellipse">
            <a:avLst/>
          </a:prstGeom>
          <a:solidFill>
            <a:srgbClr val="1D9E75">
              <a:alpha val="18000"/>
            </a:srgbClr>
          </a:solidFill>
          <a:ln w="12700">
            <a:solidFill>
              <a:srgbClr val="1D9E75">
                <a:alpha val="18000"/>
              </a:srgbClr>
            </a:solidFill>
            <a:prstDash val="solid"/>
          </a:ln>
        </p:spPr>
        <p:txBody>
          <a:bodyPr/>
          <a:lstStyle/>
          <a:p>
            <a:endParaRPr lang="es-ES_tradnl"/>
          </a:p>
        </p:txBody>
      </p:sp>
      <p:sp>
        <p:nvSpPr>
          <p:cNvPr id="3" name="Text 1"/>
          <p:cNvSpPr/>
          <p:nvPr/>
        </p:nvSpPr>
        <p:spPr>
          <a:xfrm>
            <a:off x="640080" y="411480"/>
            <a:ext cx="7772400" cy="457200"/>
          </a:xfrm>
          <a:prstGeom prst="rect">
            <a:avLst/>
          </a:prstGeom>
          <a:noFill/>
          <a:ln/>
        </p:spPr>
        <p:txBody>
          <a:bodyPr wrap="square" lIns="0" tIns="0" rIns="0" bIns="0" rtlCol="0" anchor="ctr"/>
          <a:lstStyle/>
          <a:p>
            <a:pPr marL="0" indent="0">
              <a:buNone/>
            </a:pPr>
            <a:r>
              <a:rPr lang="en-US" sz="1400" b="1" kern="0" spc="200" dirty="0">
                <a:solidFill>
                  <a:srgbClr val="1D9E75"/>
                </a:solidFill>
                <a:latin typeface="Calibri" pitchFamily="34" charset="0"/>
                <a:ea typeface="Calibri" pitchFamily="34" charset="-122"/>
                <a:cs typeface="Calibri" pitchFamily="34" charset="-120"/>
              </a:rPr>
              <a:t>🧪  Ejercicio 2</a:t>
            </a:r>
            <a:endParaRPr lang="en-US" sz="1400" dirty="0"/>
          </a:p>
        </p:txBody>
      </p:sp>
      <p:sp>
        <p:nvSpPr>
          <p:cNvPr id="4" name="Text 2"/>
          <p:cNvSpPr/>
          <p:nvPr/>
        </p:nvSpPr>
        <p:spPr>
          <a:xfrm>
            <a:off x="640080" y="914400"/>
            <a:ext cx="7498080" cy="777240"/>
          </a:xfrm>
          <a:prstGeom prst="rect">
            <a:avLst/>
          </a:prstGeom>
          <a:noFill/>
          <a:ln/>
        </p:spPr>
        <p:txBody>
          <a:bodyPr wrap="square" lIns="0" tIns="0" rIns="0" bIns="0" rtlCol="0" anchor="ctr"/>
          <a:lstStyle/>
          <a:p>
            <a:pPr marL="0" indent="0">
              <a:buNone/>
            </a:pPr>
            <a:r>
              <a:rPr lang="en-US" sz="2800" b="1" dirty="0">
                <a:solidFill>
                  <a:srgbClr val="FFFFFF"/>
                </a:solidFill>
                <a:latin typeface="Cambria" pitchFamily="34" charset="0"/>
                <a:ea typeface="Cambria" pitchFamily="34" charset="-122"/>
                <a:cs typeface="Cambria" pitchFamily="34" charset="-120"/>
              </a:rPr>
              <a:t>Checkpoint: tu entorno funcionando</a:t>
            </a:r>
            <a:endParaRPr lang="en-US" sz="2800" dirty="0"/>
          </a:p>
        </p:txBody>
      </p:sp>
      <p:sp>
        <p:nvSpPr>
          <p:cNvPr id="5" name="Shape 3"/>
          <p:cNvSpPr/>
          <p:nvPr/>
        </p:nvSpPr>
        <p:spPr>
          <a:xfrm>
            <a:off x="640080" y="1828800"/>
            <a:ext cx="7863840" cy="1298448"/>
          </a:xfrm>
          <a:prstGeom prst="roundRect">
            <a:avLst>
              <a:gd name="adj" fmla="val 8451"/>
            </a:avLst>
          </a:prstGeom>
          <a:solidFill>
            <a:srgbClr val="1E1E35"/>
          </a:solidFill>
          <a:ln w="10160">
            <a:solidFill>
              <a:srgbClr val="534AB7"/>
            </a:solidFill>
            <a:prstDash val="solid"/>
          </a:ln>
        </p:spPr>
        <p:txBody>
          <a:bodyPr/>
          <a:lstStyle/>
          <a:p>
            <a:endParaRPr lang="es-ES_tradnl"/>
          </a:p>
        </p:txBody>
      </p:sp>
      <p:sp>
        <p:nvSpPr>
          <p:cNvPr id="6" name="Text 4"/>
          <p:cNvSpPr/>
          <p:nvPr/>
        </p:nvSpPr>
        <p:spPr>
          <a:xfrm>
            <a:off x="822960" y="1920240"/>
            <a:ext cx="7498080" cy="1115568"/>
          </a:xfrm>
          <a:prstGeom prst="rect">
            <a:avLst/>
          </a:prstGeom>
          <a:noFill/>
          <a:ln/>
        </p:spPr>
        <p:txBody>
          <a:bodyPr wrap="square" lIns="0" tIns="0" rIns="0" bIns="0" rtlCol="0" anchor="ctr"/>
          <a:lstStyle/>
          <a:p>
            <a:pPr marL="0" indent="0">
              <a:buNone/>
            </a:pPr>
            <a:r>
              <a:rPr lang="en-US" sz="1150" dirty="0">
                <a:solidFill>
                  <a:srgbClr val="7B74D4"/>
                </a:solidFill>
                <a:latin typeface="Calibri" pitchFamily="34" charset="0"/>
                <a:ea typeface="Calibri" pitchFamily="34" charset="-122"/>
                <a:cs typeface="Calibri" pitchFamily="34" charset="-120"/>
              </a:rPr>
              <a:t>Abre Claude Code en la carpeta del repositorio del curso</a:t>
            </a:r>
            <a:endParaRPr lang="en-US" sz="1150" dirty="0"/>
          </a:p>
          <a:p>
            <a:pPr marL="0" indent="0">
              <a:buNone/>
            </a:pPr>
            <a:r>
              <a:rPr lang="en-US" sz="1150" dirty="0">
                <a:solidFill>
                  <a:srgbClr val="7B74D4"/>
                </a:solidFill>
                <a:latin typeface="Calibri" pitchFamily="34" charset="0"/>
                <a:ea typeface="Calibri" pitchFamily="34" charset="-122"/>
                <a:cs typeface="Calibri" pitchFamily="34" charset="-120"/>
              </a:rPr>
              <a:t>y haz esta pregunta:</a:t>
            </a:r>
            <a:endParaRPr lang="en-US" sz="1150" dirty="0"/>
          </a:p>
        </p:txBody>
      </p:sp>
      <p:sp>
        <p:nvSpPr>
          <p:cNvPr id="7" name="Text 5"/>
          <p:cNvSpPr/>
          <p:nvPr/>
        </p:nvSpPr>
        <p:spPr>
          <a:xfrm>
            <a:off x="640080" y="3291840"/>
            <a:ext cx="7863840" cy="1325880"/>
          </a:xfrm>
          <a:prstGeom prst="rect">
            <a:avLst/>
          </a:prstGeom>
          <a:noFill/>
          <a:ln/>
        </p:spPr>
        <p:txBody>
          <a:bodyPr wrap="square" rtlCol="0" anchor="ctr"/>
          <a:lstStyle/>
          <a:p>
            <a:pPr marL="342900" indent="-342900">
              <a:spcAft>
                <a:spcPts val="400"/>
              </a:spcAft>
              <a:buSzPct val="100000"/>
              <a:buChar char="•"/>
            </a:pPr>
            <a:r>
              <a:rPr lang="en-US" sz="1150" dirty="0">
                <a:solidFill>
                  <a:srgbClr val="FFFFFF"/>
                </a:solidFill>
                <a:latin typeface="Calibri" pitchFamily="34" charset="0"/>
                <a:ea typeface="Calibri" pitchFamily="34" charset="-122"/>
                <a:cs typeface="Calibri" pitchFamily="34" charset="-120"/>
              </a:rPr>
              <a:t>¿Qué archivos ves en este directorio?</a:t>
            </a:r>
            <a:endParaRPr lang="en-US" sz="1150" dirty="0"/>
          </a:p>
          <a:p>
            <a:pPr marL="342900" indent="-342900">
              <a:spcAft>
                <a:spcPts val="400"/>
              </a:spcAft>
              <a:buSzPct val="100000"/>
              <a:buChar char="•"/>
            </a:pPr>
            <a:r>
              <a:rPr lang="en-US" sz="1150" dirty="0">
                <a:solidFill>
                  <a:srgbClr val="FFFFFF"/>
                </a:solidFill>
                <a:latin typeface="Calibri" pitchFamily="34" charset="0"/>
                <a:ea typeface="Calibri" pitchFamily="34" charset="-122"/>
                <a:cs typeface="Calibri" pitchFamily="34" charset="-120"/>
              </a:rPr>
              <a:t>¿Puedes leer data/metadata.tsv y decirme cuántas muestras tiene y qué columnas ambientales hay?</a:t>
            </a:r>
            <a:endParaRPr lang="en-US" sz="1150" dirty="0"/>
          </a:p>
        </p:txBody>
      </p:sp>
      <p:sp>
        <p:nvSpPr>
          <p:cNvPr id="8" name="Text 6"/>
          <p:cNvSpPr/>
          <p:nvPr/>
        </p:nvSpPr>
        <p:spPr>
          <a:xfrm>
            <a:off x="640080" y="4736592"/>
            <a:ext cx="7772400" cy="274320"/>
          </a:xfrm>
          <a:prstGeom prst="rect">
            <a:avLst/>
          </a:prstGeom>
          <a:noFill/>
          <a:ln/>
        </p:spPr>
        <p:txBody>
          <a:bodyPr wrap="square" lIns="0" tIns="0" rIns="0" bIns="0" rtlCol="0" anchor="ctr"/>
          <a:lstStyle/>
          <a:p>
            <a:pPr marL="0" indent="0">
              <a:buNone/>
            </a:pPr>
            <a:r>
              <a:rPr lang="en-US" sz="1000" i="1" dirty="0">
                <a:solidFill>
                  <a:srgbClr val="1D9E75"/>
                </a:solidFill>
                <a:latin typeface="Calibri" pitchFamily="34" charset="0"/>
                <a:ea typeface="Calibri" pitchFamily="34" charset="-122"/>
                <a:cs typeface="Calibri" pitchFamily="34" charset="-120"/>
              </a:rPr>
              <a:t>5 min · si algo falla, levanta la mano</a:t>
            </a:r>
            <a:endParaRPr lang="en-US" sz="10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6">
    <p:bg>
      <p:bgPr>
        <a:solidFill>
          <a:srgbClr val="1A1A2E"/>
        </a:solidFill>
        <a:effectLst/>
      </p:bgPr>
    </p:bg>
    <p:spTree>
      <p:nvGrpSpPr>
        <p:cNvPr id="1" name=""/>
        <p:cNvGrpSpPr/>
        <p:nvPr/>
      </p:nvGrpSpPr>
      <p:grpSpPr>
        <a:xfrm>
          <a:off x="0" y="0"/>
          <a:ext cx="0" cy="0"/>
          <a:chOff x="0" y="0"/>
          <a:chExt cx="0" cy="0"/>
        </a:xfrm>
      </p:grpSpPr>
      <p:sp>
        <p:nvSpPr>
          <p:cNvPr id="2" name="Shape 0"/>
          <p:cNvSpPr/>
          <p:nvPr/>
        </p:nvSpPr>
        <p:spPr>
          <a:xfrm>
            <a:off x="6858000" y="-914400"/>
            <a:ext cx="4572000" cy="4572000"/>
          </a:xfrm>
          <a:prstGeom prst="ellipse">
            <a:avLst/>
          </a:prstGeom>
          <a:solidFill>
            <a:srgbClr val="7B74D4">
              <a:alpha val="22000"/>
            </a:srgbClr>
          </a:solidFill>
          <a:ln w="12700">
            <a:solidFill>
              <a:srgbClr val="7B74D4">
                <a:alpha val="22000"/>
              </a:srgbClr>
            </a:solidFill>
            <a:prstDash val="solid"/>
          </a:ln>
        </p:spPr>
        <p:txBody>
          <a:bodyPr/>
          <a:lstStyle/>
          <a:p>
            <a:endParaRPr lang="es-ES_tradnl"/>
          </a:p>
        </p:txBody>
      </p:sp>
      <p:sp>
        <p:nvSpPr>
          <p:cNvPr id="3" name="Shape 1"/>
          <p:cNvSpPr/>
          <p:nvPr/>
        </p:nvSpPr>
        <p:spPr>
          <a:xfrm>
            <a:off x="-1371600" y="3200400"/>
            <a:ext cx="3200400" cy="3200400"/>
          </a:xfrm>
          <a:prstGeom prst="ellipse">
            <a:avLst/>
          </a:prstGeom>
          <a:solidFill>
            <a:srgbClr val="1D9E75">
              <a:alpha val="16000"/>
            </a:srgbClr>
          </a:solidFill>
          <a:ln w="12700">
            <a:solidFill>
              <a:srgbClr val="1D9E75">
                <a:alpha val="16000"/>
              </a:srgbClr>
            </a:solidFill>
            <a:prstDash val="solid"/>
          </a:ln>
        </p:spPr>
        <p:txBody>
          <a:bodyPr/>
          <a:lstStyle/>
          <a:p>
            <a:endParaRPr lang="es-ES_tradnl"/>
          </a:p>
        </p:txBody>
      </p:sp>
      <p:sp>
        <p:nvSpPr>
          <p:cNvPr id="4" name="Text 2"/>
          <p:cNvSpPr/>
          <p:nvPr/>
        </p:nvSpPr>
        <p:spPr>
          <a:xfrm>
            <a:off x="640080" y="822960"/>
            <a:ext cx="7772400" cy="411480"/>
          </a:xfrm>
          <a:prstGeom prst="rect">
            <a:avLst/>
          </a:prstGeom>
          <a:noFill/>
          <a:ln/>
        </p:spPr>
        <p:txBody>
          <a:bodyPr wrap="square" lIns="0" tIns="0" rIns="0" bIns="0" rtlCol="0" anchor="ctr"/>
          <a:lstStyle/>
          <a:p>
            <a:pPr marL="0" indent="0">
              <a:buNone/>
            </a:pPr>
            <a:r>
              <a:rPr lang="en-US" sz="1300" b="1" kern="0" spc="400" dirty="0">
                <a:solidFill>
                  <a:srgbClr val="7B74D4"/>
                </a:solidFill>
                <a:latin typeface="Calibri" pitchFamily="34" charset="0"/>
                <a:ea typeface="Calibri" pitchFamily="34" charset="-122"/>
                <a:cs typeface="Calibri" pitchFamily="34" charset="-120"/>
              </a:rPr>
              <a:t>Módulo 3</a:t>
            </a:r>
            <a:endParaRPr lang="en-US" sz="1300" dirty="0"/>
          </a:p>
        </p:txBody>
      </p:sp>
      <p:sp>
        <p:nvSpPr>
          <p:cNvPr id="5" name="Text 3"/>
          <p:cNvSpPr/>
          <p:nvPr/>
        </p:nvSpPr>
        <p:spPr>
          <a:xfrm>
            <a:off x="640080" y="1280160"/>
            <a:ext cx="7498080" cy="1005840"/>
          </a:xfrm>
          <a:prstGeom prst="rect">
            <a:avLst/>
          </a:prstGeom>
          <a:noFill/>
          <a:ln/>
        </p:spPr>
        <p:txBody>
          <a:bodyPr wrap="square" lIns="0" tIns="0" rIns="0" bIns="0" rtlCol="0" anchor="ctr"/>
          <a:lstStyle/>
          <a:p>
            <a:pPr marL="0" indent="0">
              <a:buNone/>
            </a:pPr>
            <a:r>
              <a:rPr lang="en-US" sz="3600" b="1" dirty="0">
                <a:solidFill>
                  <a:srgbClr val="FFFFFF"/>
                </a:solidFill>
                <a:latin typeface="Cambria" pitchFamily="34" charset="0"/>
                <a:ea typeface="Cambria" pitchFamily="34" charset="-122"/>
                <a:cs typeface="Cambria" pitchFamily="34" charset="-120"/>
              </a:rPr>
              <a:t>Modelos, tokens y contexto</a:t>
            </a:r>
            <a:endParaRPr lang="en-US" sz="3600" dirty="0"/>
          </a:p>
        </p:txBody>
      </p:sp>
      <p:sp>
        <p:nvSpPr>
          <p:cNvPr id="6" name="Text 4"/>
          <p:cNvSpPr/>
          <p:nvPr/>
        </p:nvSpPr>
        <p:spPr>
          <a:xfrm>
            <a:off x="640080" y="2377440"/>
            <a:ext cx="6858000" cy="594360"/>
          </a:xfrm>
          <a:prstGeom prst="rect">
            <a:avLst/>
          </a:prstGeom>
          <a:noFill/>
          <a:ln/>
        </p:spPr>
        <p:txBody>
          <a:bodyPr wrap="square" lIns="0" tIns="0" rIns="0" bIns="0" rtlCol="0" anchor="ctr"/>
          <a:lstStyle/>
          <a:p>
            <a:pPr marL="0" indent="0">
              <a:buNone/>
            </a:pPr>
            <a:r>
              <a:rPr lang="en-US" sz="1300" i="1" dirty="0">
                <a:solidFill>
                  <a:srgbClr val="7B74D4"/>
                </a:solidFill>
                <a:latin typeface="Calibri" pitchFamily="34" charset="0"/>
                <a:ea typeface="Calibri" pitchFamily="34" charset="-122"/>
                <a:cs typeface="Calibri" pitchFamily="34" charset="-120"/>
              </a:rPr>
              <a:t>Entender al agente por dentro para usarlo de forma eficiente</a:t>
            </a:r>
            <a:endParaRPr lang="en-US" sz="1300" dirty="0"/>
          </a:p>
        </p:txBody>
      </p:sp>
      <p:sp>
        <p:nvSpPr>
          <p:cNvPr id="7" name="Shape 5"/>
          <p:cNvSpPr/>
          <p:nvPr/>
        </p:nvSpPr>
        <p:spPr>
          <a:xfrm>
            <a:off x="640080" y="3154680"/>
            <a:ext cx="2011680" cy="0"/>
          </a:xfrm>
          <a:prstGeom prst="line">
            <a:avLst/>
          </a:prstGeom>
          <a:noFill/>
          <a:ln w="31750">
            <a:solidFill>
              <a:srgbClr val="1D9E75"/>
            </a:solidFill>
            <a:prstDash val="solid"/>
          </a:ln>
        </p:spPr>
        <p:txBody>
          <a:bodyPr/>
          <a:lstStyle/>
          <a:p>
            <a:endParaRPr lang="es-ES_tradnl"/>
          </a:p>
        </p:txBody>
      </p:sp>
      <p:sp>
        <p:nvSpPr>
          <p:cNvPr id="8" name="Text 6"/>
          <p:cNvSpPr/>
          <p:nvPr/>
        </p:nvSpPr>
        <p:spPr>
          <a:xfrm>
            <a:off x="640080" y="4526280"/>
            <a:ext cx="7772400" cy="292608"/>
          </a:xfrm>
          <a:prstGeom prst="rect">
            <a:avLst/>
          </a:prstGeom>
          <a:noFill/>
          <a:ln/>
        </p:spPr>
        <p:txBody>
          <a:bodyPr wrap="square" lIns="0" tIns="0" rIns="0" bIns="0" rtlCol="0" anchor="ctr"/>
          <a:lstStyle/>
          <a:p>
            <a:pPr marL="0" indent="0">
              <a:buNone/>
            </a:pPr>
            <a:r>
              <a:rPr lang="en-US" sz="1000" dirty="0">
                <a:solidFill>
                  <a:srgbClr val="888780"/>
                </a:solidFill>
                <a:latin typeface="Calibri" pitchFamily="34" charset="0"/>
                <a:ea typeface="Calibri" pitchFamily="34" charset="-122"/>
                <a:cs typeface="Calibri" pitchFamily="34" charset="-120"/>
              </a:rPr>
              <a:t>11:00 – 11:30 · 30 minutos · después del break</a:t>
            </a:r>
            <a:endParaRPr lang="en-US" sz="10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7">
    <p:bg>
      <p:bgPr>
        <a:solidFill>
          <a:srgbClr val="F8F8F6"/>
        </a:solidFill>
        <a:effectLst/>
      </p:bgPr>
    </p:bg>
    <p:spTree>
      <p:nvGrpSpPr>
        <p:cNvPr id="1" name=""/>
        <p:cNvGrpSpPr/>
        <p:nvPr/>
      </p:nvGrpSpPr>
      <p:grpSpPr>
        <a:xfrm>
          <a:off x="0" y="0"/>
          <a:ext cx="0" cy="0"/>
          <a:chOff x="0" y="0"/>
          <a:chExt cx="0" cy="0"/>
        </a:xfrm>
      </p:grpSpPr>
      <p:sp>
        <p:nvSpPr>
          <p:cNvPr id="2" name="Text 0"/>
          <p:cNvSpPr/>
          <p:nvPr/>
        </p:nvSpPr>
        <p:spPr>
          <a:xfrm>
            <a:off x="457200" y="256032"/>
            <a:ext cx="8229600" cy="566928"/>
          </a:xfrm>
          <a:prstGeom prst="rect">
            <a:avLst/>
          </a:prstGeom>
          <a:noFill/>
          <a:ln/>
        </p:spPr>
        <p:txBody>
          <a:bodyPr wrap="square" lIns="0" tIns="0" rIns="0" bIns="0" rtlCol="0" anchor="ctr"/>
          <a:lstStyle/>
          <a:p>
            <a:pPr marL="0" indent="0">
              <a:buNone/>
            </a:pPr>
            <a:r>
              <a:rPr lang="en-US" sz="2700" b="1" dirty="0">
                <a:solidFill>
                  <a:srgbClr val="2C2C2A"/>
                </a:solidFill>
                <a:latin typeface="Cambria" pitchFamily="34" charset="0"/>
                <a:ea typeface="Cambria" pitchFamily="34" charset="-122"/>
                <a:cs typeface="Cambria" pitchFamily="34" charset="-120"/>
              </a:rPr>
              <a:t>¿Qué es un token?</a:t>
            </a:r>
            <a:endParaRPr lang="en-US" sz="2700" dirty="0"/>
          </a:p>
        </p:txBody>
      </p:sp>
      <p:sp>
        <p:nvSpPr>
          <p:cNvPr id="3" name="Text 1"/>
          <p:cNvSpPr/>
          <p:nvPr/>
        </p:nvSpPr>
        <p:spPr>
          <a:xfrm>
            <a:off x="457200" y="822960"/>
            <a:ext cx="8229600" cy="320040"/>
          </a:xfrm>
          <a:prstGeom prst="rect">
            <a:avLst/>
          </a:prstGeom>
          <a:noFill/>
          <a:ln/>
        </p:spPr>
        <p:txBody>
          <a:bodyPr wrap="square" lIns="0" tIns="0" rIns="0" bIns="0" rtlCol="0" anchor="ctr"/>
          <a:lstStyle/>
          <a:p>
            <a:pPr marL="0" indent="0">
              <a:buNone/>
            </a:pPr>
            <a:r>
              <a:rPr lang="en-US" sz="1300" i="1" dirty="0">
                <a:solidFill>
                  <a:srgbClr val="5F5E5A"/>
                </a:solidFill>
                <a:latin typeface="Calibri" pitchFamily="34" charset="0"/>
                <a:ea typeface="Calibri" pitchFamily="34" charset="-122"/>
                <a:cs typeface="Calibri" pitchFamily="34" charset="-120"/>
              </a:rPr>
              <a:t>La unidad básica con la que Claude lee y procesa — y por qué el análisis complejo cuesta más</a:t>
            </a:r>
            <a:endParaRPr lang="en-US" sz="1300" dirty="0"/>
          </a:p>
        </p:txBody>
      </p:sp>
      <p:sp>
        <p:nvSpPr>
          <p:cNvPr id="4" name="Shape 2"/>
          <p:cNvSpPr/>
          <p:nvPr/>
        </p:nvSpPr>
        <p:spPr>
          <a:xfrm>
            <a:off x="365760" y="1261872"/>
            <a:ext cx="8412480" cy="566928"/>
          </a:xfrm>
          <a:prstGeom prst="roundRect">
            <a:avLst>
              <a:gd name="adj" fmla="val 12903"/>
            </a:avLst>
          </a:prstGeom>
          <a:solidFill>
            <a:srgbClr val="EEEDFE"/>
          </a:solidFill>
          <a:ln w="6350">
            <a:solidFill>
              <a:srgbClr val="534AB7"/>
            </a:solidFill>
            <a:prstDash val="solid"/>
          </a:ln>
        </p:spPr>
        <p:txBody>
          <a:bodyPr/>
          <a:lstStyle/>
          <a:p>
            <a:endParaRPr lang="es-ES_tradnl"/>
          </a:p>
        </p:txBody>
      </p:sp>
      <p:sp>
        <p:nvSpPr>
          <p:cNvPr id="5" name="Text 3"/>
          <p:cNvSpPr/>
          <p:nvPr/>
        </p:nvSpPr>
        <p:spPr>
          <a:xfrm>
            <a:off x="548640" y="1335024"/>
            <a:ext cx="8046720" cy="420624"/>
          </a:xfrm>
          <a:prstGeom prst="rect">
            <a:avLst/>
          </a:prstGeom>
          <a:noFill/>
          <a:ln/>
        </p:spPr>
        <p:txBody>
          <a:bodyPr wrap="square" lIns="0" tIns="0" rIns="0" bIns="0" rtlCol="0" anchor="ctr"/>
          <a:lstStyle/>
          <a:p>
            <a:pPr marL="0" indent="0">
              <a:buNone/>
            </a:pPr>
            <a:r>
              <a:rPr lang="en-US" sz="1100" i="1" dirty="0">
                <a:solidFill>
                  <a:srgbClr val="534AB7"/>
                </a:solidFill>
                <a:latin typeface="Calibri" pitchFamily="34" charset="0"/>
                <a:ea typeface="Calibri" pitchFamily="34" charset="-122"/>
                <a:cs typeface="Calibri" pitchFamily="34" charset="-120"/>
              </a:rPr>
              <a:t>1 token ≈ ¾ de palabra en español. Claude cobra tokens por leer TU prompt y por escribir su respuesta — más contexto = más tokens = más lento y más costoso.</a:t>
            </a:r>
            <a:endParaRPr lang="en-US" sz="1100" dirty="0"/>
          </a:p>
        </p:txBody>
      </p:sp>
      <p:sp>
        <p:nvSpPr>
          <p:cNvPr id="6" name="Shape 4"/>
          <p:cNvSpPr/>
          <p:nvPr/>
        </p:nvSpPr>
        <p:spPr>
          <a:xfrm>
            <a:off x="365760" y="1965960"/>
            <a:ext cx="4114800" cy="3200400"/>
          </a:xfrm>
          <a:prstGeom prst="roundRect">
            <a:avLst>
              <a:gd name="adj" fmla="val 2857"/>
            </a:avLst>
          </a:prstGeom>
          <a:solidFill>
            <a:srgbClr val="FFFFFF"/>
          </a:solidFill>
          <a:ln w="6350">
            <a:solidFill>
              <a:srgbClr val="D3D1C7"/>
            </a:solidFill>
            <a:prstDash val="solid"/>
          </a:ln>
          <a:effectLst>
            <a:outerShdw blurRad="88900" dist="25400" dir="2700000" algn="bl" rotWithShape="0">
              <a:srgbClr val="000000">
                <a:alpha val="11000"/>
              </a:srgbClr>
            </a:outerShdw>
          </a:effectLst>
        </p:spPr>
        <p:txBody>
          <a:bodyPr/>
          <a:lstStyle/>
          <a:p>
            <a:endParaRPr lang="es-ES_tradnl"/>
          </a:p>
        </p:txBody>
      </p:sp>
      <p:sp>
        <p:nvSpPr>
          <p:cNvPr id="7" name="Text 5"/>
          <p:cNvSpPr/>
          <p:nvPr/>
        </p:nvSpPr>
        <p:spPr>
          <a:xfrm>
            <a:off x="530352" y="2057400"/>
            <a:ext cx="3749040" cy="347472"/>
          </a:xfrm>
          <a:prstGeom prst="rect">
            <a:avLst/>
          </a:prstGeom>
          <a:noFill/>
          <a:ln/>
        </p:spPr>
        <p:txBody>
          <a:bodyPr wrap="square" lIns="0" tIns="0" rIns="0" bIns="0" rtlCol="0" anchor="ctr"/>
          <a:lstStyle/>
          <a:p>
            <a:pPr marL="0" indent="0">
              <a:buNone/>
            </a:pPr>
            <a:r>
              <a:rPr lang="en-US" sz="1100" b="1" dirty="0">
                <a:solidFill>
                  <a:srgbClr val="0F6E56"/>
                </a:solidFill>
                <a:latin typeface="Calibri" pitchFamily="34" charset="0"/>
                <a:ea typeface="Calibri" pitchFamily="34" charset="-122"/>
                <a:cs typeface="Calibri" pitchFamily="34" charset="-120"/>
              </a:rPr>
              <a:t>🟢  Análisis simple</a:t>
            </a:r>
            <a:endParaRPr lang="en-US" sz="1100" dirty="0"/>
          </a:p>
        </p:txBody>
      </p:sp>
      <p:sp>
        <p:nvSpPr>
          <p:cNvPr id="8" name="Shape 6"/>
          <p:cNvSpPr/>
          <p:nvPr/>
        </p:nvSpPr>
        <p:spPr>
          <a:xfrm>
            <a:off x="502920" y="2487168"/>
            <a:ext cx="3794760" cy="640080"/>
          </a:xfrm>
          <a:prstGeom prst="roundRect">
            <a:avLst>
              <a:gd name="adj" fmla="val 14286"/>
            </a:avLst>
          </a:prstGeom>
          <a:solidFill>
            <a:srgbClr val="1E1E2E"/>
          </a:solidFill>
          <a:ln w="6350">
            <a:solidFill>
              <a:srgbClr val="2A2A4A"/>
            </a:solidFill>
            <a:prstDash val="solid"/>
          </a:ln>
        </p:spPr>
        <p:txBody>
          <a:bodyPr/>
          <a:lstStyle/>
          <a:p>
            <a:endParaRPr lang="es-ES_tradnl"/>
          </a:p>
        </p:txBody>
      </p:sp>
      <p:sp>
        <p:nvSpPr>
          <p:cNvPr id="9" name="Text 7"/>
          <p:cNvSpPr/>
          <p:nvPr/>
        </p:nvSpPr>
        <p:spPr>
          <a:xfrm>
            <a:off x="667512" y="2615184"/>
            <a:ext cx="3474720" cy="256032"/>
          </a:xfrm>
          <a:prstGeom prst="rect">
            <a:avLst/>
          </a:prstGeom>
          <a:noFill/>
          <a:ln/>
        </p:spPr>
        <p:txBody>
          <a:bodyPr wrap="square" lIns="0" tIns="0" rIns="0" bIns="0" rtlCol="0" anchor="ctr"/>
          <a:lstStyle/>
          <a:p>
            <a:pPr marL="0" indent="0">
              <a:buNone/>
            </a:pPr>
            <a:r>
              <a:rPr lang="en-US" sz="950" dirty="0">
                <a:solidFill>
                  <a:srgbClr val="F9C74F"/>
                </a:solidFill>
                <a:latin typeface="Courier New" pitchFamily="34" charset="0"/>
                <a:ea typeface="Courier New" pitchFamily="34" charset="-122"/>
                <a:cs typeface="Courier New" pitchFamily="34" charset="-120"/>
              </a:rPr>
              <a:t>"Calcula Bray-Curtis entre muestras"</a:t>
            </a:r>
            <a:endParaRPr lang="en-US" sz="950" dirty="0"/>
          </a:p>
        </p:txBody>
      </p:sp>
      <p:sp>
        <p:nvSpPr>
          <p:cNvPr id="10" name="Text 8"/>
          <p:cNvSpPr/>
          <p:nvPr/>
        </p:nvSpPr>
        <p:spPr>
          <a:xfrm>
            <a:off x="530352" y="3218688"/>
            <a:ext cx="3749040" cy="960120"/>
          </a:xfrm>
          <a:prstGeom prst="rect">
            <a:avLst/>
          </a:prstGeom>
          <a:noFill/>
          <a:ln/>
        </p:spPr>
        <p:txBody>
          <a:bodyPr wrap="square" lIns="0" tIns="0" rIns="0" bIns="0" rtlCol="0" anchor="ctr"/>
          <a:lstStyle/>
          <a:p>
            <a:pPr marL="0" indent="0">
              <a:buNone/>
            </a:pPr>
            <a:r>
              <a:rPr lang="en-US" sz="1100" dirty="0">
                <a:solidFill>
                  <a:srgbClr val="5F5E5A"/>
                </a:solidFill>
                <a:latin typeface="Calibri" pitchFamily="34" charset="0"/>
                <a:ea typeface="Calibri" pitchFamily="34" charset="-122"/>
                <a:cs typeface="Calibri" pitchFamily="34" charset="-120"/>
              </a:rPr>
              <a:t>Prompt: ~8 tokens</a:t>
            </a:r>
            <a:endParaRPr lang="en-US" sz="1100" dirty="0"/>
          </a:p>
          <a:p>
            <a:pPr marL="0" indent="0">
              <a:buNone/>
            </a:pPr>
            <a:r>
              <a:rPr lang="en-US" sz="1100" dirty="0">
                <a:solidFill>
                  <a:srgbClr val="5F5E5A"/>
                </a:solidFill>
                <a:latin typeface="Calibri" pitchFamily="34" charset="0"/>
                <a:ea typeface="Calibri" pitchFamily="34" charset="-122"/>
                <a:cs typeface="Calibri" pitchFamily="34" charset="-120"/>
              </a:rPr>
              <a:t>Datos en contexto: ~4.000 tokens</a:t>
            </a:r>
            <a:endParaRPr lang="en-US" sz="1100" dirty="0"/>
          </a:p>
          <a:p>
            <a:pPr marL="0" indent="0">
              <a:buNone/>
            </a:pPr>
            <a:endParaRPr lang="en-US" sz="1100" dirty="0"/>
          </a:p>
          <a:p>
            <a:pPr marL="0" indent="0">
              <a:buNone/>
            </a:pPr>
            <a:r>
              <a:rPr lang="en-US" sz="1100" dirty="0">
                <a:solidFill>
                  <a:srgbClr val="5F5E5A"/>
                </a:solidFill>
                <a:latin typeface="Calibri" pitchFamily="34" charset="0"/>
                <a:ea typeface="Calibri" pitchFamily="34" charset="-122"/>
                <a:cs typeface="Calibri" pitchFamily="34" charset="-120"/>
              </a:rPr>
              <a:t>Total: ~4.008 tokens</a:t>
            </a:r>
            <a:endParaRPr lang="en-US" sz="1100" dirty="0"/>
          </a:p>
        </p:txBody>
      </p:sp>
      <p:sp>
        <p:nvSpPr>
          <p:cNvPr id="11" name="Shape 9"/>
          <p:cNvSpPr/>
          <p:nvPr/>
        </p:nvSpPr>
        <p:spPr>
          <a:xfrm>
            <a:off x="502920" y="4251960"/>
            <a:ext cx="3794760" cy="685800"/>
          </a:xfrm>
          <a:prstGeom prst="roundRect">
            <a:avLst>
              <a:gd name="adj" fmla="val 10667"/>
            </a:avLst>
          </a:prstGeom>
          <a:solidFill>
            <a:srgbClr val="E1F5EE"/>
          </a:solidFill>
          <a:ln w="6350">
            <a:solidFill>
              <a:srgbClr val="1D9E75"/>
            </a:solidFill>
            <a:prstDash val="solid"/>
          </a:ln>
        </p:spPr>
        <p:txBody>
          <a:bodyPr/>
          <a:lstStyle/>
          <a:p>
            <a:endParaRPr lang="es-ES_tradnl"/>
          </a:p>
        </p:txBody>
      </p:sp>
      <p:sp>
        <p:nvSpPr>
          <p:cNvPr id="12" name="Text 10"/>
          <p:cNvSpPr/>
          <p:nvPr/>
        </p:nvSpPr>
        <p:spPr>
          <a:xfrm>
            <a:off x="658368" y="4370832"/>
            <a:ext cx="3474720" cy="475488"/>
          </a:xfrm>
          <a:prstGeom prst="rect">
            <a:avLst/>
          </a:prstGeom>
          <a:noFill/>
          <a:ln/>
        </p:spPr>
        <p:txBody>
          <a:bodyPr wrap="square" lIns="0" tIns="0" rIns="0" bIns="0" rtlCol="0" anchor="ctr"/>
          <a:lstStyle/>
          <a:p>
            <a:pPr marL="0" indent="0">
              <a:buNone/>
            </a:pPr>
            <a:r>
              <a:rPr lang="en-US" sz="1000" dirty="0">
                <a:solidFill>
                  <a:srgbClr val="0F6E56"/>
                </a:solidFill>
                <a:latin typeface="Calibri" pitchFamily="34" charset="0"/>
                <a:ea typeface="Calibri" pitchFamily="34" charset="-122"/>
                <a:cs typeface="Calibri" pitchFamily="34" charset="-120"/>
              </a:rPr>
              <a:t>✅  Una sesión de trabajo normal</a:t>
            </a:r>
            <a:endParaRPr lang="en-US" sz="1000" dirty="0"/>
          </a:p>
        </p:txBody>
      </p:sp>
      <p:sp>
        <p:nvSpPr>
          <p:cNvPr id="13" name="Shape 11"/>
          <p:cNvSpPr/>
          <p:nvPr/>
        </p:nvSpPr>
        <p:spPr>
          <a:xfrm>
            <a:off x="4663440" y="1965960"/>
            <a:ext cx="4114800" cy="3200400"/>
          </a:xfrm>
          <a:prstGeom prst="roundRect">
            <a:avLst>
              <a:gd name="adj" fmla="val 2857"/>
            </a:avLst>
          </a:prstGeom>
          <a:solidFill>
            <a:srgbClr val="FFFFFF"/>
          </a:solidFill>
          <a:ln w="6350">
            <a:solidFill>
              <a:srgbClr val="D3D1C7"/>
            </a:solidFill>
            <a:prstDash val="solid"/>
          </a:ln>
          <a:effectLst>
            <a:outerShdw blurRad="88900" dist="25400" dir="2700000" algn="bl" rotWithShape="0">
              <a:srgbClr val="000000">
                <a:alpha val="11000"/>
              </a:srgbClr>
            </a:outerShdw>
          </a:effectLst>
        </p:spPr>
        <p:txBody>
          <a:bodyPr/>
          <a:lstStyle/>
          <a:p>
            <a:endParaRPr lang="es-ES_tradnl"/>
          </a:p>
        </p:txBody>
      </p:sp>
      <p:sp>
        <p:nvSpPr>
          <p:cNvPr id="14" name="Text 12"/>
          <p:cNvSpPr/>
          <p:nvPr/>
        </p:nvSpPr>
        <p:spPr>
          <a:xfrm>
            <a:off x="4828032" y="2057400"/>
            <a:ext cx="3749040" cy="347472"/>
          </a:xfrm>
          <a:prstGeom prst="rect">
            <a:avLst/>
          </a:prstGeom>
          <a:noFill/>
          <a:ln/>
        </p:spPr>
        <p:txBody>
          <a:bodyPr wrap="square" lIns="0" tIns="0" rIns="0" bIns="0" rtlCol="0" anchor="ctr"/>
          <a:lstStyle/>
          <a:p>
            <a:pPr marL="0" indent="0">
              <a:buNone/>
            </a:pPr>
            <a:r>
              <a:rPr lang="en-US" sz="1100" b="1" dirty="0">
                <a:solidFill>
                  <a:srgbClr val="C0392B"/>
                </a:solidFill>
                <a:latin typeface="Calibri" pitchFamily="34" charset="0"/>
                <a:ea typeface="Calibri" pitchFamily="34" charset="-122"/>
                <a:cs typeface="Calibri" pitchFamily="34" charset="-120"/>
              </a:rPr>
              <a:t>🔴  Análisis multicapa</a:t>
            </a:r>
            <a:endParaRPr lang="en-US" sz="1100" dirty="0"/>
          </a:p>
        </p:txBody>
      </p:sp>
      <p:sp>
        <p:nvSpPr>
          <p:cNvPr id="15" name="Shape 13"/>
          <p:cNvSpPr/>
          <p:nvPr/>
        </p:nvSpPr>
        <p:spPr>
          <a:xfrm>
            <a:off x="4800600" y="2487168"/>
            <a:ext cx="3794760" cy="1188720"/>
          </a:xfrm>
          <a:prstGeom prst="roundRect">
            <a:avLst>
              <a:gd name="adj" fmla="val 7692"/>
            </a:avLst>
          </a:prstGeom>
          <a:solidFill>
            <a:srgbClr val="1E1E2E"/>
          </a:solidFill>
          <a:ln w="6350">
            <a:solidFill>
              <a:srgbClr val="2A2A4A"/>
            </a:solidFill>
            <a:prstDash val="solid"/>
          </a:ln>
        </p:spPr>
        <p:txBody>
          <a:bodyPr/>
          <a:lstStyle/>
          <a:p>
            <a:endParaRPr lang="es-ES_tradnl"/>
          </a:p>
        </p:txBody>
      </p:sp>
      <p:sp>
        <p:nvSpPr>
          <p:cNvPr id="16" name="Text 14"/>
          <p:cNvSpPr/>
          <p:nvPr/>
        </p:nvSpPr>
        <p:spPr>
          <a:xfrm>
            <a:off x="4965192" y="2615184"/>
            <a:ext cx="3474720" cy="256032"/>
          </a:xfrm>
          <a:prstGeom prst="rect">
            <a:avLst/>
          </a:prstGeom>
          <a:noFill/>
          <a:ln/>
        </p:spPr>
        <p:txBody>
          <a:bodyPr wrap="square" lIns="0" tIns="0" rIns="0" bIns="0" rtlCol="0" anchor="ctr"/>
          <a:lstStyle/>
          <a:p>
            <a:pPr marL="0" indent="0">
              <a:buNone/>
            </a:pPr>
            <a:r>
              <a:rPr lang="en-US" sz="950" dirty="0">
                <a:solidFill>
                  <a:srgbClr val="F9C74F"/>
                </a:solidFill>
                <a:latin typeface="Courier New" pitchFamily="34" charset="0"/>
                <a:ea typeface="Courier New" pitchFamily="34" charset="-122"/>
                <a:cs typeface="Courier New" pitchFamily="34" charset="-120"/>
              </a:rPr>
              <a:t>"Calcula Bray-Curtis sobre abundancias.tsv</a:t>
            </a:r>
            <a:endParaRPr lang="en-US" sz="950" dirty="0"/>
          </a:p>
        </p:txBody>
      </p:sp>
      <p:sp>
        <p:nvSpPr>
          <p:cNvPr id="17" name="Text 15"/>
          <p:cNvSpPr/>
          <p:nvPr/>
        </p:nvSpPr>
        <p:spPr>
          <a:xfrm>
            <a:off x="4965192" y="2889504"/>
            <a:ext cx="3474720" cy="256032"/>
          </a:xfrm>
          <a:prstGeom prst="rect">
            <a:avLst/>
          </a:prstGeom>
          <a:noFill/>
          <a:ln/>
        </p:spPr>
        <p:txBody>
          <a:bodyPr wrap="square" lIns="0" tIns="0" rIns="0" bIns="0" rtlCol="0" anchor="ctr"/>
          <a:lstStyle/>
          <a:p>
            <a:pPr marL="0" indent="0">
              <a:buNone/>
            </a:pPr>
            <a:r>
              <a:rPr lang="en-US" sz="950" dirty="0">
                <a:solidFill>
                  <a:srgbClr val="F9C74F"/>
                </a:solidFill>
                <a:latin typeface="Courier New" pitchFamily="34" charset="0"/>
                <a:ea typeface="Courier New" pitchFamily="34" charset="-122"/>
                <a:cs typeface="Courier New" pitchFamily="34" charset="-120"/>
              </a:rPr>
              <a:t>normalizado por rarefacción, ponderado por</a:t>
            </a:r>
            <a:endParaRPr lang="en-US" sz="950" dirty="0"/>
          </a:p>
        </p:txBody>
      </p:sp>
      <p:sp>
        <p:nvSpPr>
          <p:cNvPr id="18" name="Text 16"/>
          <p:cNvSpPr/>
          <p:nvPr/>
        </p:nvSpPr>
        <p:spPr>
          <a:xfrm>
            <a:off x="4965192" y="3163824"/>
            <a:ext cx="3474720" cy="256032"/>
          </a:xfrm>
          <a:prstGeom prst="rect">
            <a:avLst/>
          </a:prstGeom>
          <a:noFill/>
          <a:ln/>
        </p:spPr>
        <p:txBody>
          <a:bodyPr wrap="square" lIns="0" tIns="0" rIns="0" bIns="0" rtlCol="0" anchor="ctr"/>
          <a:lstStyle/>
          <a:p>
            <a:pPr marL="0" indent="0">
              <a:buNone/>
            </a:pPr>
            <a:r>
              <a:rPr lang="en-US" sz="950" dirty="0">
                <a:solidFill>
                  <a:srgbClr val="F9C74F"/>
                </a:solidFill>
                <a:latin typeface="Courier New" pitchFamily="34" charset="0"/>
                <a:ea typeface="Courier New" pitchFamily="34" charset="-122"/>
                <a:cs typeface="Courier New" pitchFamily="34" charset="-120"/>
              </a:rPr>
              <a:t>filogenia, con covariables de pH, temperatura</a:t>
            </a:r>
            <a:endParaRPr lang="en-US" sz="950" dirty="0"/>
          </a:p>
        </p:txBody>
      </p:sp>
      <p:sp>
        <p:nvSpPr>
          <p:cNvPr id="19" name="Text 17"/>
          <p:cNvSpPr/>
          <p:nvPr/>
        </p:nvSpPr>
        <p:spPr>
          <a:xfrm>
            <a:off x="4965192" y="3438144"/>
            <a:ext cx="3474720" cy="256032"/>
          </a:xfrm>
          <a:prstGeom prst="rect">
            <a:avLst/>
          </a:prstGeom>
          <a:noFill/>
          <a:ln/>
        </p:spPr>
        <p:txBody>
          <a:bodyPr wrap="square" lIns="0" tIns="0" rIns="0" bIns="0" rtlCol="0" anchor="ctr"/>
          <a:lstStyle/>
          <a:p>
            <a:pPr marL="0" indent="0">
              <a:buNone/>
            </a:pPr>
            <a:r>
              <a:rPr lang="en-US" sz="950" dirty="0">
                <a:solidFill>
                  <a:srgbClr val="F9C74F"/>
                </a:solidFill>
                <a:latin typeface="Courier New" pitchFamily="34" charset="0"/>
                <a:ea typeface="Courier New" pitchFamily="34" charset="-122"/>
                <a:cs typeface="Courier New" pitchFamily="34" charset="-120"/>
              </a:rPr>
              <a:t>y humedad de metadata.tsv, filtra OTU &gt;10%"</a:t>
            </a:r>
            <a:endParaRPr lang="en-US" sz="950" dirty="0"/>
          </a:p>
        </p:txBody>
      </p:sp>
      <p:sp>
        <p:nvSpPr>
          <p:cNvPr id="20" name="Text 18"/>
          <p:cNvSpPr/>
          <p:nvPr/>
        </p:nvSpPr>
        <p:spPr>
          <a:xfrm>
            <a:off x="4828032" y="3767328"/>
            <a:ext cx="3749040" cy="914400"/>
          </a:xfrm>
          <a:prstGeom prst="rect">
            <a:avLst/>
          </a:prstGeom>
          <a:noFill/>
          <a:ln/>
        </p:spPr>
        <p:txBody>
          <a:bodyPr wrap="square" lIns="0" tIns="0" rIns="0" bIns="0" rtlCol="0" anchor="ctr"/>
          <a:lstStyle/>
          <a:p>
            <a:pPr marL="0" indent="0">
              <a:buNone/>
            </a:pPr>
            <a:r>
              <a:rPr lang="en-US" sz="1100" dirty="0">
                <a:solidFill>
                  <a:srgbClr val="5F5E5A"/>
                </a:solidFill>
                <a:latin typeface="Calibri" pitchFamily="34" charset="0"/>
                <a:ea typeface="Calibri" pitchFamily="34" charset="-122"/>
                <a:cs typeface="Calibri" pitchFamily="34" charset="-120"/>
              </a:rPr>
              <a:t>Prompt: ~55 tokens</a:t>
            </a:r>
            <a:endParaRPr lang="en-US" sz="1100" dirty="0"/>
          </a:p>
          <a:p>
            <a:pPr marL="0" indent="0">
              <a:buNone/>
            </a:pPr>
            <a:r>
              <a:rPr lang="en-US" sz="1100" dirty="0">
                <a:solidFill>
                  <a:srgbClr val="5F5E5A"/>
                </a:solidFill>
                <a:latin typeface="Calibri" pitchFamily="34" charset="0"/>
                <a:ea typeface="Calibri" pitchFamily="34" charset="-122"/>
                <a:cs typeface="Calibri" pitchFamily="34" charset="-120"/>
              </a:rPr>
              <a:t>Datos en contexto: ~4.000 tokens</a:t>
            </a:r>
            <a:endParaRPr lang="en-US" sz="1100" dirty="0"/>
          </a:p>
          <a:p>
            <a:pPr marL="0" indent="0">
              <a:buNone/>
            </a:pPr>
            <a:r>
              <a:rPr lang="en-US" sz="1100" dirty="0">
                <a:solidFill>
                  <a:srgbClr val="5F5E5A"/>
                </a:solidFill>
                <a:latin typeface="Calibri" pitchFamily="34" charset="0"/>
                <a:ea typeface="Calibri" pitchFamily="34" charset="-122"/>
                <a:cs typeface="Calibri" pitchFamily="34" charset="-120"/>
              </a:rPr>
              <a:t>Metadata + filogenia: ~8.000 tokens</a:t>
            </a:r>
            <a:endParaRPr lang="en-US" sz="1100" dirty="0"/>
          </a:p>
          <a:p>
            <a:pPr marL="0" indent="0">
              <a:buNone/>
            </a:pPr>
            <a:endParaRPr lang="en-US" sz="1100" dirty="0"/>
          </a:p>
          <a:p>
            <a:pPr marL="0" indent="0">
              <a:buNone/>
            </a:pPr>
            <a:r>
              <a:rPr lang="en-US" sz="1100" dirty="0">
                <a:solidFill>
                  <a:srgbClr val="5F5E5A"/>
                </a:solidFill>
                <a:latin typeface="Calibri" pitchFamily="34" charset="0"/>
                <a:ea typeface="Calibri" pitchFamily="34" charset="-122"/>
                <a:cs typeface="Calibri" pitchFamily="34" charset="-120"/>
              </a:rPr>
              <a:t>Total: ~12.055 tokens</a:t>
            </a:r>
            <a:endParaRPr lang="en-US" sz="1100" dirty="0"/>
          </a:p>
        </p:txBody>
      </p:sp>
      <p:sp>
        <p:nvSpPr>
          <p:cNvPr id="21" name="Shape 19"/>
          <p:cNvSpPr/>
          <p:nvPr/>
        </p:nvSpPr>
        <p:spPr>
          <a:xfrm>
            <a:off x="4800600" y="4736592"/>
            <a:ext cx="3794760" cy="475488"/>
          </a:xfrm>
          <a:prstGeom prst="roundRect">
            <a:avLst>
              <a:gd name="adj" fmla="val 15385"/>
            </a:avLst>
          </a:prstGeom>
          <a:solidFill>
            <a:srgbClr val="FCEBEB"/>
          </a:solidFill>
          <a:ln w="6350">
            <a:solidFill>
              <a:srgbClr val="FFBBBB"/>
            </a:solidFill>
            <a:prstDash val="solid"/>
          </a:ln>
        </p:spPr>
        <p:txBody>
          <a:bodyPr/>
          <a:lstStyle/>
          <a:p>
            <a:endParaRPr lang="es-ES_tradnl"/>
          </a:p>
        </p:txBody>
      </p:sp>
      <p:sp>
        <p:nvSpPr>
          <p:cNvPr id="22" name="Text 20"/>
          <p:cNvSpPr/>
          <p:nvPr/>
        </p:nvSpPr>
        <p:spPr>
          <a:xfrm>
            <a:off x="4956048" y="4809744"/>
            <a:ext cx="3474720" cy="347472"/>
          </a:xfrm>
          <a:prstGeom prst="rect">
            <a:avLst/>
          </a:prstGeom>
          <a:noFill/>
          <a:ln/>
        </p:spPr>
        <p:txBody>
          <a:bodyPr wrap="square" lIns="0" tIns="0" rIns="0" bIns="0" rtlCol="0" anchor="ctr"/>
          <a:lstStyle/>
          <a:p>
            <a:pPr marL="0" indent="0">
              <a:buNone/>
            </a:pPr>
            <a:r>
              <a:rPr lang="en-US" sz="1000" dirty="0">
                <a:solidFill>
                  <a:srgbClr val="C0392B"/>
                </a:solidFill>
                <a:latin typeface="Calibri" pitchFamily="34" charset="0"/>
                <a:ea typeface="Calibri" pitchFamily="34" charset="-122"/>
                <a:cs typeface="Calibri" pitchFamily="34" charset="-120"/>
              </a:rPr>
              <a:t>⚠️  Consume 3× más — planifica qué incluyes</a:t>
            </a:r>
            <a:endParaRPr lang="en-US" sz="10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8">
    <p:bg>
      <p:bgPr>
        <a:solidFill>
          <a:srgbClr val="F8F8F6"/>
        </a:solidFill>
        <a:effectLst/>
      </p:bgPr>
    </p:bg>
    <p:spTree>
      <p:nvGrpSpPr>
        <p:cNvPr id="1" name=""/>
        <p:cNvGrpSpPr/>
        <p:nvPr/>
      </p:nvGrpSpPr>
      <p:grpSpPr>
        <a:xfrm>
          <a:off x="0" y="0"/>
          <a:ext cx="0" cy="0"/>
          <a:chOff x="0" y="0"/>
          <a:chExt cx="0" cy="0"/>
        </a:xfrm>
      </p:grpSpPr>
      <p:sp>
        <p:nvSpPr>
          <p:cNvPr id="2" name="Text 0"/>
          <p:cNvSpPr/>
          <p:nvPr/>
        </p:nvSpPr>
        <p:spPr>
          <a:xfrm>
            <a:off x="457200" y="256032"/>
            <a:ext cx="8229600" cy="566928"/>
          </a:xfrm>
          <a:prstGeom prst="rect">
            <a:avLst/>
          </a:prstGeom>
          <a:noFill/>
          <a:ln/>
        </p:spPr>
        <p:txBody>
          <a:bodyPr wrap="square" lIns="0" tIns="0" rIns="0" bIns="0" rtlCol="0" anchor="ctr"/>
          <a:lstStyle/>
          <a:p>
            <a:pPr marL="0" indent="0">
              <a:buNone/>
            </a:pPr>
            <a:r>
              <a:rPr lang="en-US" sz="2700" b="1" dirty="0">
                <a:solidFill>
                  <a:srgbClr val="2C2C2A"/>
                </a:solidFill>
                <a:latin typeface="Cambria" pitchFamily="34" charset="0"/>
                <a:ea typeface="Cambria" pitchFamily="34" charset="-122"/>
                <a:cs typeface="Cambria" pitchFamily="34" charset="-120"/>
              </a:rPr>
              <a:t>Economizar tokens: tu cuenta Claude Pro</a:t>
            </a:r>
            <a:endParaRPr lang="en-US" sz="2700" dirty="0"/>
          </a:p>
        </p:txBody>
      </p:sp>
      <p:sp>
        <p:nvSpPr>
          <p:cNvPr id="3" name="Text 1"/>
          <p:cNvSpPr/>
          <p:nvPr/>
        </p:nvSpPr>
        <p:spPr>
          <a:xfrm>
            <a:off x="457200" y="822960"/>
            <a:ext cx="8229600" cy="320040"/>
          </a:xfrm>
          <a:prstGeom prst="rect">
            <a:avLst/>
          </a:prstGeom>
          <a:noFill/>
          <a:ln/>
        </p:spPr>
        <p:txBody>
          <a:bodyPr wrap="square" lIns="0" tIns="0" rIns="0" bIns="0" rtlCol="0" anchor="ctr"/>
          <a:lstStyle/>
          <a:p>
            <a:pPr marL="0" indent="0">
              <a:buNone/>
            </a:pPr>
            <a:r>
              <a:rPr lang="en-US" sz="1300" i="1" dirty="0">
                <a:solidFill>
                  <a:srgbClr val="5F5E5A"/>
                </a:solidFill>
                <a:latin typeface="Calibri" pitchFamily="34" charset="0"/>
                <a:ea typeface="Calibri" pitchFamily="34" charset="-122"/>
                <a:cs typeface="Calibri" pitchFamily="34" charset="-120"/>
              </a:rPr>
              <a:t>Cuánto tienes, cuándo se reinicia y cómo sacarle el máximo</a:t>
            </a:r>
            <a:endParaRPr lang="en-US" sz="1300" dirty="0"/>
          </a:p>
        </p:txBody>
      </p:sp>
      <p:sp>
        <p:nvSpPr>
          <p:cNvPr id="4" name="Shape 2"/>
          <p:cNvSpPr/>
          <p:nvPr/>
        </p:nvSpPr>
        <p:spPr>
          <a:xfrm>
            <a:off x="365760" y="1261872"/>
            <a:ext cx="8412480" cy="960120"/>
          </a:xfrm>
          <a:prstGeom prst="roundRect">
            <a:avLst>
              <a:gd name="adj" fmla="val 11429"/>
            </a:avLst>
          </a:prstGeom>
          <a:solidFill>
            <a:srgbClr val="1A1A2E"/>
          </a:solidFill>
          <a:ln w="10160">
            <a:solidFill>
              <a:srgbClr val="7B74D4"/>
            </a:solidFill>
            <a:prstDash val="solid"/>
          </a:ln>
        </p:spPr>
        <p:txBody>
          <a:bodyPr/>
          <a:lstStyle/>
          <a:p>
            <a:endParaRPr lang="es-ES_tradnl"/>
          </a:p>
        </p:txBody>
      </p:sp>
      <p:sp>
        <p:nvSpPr>
          <p:cNvPr id="5" name="Text 3"/>
          <p:cNvSpPr/>
          <p:nvPr/>
        </p:nvSpPr>
        <p:spPr>
          <a:xfrm>
            <a:off x="594360" y="1335024"/>
            <a:ext cx="5029200" cy="320040"/>
          </a:xfrm>
          <a:prstGeom prst="rect">
            <a:avLst/>
          </a:prstGeom>
          <a:noFill/>
          <a:ln/>
        </p:spPr>
        <p:txBody>
          <a:bodyPr wrap="square" lIns="0" tIns="0" rIns="0" bIns="0" rtlCol="0" anchor="ctr"/>
          <a:lstStyle/>
          <a:p>
            <a:pPr marL="0" indent="0">
              <a:buNone/>
            </a:pPr>
            <a:r>
              <a:rPr lang="en-US" sz="1100" b="1" dirty="0">
                <a:solidFill>
                  <a:srgbClr val="7B74D4"/>
                </a:solidFill>
                <a:latin typeface="Calibri" pitchFamily="34" charset="0"/>
                <a:ea typeface="Calibri" pitchFamily="34" charset="-122"/>
                <a:cs typeface="Calibri" pitchFamily="34" charset="-120"/>
              </a:rPr>
              <a:t>Tu cuenta Claude Code Pro</a:t>
            </a:r>
            <a:endParaRPr lang="en-US" sz="1100" dirty="0"/>
          </a:p>
        </p:txBody>
      </p:sp>
      <p:sp>
        <p:nvSpPr>
          <p:cNvPr id="6" name="Text 4"/>
          <p:cNvSpPr/>
          <p:nvPr/>
        </p:nvSpPr>
        <p:spPr>
          <a:xfrm>
            <a:off x="594360" y="1664208"/>
            <a:ext cx="7955280" cy="475488"/>
          </a:xfrm>
          <a:prstGeom prst="rect">
            <a:avLst/>
          </a:prstGeom>
          <a:noFill/>
          <a:ln/>
        </p:spPr>
        <p:txBody>
          <a:bodyPr wrap="square" lIns="0" tIns="0" rIns="0" bIns="0" rtlCol="0" anchor="ctr"/>
          <a:lstStyle/>
          <a:p>
            <a:pPr marL="0" indent="0">
              <a:buNone/>
            </a:pPr>
            <a:r>
              <a:rPr lang="en-US" sz="1050" dirty="0">
                <a:solidFill>
                  <a:srgbClr val="FFFFFF"/>
                </a:solidFill>
                <a:latin typeface="Calibri" pitchFamily="34" charset="0"/>
                <a:ea typeface="Calibri" pitchFamily="34" charset="-122"/>
                <a:cs typeface="Calibri" pitchFamily="34" charset="-120"/>
              </a:rPr>
              <a:t>Límite de uso que se reinicia automáticamente cada ~5 horas  ·  Sin límite de sesiones, pero con límite de tokens por ventana  ·  Modelos Sonnet y Opus disponibles con /model</a:t>
            </a:r>
            <a:endParaRPr lang="en-US" sz="1050" dirty="0"/>
          </a:p>
        </p:txBody>
      </p:sp>
      <p:sp>
        <p:nvSpPr>
          <p:cNvPr id="7" name="Shape 5"/>
          <p:cNvSpPr/>
          <p:nvPr/>
        </p:nvSpPr>
        <p:spPr>
          <a:xfrm>
            <a:off x="320040" y="2359152"/>
            <a:ext cx="2834640" cy="1280160"/>
          </a:xfrm>
          <a:prstGeom prst="roundRect">
            <a:avLst>
              <a:gd name="adj" fmla="val 7143"/>
            </a:avLst>
          </a:prstGeom>
          <a:solidFill>
            <a:srgbClr val="FFFFFF"/>
          </a:solidFill>
          <a:ln w="6350">
            <a:solidFill>
              <a:srgbClr val="D3D1C7"/>
            </a:solidFill>
            <a:prstDash val="solid"/>
          </a:ln>
          <a:effectLst>
            <a:outerShdw blurRad="88900" dist="25400" dir="2700000" algn="bl" rotWithShape="0">
              <a:srgbClr val="000000">
                <a:alpha val="11000"/>
              </a:srgbClr>
            </a:outerShdw>
          </a:effectLst>
        </p:spPr>
        <p:txBody>
          <a:bodyPr/>
          <a:lstStyle/>
          <a:p>
            <a:endParaRPr lang="es-ES_tradnl"/>
          </a:p>
        </p:txBody>
      </p:sp>
      <p:sp>
        <p:nvSpPr>
          <p:cNvPr id="8" name="Shape 6"/>
          <p:cNvSpPr/>
          <p:nvPr/>
        </p:nvSpPr>
        <p:spPr>
          <a:xfrm>
            <a:off x="320040" y="2359152"/>
            <a:ext cx="457200" cy="1280160"/>
          </a:xfrm>
          <a:prstGeom prst="roundRect">
            <a:avLst>
              <a:gd name="adj" fmla="val 20000"/>
            </a:avLst>
          </a:prstGeom>
          <a:solidFill>
            <a:srgbClr val="1D9E75"/>
          </a:solidFill>
          <a:ln w="12700">
            <a:solidFill>
              <a:srgbClr val="1D9E75"/>
            </a:solidFill>
            <a:prstDash val="solid"/>
          </a:ln>
        </p:spPr>
        <p:txBody>
          <a:bodyPr/>
          <a:lstStyle/>
          <a:p>
            <a:endParaRPr lang="es-ES_tradnl"/>
          </a:p>
        </p:txBody>
      </p:sp>
      <p:sp>
        <p:nvSpPr>
          <p:cNvPr id="9" name="Text 7"/>
          <p:cNvSpPr/>
          <p:nvPr/>
        </p:nvSpPr>
        <p:spPr>
          <a:xfrm>
            <a:off x="320040" y="2359152"/>
            <a:ext cx="457200" cy="1280160"/>
          </a:xfrm>
          <a:prstGeom prst="rect">
            <a:avLst/>
          </a:prstGeom>
          <a:noFill/>
          <a:ln/>
        </p:spPr>
        <p:txBody>
          <a:bodyPr wrap="square" lIns="0" tIns="0" rIns="0" bIns="0" rtlCol="0" anchor="ctr"/>
          <a:lstStyle/>
          <a:p>
            <a:pPr marL="0" indent="0" algn="ctr">
              <a:buNone/>
            </a:pPr>
            <a:r>
              <a:rPr lang="en-US" sz="1300" b="1" dirty="0">
                <a:solidFill>
                  <a:srgbClr val="FFFFFF"/>
                </a:solidFill>
                <a:latin typeface="Cambria" pitchFamily="34" charset="0"/>
                <a:ea typeface="Cambria" pitchFamily="34" charset="-122"/>
                <a:cs typeface="Cambria" pitchFamily="34" charset="-120"/>
              </a:rPr>
              <a:t>01</a:t>
            </a:r>
            <a:endParaRPr lang="en-US" sz="1300" dirty="0"/>
          </a:p>
        </p:txBody>
      </p:sp>
      <p:sp>
        <p:nvSpPr>
          <p:cNvPr id="10" name="Text 8"/>
          <p:cNvSpPr/>
          <p:nvPr/>
        </p:nvSpPr>
        <p:spPr>
          <a:xfrm>
            <a:off x="886968" y="2450592"/>
            <a:ext cx="2148840" cy="347472"/>
          </a:xfrm>
          <a:prstGeom prst="rect">
            <a:avLst/>
          </a:prstGeom>
          <a:noFill/>
          <a:ln/>
        </p:spPr>
        <p:txBody>
          <a:bodyPr wrap="square" lIns="0" tIns="0" rIns="0" bIns="0" rtlCol="0" anchor="ctr"/>
          <a:lstStyle/>
          <a:p>
            <a:pPr marL="0" indent="0">
              <a:buNone/>
            </a:pPr>
            <a:r>
              <a:rPr lang="en-US" sz="1000" b="1" dirty="0">
                <a:solidFill>
                  <a:srgbClr val="1D9E75"/>
                </a:solidFill>
                <a:latin typeface="Calibri" pitchFamily="34" charset="0"/>
                <a:ea typeface="Calibri" pitchFamily="34" charset="-122"/>
                <a:cs typeface="Calibri" pitchFamily="34" charset="-120"/>
              </a:rPr>
              <a:t>Un proyecto por sesión</a:t>
            </a:r>
            <a:endParaRPr lang="en-US" sz="1000" dirty="0"/>
          </a:p>
        </p:txBody>
      </p:sp>
      <p:sp>
        <p:nvSpPr>
          <p:cNvPr id="11" name="Text 9"/>
          <p:cNvSpPr/>
          <p:nvPr/>
        </p:nvSpPr>
        <p:spPr>
          <a:xfrm>
            <a:off x="886968" y="2834640"/>
            <a:ext cx="2148840" cy="731520"/>
          </a:xfrm>
          <a:prstGeom prst="rect">
            <a:avLst/>
          </a:prstGeom>
          <a:noFill/>
          <a:ln/>
        </p:spPr>
        <p:txBody>
          <a:bodyPr wrap="square" lIns="0" tIns="0" rIns="0" bIns="0" rtlCol="0" anchor="ctr"/>
          <a:lstStyle/>
          <a:p>
            <a:pPr marL="0" indent="0">
              <a:buNone/>
            </a:pPr>
            <a:r>
              <a:rPr lang="en-US" sz="950" dirty="0">
                <a:solidFill>
                  <a:srgbClr val="5F5E5A"/>
                </a:solidFill>
                <a:latin typeface="Calibri" pitchFamily="34" charset="0"/>
                <a:ea typeface="Calibri" pitchFamily="34" charset="-122"/>
                <a:cs typeface="Calibri" pitchFamily="34" charset="-120"/>
              </a:rPr>
              <a:t>Nunca mezcles dos análisis en la misma sesión. Si necesitas cambiar de proyecto, usa /clear primero.</a:t>
            </a:r>
            <a:endParaRPr lang="en-US" sz="950" dirty="0"/>
          </a:p>
        </p:txBody>
      </p:sp>
      <p:sp>
        <p:nvSpPr>
          <p:cNvPr id="12" name="Shape 10"/>
          <p:cNvSpPr/>
          <p:nvPr/>
        </p:nvSpPr>
        <p:spPr>
          <a:xfrm>
            <a:off x="3291840" y="2359152"/>
            <a:ext cx="2834640" cy="1280160"/>
          </a:xfrm>
          <a:prstGeom prst="roundRect">
            <a:avLst>
              <a:gd name="adj" fmla="val 7143"/>
            </a:avLst>
          </a:prstGeom>
          <a:solidFill>
            <a:srgbClr val="FFFFFF"/>
          </a:solidFill>
          <a:ln w="6350">
            <a:solidFill>
              <a:srgbClr val="D3D1C7"/>
            </a:solidFill>
            <a:prstDash val="solid"/>
          </a:ln>
          <a:effectLst>
            <a:outerShdw blurRad="88900" dist="25400" dir="2700000" algn="bl" rotWithShape="0">
              <a:srgbClr val="000000">
                <a:alpha val="11000"/>
              </a:srgbClr>
            </a:outerShdw>
          </a:effectLst>
        </p:spPr>
        <p:txBody>
          <a:bodyPr/>
          <a:lstStyle/>
          <a:p>
            <a:endParaRPr lang="es-ES_tradnl"/>
          </a:p>
        </p:txBody>
      </p:sp>
      <p:sp>
        <p:nvSpPr>
          <p:cNvPr id="13" name="Shape 11"/>
          <p:cNvSpPr/>
          <p:nvPr/>
        </p:nvSpPr>
        <p:spPr>
          <a:xfrm>
            <a:off x="3291840" y="2359152"/>
            <a:ext cx="457200" cy="1280160"/>
          </a:xfrm>
          <a:prstGeom prst="roundRect">
            <a:avLst>
              <a:gd name="adj" fmla="val 20000"/>
            </a:avLst>
          </a:prstGeom>
          <a:solidFill>
            <a:srgbClr val="534AB7"/>
          </a:solidFill>
          <a:ln w="12700">
            <a:solidFill>
              <a:srgbClr val="534AB7"/>
            </a:solidFill>
            <a:prstDash val="solid"/>
          </a:ln>
        </p:spPr>
        <p:txBody>
          <a:bodyPr/>
          <a:lstStyle/>
          <a:p>
            <a:endParaRPr lang="es-ES_tradnl"/>
          </a:p>
        </p:txBody>
      </p:sp>
      <p:sp>
        <p:nvSpPr>
          <p:cNvPr id="14" name="Text 12"/>
          <p:cNvSpPr/>
          <p:nvPr/>
        </p:nvSpPr>
        <p:spPr>
          <a:xfrm>
            <a:off x="3291840" y="2359152"/>
            <a:ext cx="457200" cy="1280160"/>
          </a:xfrm>
          <a:prstGeom prst="rect">
            <a:avLst/>
          </a:prstGeom>
          <a:noFill/>
          <a:ln/>
        </p:spPr>
        <p:txBody>
          <a:bodyPr wrap="square" lIns="0" tIns="0" rIns="0" bIns="0" rtlCol="0" anchor="ctr"/>
          <a:lstStyle/>
          <a:p>
            <a:pPr marL="0" indent="0" algn="ctr">
              <a:buNone/>
            </a:pPr>
            <a:r>
              <a:rPr lang="en-US" sz="1300" b="1" dirty="0">
                <a:solidFill>
                  <a:srgbClr val="FFFFFF"/>
                </a:solidFill>
                <a:latin typeface="Cambria" pitchFamily="34" charset="0"/>
                <a:ea typeface="Cambria" pitchFamily="34" charset="-122"/>
                <a:cs typeface="Cambria" pitchFamily="34" charset="-120"/>
              </a:rPr>
              <a:t>02</a:t>
            </a:r>
            <a:endParaRPr lang="en-US" sz="1300" dirty="0"/>
          </a:p>
        </p:txBody>
      </p:sp>
      <p:sp>
        <p:nvSpPr>
          <p:cNvPr id="15" name="Text 13"/>
          <p:cNvSpPr/>
          <p:nvPr/>
        </p:nvSpPr>
        <p:spPr>
          <a:xfrm>
            <a:off x="3858768" y="2450592"/>
            <a:ext cx="2148840" cy="347472"/>
          </a:xfrm>
          <a:prstGeom prst="rect">
            <a:avLst/>
          </a:prstGeom>
          <a:noFill/>
          <a:ln/>
        </p:spPr>
        <p:txBody>
          <a:bodyPr wrap="square" lIns="0" tIns="0" rIns="0" bIns="0" rtlCol="0" anchor="ctr"/>
          <a:lstStyle/>
          <a:p>
            <a:pPr marL="0" indent="0">
              <a:buNone/>
            </a:pPr>
            <a:r>
              <a:rPr lang="en-US" sz="1000" b="1" dirty="0">
                <a:solidFill>
                  <a:srgbClr val="534AB7"/>
                </a:solidFill>
                <a:latin typeface="Calibri" pitchFamily="34" charset="0"/>
                <a:ea typeface="Calibri" pitchFamily="34" charset="-122"/>
                <a:cs typeface="Calibri" pitchFamily="34" charset="-120"/>
              </a:rPr>
              <a:t>Carga solo lo que necesitas</a:t>
            </a:r>
            <a:endParaRPr lang="en-US" sz="1000" dirty="0"/>
          </a:p>
        </p:txBody>
      </p:sp>
      <p:sp>
        <p:nvSpPr>
          <p:cNvPr id="16" name="Text 14"/>
          <p:cNvSpPr/>
          <p:nvPr/>
        </p:nvSpPr>
        <p:spPr>
          <a:xfrm>
            <a:off x="3858768" y="2834640"/>
            <a:ext cx="2148840" cy="731520"/>
          </a:xfrm>
          <a:prstGeom prst="rect">
            <a:avLst/>
          </a:prstGeom>
          <a:noFill/>
          <a:ln/>
        </p:spPr>
        <p:txBody>
          <a:bodyPr wrap="square" lIns="0" tIns="0" rIns="0" bIns="0" rtlCol="0" anchor="ctr"/>
          <a:lstStyle/>
          <a:p>
            <a:pPr marL="0" indent="0">
              <a:buNone/>
            </a:pPr>
            <a:r>
              <a:rPr lang="en-US" sz="950" dirty="0">
                <a:solidFill>
                  <a:srgbClr val="5F5E5A"/>
                </a:solidFill>
                <a:latin typeface="Calibri" pitchFamily="34" charset="0"/>
                <a:ea typeface="Calibri" pitchFamily="34" charset="-122"/>
                <a:cs typeface="Calibri" pitchFamily="34" charset="-120"/>
              </a:rPr>
              <a:t>No hagas /add de todos los archivos al inicio. Añade solo el archivo que vas a usar en ese momento.</a:t>
            </a:r>
            <a:endParaRPr lang="en-US" sz="950" dirty="0"/>
          </a:p>
        </p:txBody>
      </p:sp>
      <p:sp>
        <p:nvSpPr>
          <p:cNvPr id="17" name="Shape 15"/>
          <p:cNvSpPr/>
          <p:nvPr/>
        </p:nvSpPr>
        <p:spPr>
          <a:xfrm>
            <a:off x="6263640" y="2359152"/>
            <a:ext cx="2834640" cy="1280160"/>
          </a:xfrm>
          <a:prstGeom prst="roundRect">
            <a:avLst>
              <a:gd name="adj" fmla="val 7143"/>
            </a:avLst>
          </a:prstGeom>
          <a:solidFill>
            <a:srgbClr val="FFFFFF"/>
          </a:solidFill>
          <a:ln w="6350">
            <a:solidFill>
              <a:srgbClr val="D3D1C7"/>
            </a:solidFill>
            <a:prstDash val="solid"/>
          </a:ln>
          <a:effectLst>
            <a:outerShdw blurRad="88900" dist="25400" dir="2700000" algn="bl" rotWithShape="0">
              <a:srgbClr val="000000">
                <a:alpha val="11000"/>
              </a:srgbClr>
            </a:outerShdw>
          </a:effectLst>
        </p:spPr>
        <p:txBody>
          <a:bodyPr/>
          <a:lstStyle/>
          <a:p>
            <a:endParaRPr lang="es-ES_tradnl"/>
          </a:p>
        </p:txBody>
      </p:sp>
      <p:sp>
        <p:nvSpPr>
          <p:cNvPr id="18" name="Shape 16"/>
          <p:cNvSpPr/>
          <p:nvPr/>
        </p:nvSpPr>
        <p:spPr>
          <a:xfrm>
            <a:off x="6263640" y="2359152"/>
            <a:ext cx="457200" cy="1280160"/>
          </a:xfrm>
          <a:prstGeom prst="roundRect">
            <a:avLst>
              <a:gd name="adj" fmla="val 20000"/>
            </a:avLst>
          </a:prstGeom>
          <a:solidFill>
            <a:srgbClr val="C97B2A"/>
          </a:solidFill>
          <a:ln w="12700">
            <a:solidFill>
              <a:srgbClr val="C97B2A"/>
            </a:solidFill>
            <a:prstDash val="solid"/>
          </a:ln>
        </p:spPr>
        <p:txBody>
          <a:bodyPr/>
          <a:lstStyle/>
          <a:p>
            <a:endParaRPr lang="es-ES_tradnl"/>
          </a:p>
        </p:txBody>
      </p:sp>
      <p:sp>
        <p:nvSpPr>
          <p:cNvPr id="19" name="Text 17"/>
          <p:cNvSpPr/>
          <p:nvPr/>
        </p:nvSpPr>
        <p:spPr>
          <a:xfrm>
            <a:off x="6263640" y="2359152"/>
            <a:ext cx="457200" cy="1280160"/>
          </a:xfrm>
          <a:prstGeom prst="rect">
            <a:avLst/>
          </a:prstGeom>
          <a:noFill/>
          <a:ln/>
        </p:spPr>
        <p:txBody>
          <a:bodyPr wrap="square" lIns="0" tIns="0" rIns="0" bIns="0" rtlCol="0" anchor="ctr"/>
          <a:lstStyle/>
          <a:p>
            <a:pPr marL="0" indent="0" algn="ctr">
              <a:buNone/>
            </a:pPr>
            <a:r>
              <a:rPr lang="en-US" sz="1300" b="1" dirty="0">
                <a:solidFill>
                  <a:srgbClr val="FFFFFF"/>
                </a:solidFill>
                <a:latin typeface="Cambria" pitchFamily="34" charset="0"/>
                <a:ea typeface="Cambria" pitchFamily="34" charset="-122"/>
                <a:cs typeface="Cambria" pitchFamily="34" charset="-120"/>
              </a:rPr>
              <a:t>03</a:t>
            </a:r>
            <a:endParaRPr lang="en-US" sz="1300" dirty="0"/>
          </a:p>
        </p:txBody>
      </p:sp>
      <p:sp>
        <p:nvSpPr>
          <p:cNvPr id="20" name="Text 18"/>
          <p:cNvSpPr/>
          <p:nvPr/>
        </p:nvSpPr>
        <p:spPr>
          <a:xfrm>
            <a:off x="6830568" y="2450592"/>
            <a:ext cx="2148840" cy="347472"/>
          </a:xfrm>
          <a:prstGeom prst="rect">
            <a:avLst/>
          </a:prstGeom>
          <a:noFill/>
          <a:ln/>
        </p:spPr>
        <p:txBody>
          <a:bodyPr wrap="square" lIns="0" tIns="0" rIns="0" bIns="0" rtlCol="0" anchor="ctr"/>
          <a:lstStyle/>
          <a:p>
            <a:pPr marL="0" indent="0">
              <a:buNone/>
            </a:pPr>
            <a:r>
              <a:rPr lang="en-US" sz="1000" b="1" dirty="0">
                <a:solidFill>
                  <a:srgbClr val="C97B2A"/>
                </a:solidFill>
                <a:latin typeface="Calibri" pitchFamily="34" charset="0"/>
                <a:ea typeface="Calibri" pitchFamily="34" charset="-122"/>
                <a:cs typeface="Calibri" pitchFamily="34" charset="-120"/>
              </a:rPr>
              <a:t>Prompts quirúrgicos</a:t>
            </a:r>
            <a:endParaRPr lang="en-US" sz="1000" dirty="0"/>
          </a:p>
        </p:txBody>
      </p:sp>
      <p:sp>
        <p:nvSpPr>
          <p:cNvPr id="21" name="Text 19"/>
          <p:cNvSpPr/>
          <p:nvPr/>
        </p:nvSpPr>
        <p:spPr>
          <a:xfrm>
            <a:off x="6830568" y="2834640"/>
            <a:ext cx="2148840" cy="731520"/>
          </a:xfrm>
          <a:prstGeom prst="rect">
            <a:avLst/>
          </a:prstGeom>
          <a:noFill/>
          <a:ln/>
        </p:spPr>
        <p:txBody>
          <a:bodyPr wrap="square" lIns="0" tIns="0" rIns="0" bIns="0" rtlCol="0" anchor="ctr"/>
          <a:lstStyle/>
          <a:p>
            <a:pPr marL="0" indent="0">
              <a:buNone/>
            </a:pPr>
            <a:r>
              <a:rPr lang="en-US" sz="950" dirty="0">
                <a:solidFill>
                  <a:srgbClr val="5F5E5A"/>
                </a:solidFill>
                <a:latin typeface="Calibri" pitchFamily="34" charset="0"/>
                <a:ea typeface="Calibri" pitchFamily="34" charset="-122"/>
                <a:cs typeface="Calibri" pitchFamily="34" charset="-120"/>
              </a:rPr>
              <a:t>En vez de 'analiza todo el dataset', di exactamente qué columnas, qué test y qué output quieres. Menos tokens, mejor resultado.</a:t>
            </a:r>
            <a:endParaRPr lang="en-US" sz="950" dirty="0"/>
          </a:p>
        </p:txBody>
      </p:sp>
      <p:sp>
        <p:nvSpPr>
          <p:cNvPr id="22" name="Shape 20"/>
          <p:cNvSpPr/>
          <p:nvPr/>
        </p:nvSpPr>
        <p:spPr>
          <a:xfrm>
            <a:off x="320040" y="3776472"/>
            <a:ext cx="2834640" cy="1280160"/>
          </a:xfrm>
          <a:prstGeom prst="roundRect">
            <a:avLst>
              <a:gd name="adj" fmla="val 7143"/>
            </a:avLst>
          </a:prstGeom>
          <a:solidFill>
            <a:srgbClr val="FFFFFF"/>
          </a:solidFill>
          <a:ln w="6350">
            <a:solidFill>
              <a:srgbClr val="D3D1C7"/>
            </a:solidFill>
            <a:prstDash val="solid"/>
          </a:ln>
          <a:effectLst>
            <a:outerShdw blurRad="88900" dist="25400" dir="2700000" algn="bl" rotWithShape="0">
              <a:srgbClr val="000000">
                <a:alpha val="11000"/>
              </a:srgbClr>
            </a:outerShdw>
          </a:effectLst>
        </p:spPr>
        <p:txBody>
          <a:bodyPr/>
          <a:lstStyle/>
          <a:p>
            <a:endParaRPr lang="es-ES_tradnl"/>
          </a:p>
        </p:txBody>
      </p:sp>
      <p:sp>
        <p:nvSpPr>
          <p:cNvPr id="23" name="Shape 21"/>
          <p:cNvSpPr/>
          <p:nvPr/>
        </p:nvSpPr>
        <p:spPr>
          <a:xfrm>
            <a:off x="320040" y="3776472"/>
            <a:ext cx="457200" cy="1280160"/>
          </a:xfrm>
          <a:prstGeom prst="roundRect">
            <a:avLst>
              <a:gd name="adj" fmla="val 20000"/>
            </a:avLst>
          </a:prstGeom>
          <a:solidFill>
            <a:srgbClr val="1D9E75"/>
          </a:solidFill>
          <a:ln w="12700">
            <a:solidFill>
              <a:srgbClr val="1D9E75"/>
            </a:solidFill>
            <a:prstDash val="solid"/>
          </a:ln>
        </p:spPr>
        <p:txBody>
          <a:bodyPr/>
          <a:lstStyle/>
          <a:p>
            <a:endParaRPr lang="es-ES_tradnl"/>
          </a:p>
        </p:txBody>
      </p:sp>
      <p:sp>
        <p:nvSpPr>
          <p:cNvPr id="24" name="Text 22"/>
          <p:cNvSpPr/>
          <p:nvPr/>
        </p:nvSpPr>
        <p:spPr>
          <a:xfrm>
            <a:off x="320040" y="3776472"/>
            <a:ext cx="457200" cy="1280160"/>
          </a:xfrm>
          <a:prstGeom prst="rect">
            <a:avLst/>
          </a:prstGeom>
          <a:noFill/>
          <a:ln/>
        </p:spPr>
        <p:txBody>
          <a:bodyPr wrap="square" lIns="0" tIns="0" rIns="0" bIns="0" rtlCol="0" anchor="ctr"/>
          <a:lstStyle/>
          <a:p>
            <a:pPr marL="0" indent="0" algn="ctr">
              <a:buNone/>
            </a:pPr>
            <a:r>
              <a:rPr lang="en-US" sz="1300" b="1" dirty="0">
                <a:solidFill>
                  <a:srgbClr val="FFFFFF"/>
                </a:solidFill>
                <a:latin typeface="Cambria" pitchFamily="34" charset="0"/>
                <a:ea typeface="Cambria" pitchFamily="34" charset="-122"/>
                <a:cs typeface="Cambria" pitchFamily="34" charset="-120"/>
              </a:rPr>
              <a:t>04</a:t>
            </a:r>
            <a:endParaRPr lang="en-US" sz="1300" dirty="0"/>
          </a:p>
        </p:txBody>
      </p:sp>
      <p:sp>
        <p:nvSpPr>
          <p:cNvPr id="25" name="Text 23"/>
          <p:cNvSpPr/>
          <p:nvPr/>
        </p:nvSpPr>
        <p:spPr>
          <a:xfrm>
            <a:off x="886968" y="3867912"/>
            <a:ext cx="2148840" cy="347472"/>
          </a:xfrm>
          <a:prstGeom prst="rect">
            <a:avLst/>
          </a:prstGeom>
          <a:noFill/>
          <a:ln/>
        </p:spPr>
        <p:txBody>
          <a:bodyPr wrap="square" lIns="0" tIns="0" rIns="0" bIns="0" rtlCol="0" anchor="ctr"/>
          <a:lstStyle/>
          <a:p>
            <a:pPr marL="0" indent="0">
              <a:buNone/>
            </a:pPr>
            <a:r>
              <a:rPr lang="en-US" sz="1000" b="1" dirty="0">
                <a:solidFill>
                  <a:srgbClr val="1D9E75"/>
                </a:solidFill>
                <a:latin typeface="Calibri" pitchFamily="34" charset="0"/>
                <a:ea typeface="Calibri" pitchFamily="34" charset="-122"/>
                <a:cs typeface="Calibri" pitchFamily="34" charset="-120"/>
              </a:rPr>
              <a:t>/clear antes de cambiar de tarea</a:t>
            </a:r>
            <a:endParaRPr lang="en-US" sz="1000" dirty="0"/>
          </a:p>
        </p:txBody>
      </p:sp>
      <p:sp>
        <p:nvSpPr>
          <p:cNvPr id="26" name="Text 24"/>
          <p:cNvSpPr/>
          <p:nvPr/>
        </p:nvSpPr>
        <p:spPr>
          <a:xfrm>
            <a:off x="886968" y="4251960"/>
            <a:ext cx="2148840" cy="731520"/>
          </a:xfrm>
          <a:prstGeom prst="rect">
            <a:avLst/>
          </a:prstGeom>
          <a:noFill/>
          <a:ln/>
        </p:spPr>
        <p:txBody>
          <a:bodyPr wrap="square" lIns="0" tIns="0" rIns="0" bIns="0" rtlCol="0" anchor="ctr"/>
          <a:lstStyle/>
          <a:p>
            <a:pPr marL="0" indent="0">
              <a:buNone/>
            </a:pPr>
            <a:r>
              <a:rPr lang="en-US" sz="950" dirty="0">
                <a:solidFill>
                  <a:srgbClr val="5F5E5A"/>
                </a:solidFill>
                <a:latin typeface="Calibri" pitchFamily="34" charset="0"/>
                <a:ea typeface="Calibri" pitchFamily="34" charset="-122"/>
                <a:cs typeface="Calibri" pitchFamily="34" charset="-120"/>
              </a:rPr>
              <a:t>Al terminar un bloque de análisis, limpia el contexto. No acumules tokens de conversaciones anteriores.</a:t>
            </a:r>
            <a:endParaRPr lang="en-US" sz="950" dirty="0"/>
          </a:p>
        </p:txBody>
      </p:sp>
      <p:sp>
        <p:nvSpPr>
          <p:cNvPr id="27" name="Shape 25"/>
          <p:cNvSpPr/>
          <p:nvPr/>
        </p:nvSpPr>
        <p:spPr>
          <a:xfrm>
            <a:off x="3291840" y="3776472"/>
            <a:ext cx="2834640" cy="1280160"/>
          </a:xfrm>
          <a:prstGeom prst="roundRect">
            <a:avLst>
              <a:gd name="adj" fmla="val 7143"/>
            </a:avLst>
          </a:prstGeom>
          <a:solidFill>
            <a:srgbClr val="FFFFFF"/>
          </a:solidFill>
          <a:ln w="6350">
            <a:solidFill>
              <a:srgbClr val="D3D1C7"/>
            </a:solidFill>
            <a:prstDash val="solid"/>
          </a:ln>
          <a:effectLst>
            <a:outerShdw blurRad="88900" dist="25400" dir="2700000" algn="bl" rotWithShape="0">
              <a:srgbClr val="000000">
                <a:alpha val="11000"/>
              </a:srgbClr>
            </a:outerShdw>
          </a:effectLst>
        </p:spPr>
        <p:txBody>
          <a:bodyPr/>
          <a:lstStyle/>
          <a:p>
            <a:endParaRPr lang="es-ES_tradnl"/>
          </a:p>
        </p:txBody>
      </p:sp>
      <p:sp>
        <p:nvSpPr>
          <p:cNvPr id="28" name="Shape 26"/>
          <p:cNvSpPr/>
          <p:nvPr/>
        </p:nvSpPr>
        <p:spPr>
          <a:xfrm>
            <a:off x="3291840" y="3776472"/>
            <a:ext cx="457200" cy="1280160"/>
          </a:xfrm>
          <a:prstGeom prst="roundRect">
            <a:avLst>
              <a:gd name="adj" fmla="val 20000"/>
            </a:avLst>
          </a:prstGeom>
          <a:solidFill>
            <a:srgbClr val="534AB7"/>
          </a:solidFill>
          <a:ln w="12700">
            <a:solidFill>
              <a:srgbClr val="534AB7"/>
            </a:solidFill>
            <a:prstDash val="solid"/>
          </a:ln>
        </p:spPr>
        <p:txBody>
          <a:bodyPr/>
          <a:lstStyle/>
          <a:p>
            <a:endParaRPr lang="es-ES_tradnl"/>
          </a:p>
        </p:txBody>
      </p:sp>
      <p:sp>
        <p:nvSpPr>
          <p:cNvPr id="29" name="Text 27"/>
          <p:cNvSpPr/>
          <p:nvPr/>
        </p:nvSpPr>
        <p:spPr>
          <a:xfrm>
            <a:off x="3291840" y="3776472"/>
            <a:ext cx="457200" cy="1280160"/>
          </a:xfrm>
          <a:prstGeom prst="rect">
            <a:avLst/>
          </a:prstGeom>
          <a:noFill/>
          <a:ln/>
        </p:spPr>
        <p:txBody>
          <a:bodyPr wrap="square" lIns="0" tIns="0" rIns="0" bIns="0" rtlCol="0" anchor="ctr"/>
          <a:lstStyle/>
          <a:p>
            <a:pPr marL="0" indent="0" algn="ctr">
              <a:buNone/>
            </a:pPr>
            <a:r>
              <a:rPr lang="en-US" sz="1300" b="1" dirty="0">
                <a:solidFill>
                  <a:srgbClr val="FFFFFF"/>
                </a:solidFill>
                <a:latin typeface="Cambria" pitchFamily="34" charset="0"/>
                <a:ea typeface="Cambria" pitchFamily="34" charset="-122"/>
                <a:cs typeface="Cambria" pitchFamily="34" charset="-120"/>
              </a:rPr>
              <a:t>05</a:t>
            </a:r>
            <a:endParaRPr lang="en-US" sz="1300" dirty="0"/>
          </a:p>
        </p:txBody>
      </p:sp>
      <p:sp>
        <p:nvSpPr>
          <p:cNvPr id="30" name="Text 28"/>
          <p:cNvSpPr/>
          <p:nvPr/>
        </p:nvSpPr>
        <p:spPr>
          <a:xfrm>
            <a:off x="3858768" y="3867912"/>
            <a:ext cx="2148840" cy="347472"/>
          </a:xfrm>
          <a:prstGeom prst="rect">
            <a:avLst/>
          </a:prstGeom>
          <a:noFill/>
          <a:ln/>
        </p:spPr>
        <p:txBody>
          <a:bodyPr wrap="square" lIns="0" tIns="0" rIns="0" bIns="0" rtlCol="0" anchor="ctr"/>
          <a:lstStyle/>
          <a:p>
            <a:pPr marL="0" indent="0">
              <a:buNone/>
            </a:pPr>
            <a:r>
              <a:rPr lang="en-US" sz="1000" b="1" dirty="0">
                <a:solidFill>
                  <a:srgbClr val="534AB7"/>
                </a:solidFill>
                <a:latin typeface="Calibri" pitchFamily="34" charset="0"/>
                <a:ea typeface="Calibri" pitchFamily="34" charset="-122"/>
                <a:cs typeface="Calibri" pitchFamily="34" charset="-120"/>
              </a:rPr>
              <a:t>Planifica antes de cargar archivos</a:t>
            </a:r>
            <a:endParaRPr lang="en-US" sz="1000" dirty="0"/>
          </a:p>
        </p:txBody>
      </p:sp>
      <p:sp>
        <p:nvSpPr>
          <p:cNvPr id="31" name="Text 29"/>
          <p:cNvSpPr/>
          <p:nvPr/>
        </p:nvSpPr>
        <p:spPr>
          <a:xfrm>
            <a:off x="3858768" y="4251960"/>
            <a:ext cx="2148840" cy="731520"/>
          </a:xfrm>
          <a:prstGeom prst="rect">
            <a:avLst/>
          </a:prstGeom>
          <a:noFill/>
          <a:ln/>
        </p:spPr>
        <p:txBody>
          <a:bodyPr wrap="square" lIns="0" tIns="0" rIns="0" bIns="0" rtlCol="0" anchor="ctr"/>
          <a:lstStyle/>
          <a:p>
            <a:pPr marL="0" indent="0">
              <a:buNone/>
            </a:pPr>
            <a:r>
              <a:rPr lang="en-US" sz="950" dirty="0">
                <a:solidFill>
                  <a:srgbClr val="5F5E5A"/>
                </a:solidFill>
                <a:latin typeface="Calibri" pitchFamily="34" charset="0"/>
                <a:ea typeface="Calibri" pitchFamily="34" charset="-122"/>
                <a:cs typeface="Calibri" pitchFamily="34" charset="-120"/>
              </a:rPr>
              <a:t>El archivo de abundancias (1109 OTUs × 54 muestras) consume miles de tokens solo al cargarlo. Cárgalo cuando lo vayas a usar, no al inicio.</a:t>
            </a:r>
            <a:endParaRPr lang="en-US" sz="950" dirty="0"/>
          </a:p>
        </p:txBody>
      </p:sp>
      <p:sp>
        <p:nvSpPr>
          <p:cNvPr id="32" name="Shape 30"/>
          <p:cNvSpPr/>
          <p:nvPr/>
        </p:nvSpPr>
        <p:spPr>
          <a:xfrm>
            <a:off x="6263640" y="3776472"/>
            <a:ext cx="2834640" cy="1280160"/>
          </a:xfrm>
          <a:prstGeom prst="roundRect">
            <a:avLst>
              <a:gd name="adj" fmla="val 7143"/>
            </a:avLst>
          </a:prstGeom>
          <a:solidFill>
            <a:srgbClr val="FFFFFF"/>
          </a:solidFill>
          <a:ln w="6350">
            <a:solidFill>
              <a:srgbClr val="D3D1C7"/>
            </a:solidFill>
            <a:prstDash val="solid"/>
          </a:ln>
          <a:effectLst>
            <a:outerShdw blurRad="88900" dist="25400" dir="2700000" algn="bl" rotWithShape="0">
              <a:srgbClr val="000000">
                <a:alpha val="11000"/>
              </a:srgbClr>
            </a:outerShdw>
          </a:effectLst>
        </p:spPr>
        <p:txBody>
          <a:bodyPr/>
          <a:lstStyle/>
          <a:p>
            <a:endParaRPr lang="es-ES_tradnl"/>
          </a:p>
        </p:txBody>
      </p:sp>
      <p:sp>
        <p:nvSpPr>
          <p:cNvPr id="33" name="Shape 31"/>
          <p:cNvSpPr/>
          <p:nvPr/>
        </p:nvSpPr>
        <p:spPr>
          <a:xfrm>
            <a:off x="6263640" y="3776472"/>
            <a:ext cx="457200" cy="1280160"/>
          </a:xfrm>
          <a:prstGeom prst="roundRect">
            <a:avLst>
              <a:gd name="adj" fmla="val 20000"/>
            </a:avLst>
          </a:prstGeom>
          <a:solidFill>
            <a:srgbClr val="C97B2A"/>
          </a:solidFill>
          <a:ln w="12700">
            <a:solidFill>
              <a:srgbClr val="C97B2A"/>
            </a:solidFill>
            <a:prstDash val="solid"/>
          </a:ln>
        </p:spPr>
        <p:txBody>
          <a:bodyPr/>
          <a:lstStyle/>
          <a:p>
            <a:endParaRPr lang="es-ES_tradnl"/>
          </a:p>
        </p:txBody>
      </p:sp>
      <p:sp>
        <p:nvSpPr>
          <p:cNvPr id="34" name="Text 32"/>
          <p:cNvSpPr/>
          <p:nvPr/>
        </p:nvSpPr>
        <p:spPr>
          <a:xfrm>
            <a:off x="6263640" y="3776472"/>
            <a:ext cx="457200" cy="1280160"/>
          </a:xfrm>
          <a:prstGeom prst="rect">
            <a:avLst/>
          </a:prstGeom>
          <a:noFill/>
          <a:ln/>
        </p:spPr>
        <p:txBody>
          <a:bodyPr wrap="square" lIns="0" tIns="0" rIns="0" bIns="0" rtlCol="0" anchor="ctr"/>
          <a:lstStyle/>
          <a:p>
            <a:pPr marL="0" indent="0" algn="ctr">
              <a:buNone/>
            </a:pPr>
            <a:r>
              <a:rPr lang="en-US" sz="1300" b="1" dirty="0">
                <a:solidFill>
                  <a:srgbClr val="FFFFFF"/>
                </a:solidFill>
                <a:latin typeface="Cambria" pitchFamily="34" charset="0"/>
                <a:ea typeface="Cambria" pitchFamily="34" charset="-122"/>
                <a:cs typeface="Cambria" pitchFamily="34" charset="-120"/>
              </a:rPr>
              <a:t>06</a:t>
            </a:r>
            <a:endParaRPr lang="en-US" sz="1300" dirty="0"/>
          </a:p>
        </p:txBody>
      </p:sp>
      <p:sp>
        <p:nvSpPr>
          <p:cNvPr id="35" name="Text 33"/>
          <p:cNvSpPr/>
          <p:nvPr/>
        </p:nvSpPr>
        <p:spPr>
          <a:xfrm>
            <a:off x="6830568" y="3867912"/>
            <a:ext cx="2148840" cy="347472"/>
          </a:xfrm>
          <a:prstGeom prst="rect">
            <a:avLst/>
          </a:prstGeom>
          <a:noFill/>
          <a:ln/>
        </p:spPr>
        <p:txBody>
          <a:bodyPr wrap="square" lIns="0" tIns="0" rIns="0" bIns="0" rtlCol="0" anchor="ctr"/>
          <a:lstStyle/>
          <a:p>
            <a:pPr marL="0" indent="0">
              <a:buNone/>
            </a:pPr>
            <a:r>
              <a:rPr lang="en-US" sz="1000" b="1" dirty="0">
                <a:solidFill>
                  <a:srgbClr val="C97B2A"/>
                </a:solidFill>
                <a:latin typeface="Calibri" pitchFamily="34" charset="0"/>
                <a:ea typeface="Calibri" pitchFamily="34" charset="-122"/>
                <a:cs typeface="Calibri" pitchFamily="34" charset="-120"/>
              </a:rPr>
              <a:t>Usa Haiku para preguntas rápidas</a:t>
            </a:r>
            <a:endParaRPr lang="en-US" sz="1000" dirty="0"/>
          </a:p>
        </p:txBody>
      </p:sp>
      <p:sp>
        <p:nvSpPr>
          <p:cNvPr id="36" name="Text 34"/>
          <p:cNvSpPr/>
          <p:nvPr/>
        </p:nvSpPr>
        <p:spPr>
          <a:xfrm>
            <a:off x="6830568" y="4251960"/>
            <a:ext cx="2148840" cy="731520"/>
          </a:xfrm>
          <a:prstGeom prst="rect">
            <a:avLst/>
          </a:prstGeom>
          <a:noFill/>
          <a:ln/>
        </p:spPr>
        <p:txBody>
          <a:bodyPr wrap="square" lIns="0" tIns="0" rIns="0" bIns="0" rtlCol="0" anchor="ctr"/>
          <a:lstStyle/>
          <a:p>
            <a:pPr marL="0" indent="0">
              <a:buNone/>
            </a:pPr>
            <a:r>
              <a:rPr lang="en-US" sz="950" dirty="0">
                <a:solidFill>
                  <a:srgbClr val="5F5E5A"/>
                </a:solidFill>
                <a:latin typeface="Calibri" pitchFamily="34" charset="0"/>
                <a:ea typeface="Calibri" pitchFamily="34" charset="-122"/>
                <a:cs typeface="Calibri" pitchFamily="34" charset="-120"/>
              </a:rPr>
              <a:t>Para verificar si un archivo existe, contar filas o explorar estructura: usa Haiku (/model). Guarda Sonnet para análisis reales.</a:t>
            </a:r>
            <a:endParaRPr lang="en-US" sz="95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19">
    <p:bg>
      <p:bgPr>
        <a:solidFill>
          <a:srgbClr val="F8F8F6"/>
        </a:solidFill>
        <a:effectLst/>
      </p:bgPr>
    </p:bg>
    <p:spTree>
      <p:nvGrpSpPr>
        <p:cNvPr id="1" name=""/>
        <p:cNvGrpSpPr/>
        <p:nvPr/>
      </p:nvGrpSpPr>
      <p:grpSpPr>
        <a:xfrm>
          <a:off x="0" y="0"/>
          <a:ext cx="0" cy="0"/>
          <a:chOff x="0" y="0"/>
          <a:chExt cx="0" cy="0"/>
        </a:xfrm>
      </p:grpSpPr>
      <p:sp>
        <p:nvSpPr>
          <p:cNvPr id="2" name="Text 0"/>
          <p:cNvSpPr/>
          <p:nvPr/>
        </p:nvSpPr>
        <p:spPr>
          <a:xfrm>
            <a:off x="457200" y="256032"/>
            <a:ext cx="8229600" cy="566928"/>
          </a:xfrm>
          <a:prstGeom prst="rect">
            <a:avLst/>
          </a:prstGeom>
          <a:noFill/>
          <a:ln/>
        </p:spPr>
        <p:txBody>
          <a:bodyPr wrap="square" lIns="0" tIns="0" rIns="0" bIns="0" rtlCol="0" anchor="ctr"/>
          <a:lstStyle/>
          <a:p>
            <a:pPr marL="0" indent="0">
              <a:buNone/>
            </a:pPr>
            <a:r>
              <a:rPr lang="en-US" sz="2700" b="1" dirty="0">
                <a:solidFill>
                  <a:srgbClr val="2C2C2A"/>
                </a:solidFill>
                <a:latin typeface="Cambria" pitchFamily="34" charset="0"/>
                <a:ea typeface="Cambria" pitchFamily="34" charset="-122"/>
                <a:cs typeface="Cambria" pitchFamily="34" charset="-120"/>
              </a:rPr>
              <a:t>Buenas prácticas en Claude Code</a:t>
            </a:r>
            <a:endParaRPr lang="en-US" sz="2700" dirty="0"/>
          </a:p>
        </p:txBody>
      </p:sp>
      <p:sp>
        <p:nvSpPr>
          <p:cNvPr id="3" name="Text 1"/>
          <p:cNvSpPr/>
          <p:nvPr/>
        </p:nvSpPr>
        <p:spPr>
          <a:xfrm>
            <a:off x="457200" y="822960"/>
            <a:ext cx="8229600" cy="320040"/>
          </a:xfrm>
          <a:prstGeom prst="rect">
            <a:avLst/>
          </a:prstGeom>
          <a:noFill/>
          <a:ln/>
        </p:spPr>
        <p:txBody>
          <a:bodyPr wrap="square" lIns="0" tIns="0" rIns="0" bIns="0" rtlCol="0" anchor="ctr"/>
          <a:lstStyle/>
          <a:p>
            <a:pPr marL="0" indent="0">
              <a:buNone/>
            </a:pPr>
            <a:r>
              <a:rPr lang="en-US" sz="1300" i="1" dirty="0">
                <a:solidFill>
                  <a:srgbClr val="5F5E5A"/>
                </a:solidFill>
                <a:latin typeface="Calibri" pitchFamily="34" charset="0"/>
                <a:ea typeface="Calibri" pitchFamily="34" charset="-122"/>
                <a:cs typeface="Calibri" pitchFamily="34" charset="-120"/>
              </a:rPr>
              <a:t>Hábitos que hacen la diferencia entre un análisis reproducible y uno caótico</a:t>
            </a:r>
            <a:endParaRPr lang="en-US" sz="1300" dirty="0"/>
          </a:p>
        </p:txBody>
      </p:sp>
      <p:sp>
        <p:nvSpPr>
          <p:cNvPr id="4" name="Shape 2"/>
          <p:cNvSpPr/>
          <p:nvPr/>
        </p:nvSpPr>
        <p:spPr>
          <a:xfrm>
            <a:off x="320040" y="1417320"/>
            <a:ext cx="4206240" cy="1371600"/>
          </a:xfrm>
          <a:prstGeom prst="roundRect">
            <a:avLst>
              <a:gd name="adj" fmla="val 6667"/>
            </a:avLst>
          </a:prstGeom>
          <a:solidFill>
            <a:srgbClr val="FFFFFF"/>
          </a:solidFill>
          <a:ln w="6350">
            <a:solidFill>
              <a:srgbClr val="D3D1C7"/>
            </a:solidFill>
            <a:prstDash val="solid"/>
          </a:ln>
          <a:effectLst>
            <a:outerShdw blurRad="88900" dist="25400" dir="2700000" algn="bl" rotWithShape="0">
              <a:srgbClr val="000000">
                <a:alpha val="11000"/>
              </a:srgbClr>
            </a:outerShdw>
          </a:effectLst>
        </p:spPr>
        <p:txBody>
          <a:bodyPr/>
          <a:lstStyle/>
          <a:p>
            <a:endParaRPr lang="es-ES_tradnl"/>
          </a:p>
        </p:txBody>
      </p:sp>
      <p:sp>
        <p:nvSpPr>
          <p:cNvPr id="5" name="Text 3"/>
          <p:cNvSpPr/>
          <p:nvPr/>
        </p:nvSpPr>
        <p:spPr>
          <a:xfrm>
            <a:off x="484632" y="1508760"/>
            <a:ext cx="3858768" cy="365760"/>
          </a:xfrm>
          <a:prstGeom prst="rect">
            <a:avLst/>
          </a:prstGeom>
          <a:noFill/>
          <a:ln/>
        </p:spPr>
        <p:txBody>
          <a:bodyPr wrap="square" lIns="0" tIns="0" rIns="0" bIns="0" rtlCol="0" anchor="ctr"/>
          <a:lstStyle/>
          <a:p>
            <a:pPr marL="0" indent="0">
              <a:buNone/>
            </a:pPr>
            <a:r>
              <a:rPr lang="en-US" sz="1050" b="1" dirty="0">
                <a:solidFill>
                  <a:srgbClr val="534AB7"/>
                </a:solidFill>
                <a:latin typeface="Calibri" pitchFamily="34" charset="0"/>
                <a:ea typeface="Calibri" pitchFamily="34" charset="-122"/>
                <a:cs typeface="Calibri" pitchFamily="34" charset="-120"/>
              </a:rPr>
              <a:t>💾  /memory — Guardar contexto permanente</a:t>
            </a:r>
            <a:endParaRPr lang="en-US" sz="1050" dirty="0"/>
          </a:p>
        </p:txBody>
      </p:sp>
      <p:sp>
        <p:nvSpPr>
          <p:cNvPr id="6" name="Text 4"/>
          <p:cNvSpPr/>
          <p:nvPr/>
        </p:nvSpPr>
        <p:spPr>
          <a:xfrm>
            <a:off x="484632" y="1892808"/>
            <a:ext cx="3858768" cy="804672"/>
          </a:xfrm>
          <a:prstGeom prst="rect">
            <a:avLst/>
          </a:prstGeom>
          <a:noFill/>
          <a:ln/>
        </p:spPr>
        <p:txBody>
          <a:bodyPr wrap="square" lIns="0" tIns="0" rIns="0" bIns="0" rtlCol="0" anchor="ctr"/>
          <a:lstStyle/>
          <a:p>
            <a:pPr marL="0" indent="0">
              <a:buNone/>
            </a:pPr>
            <a:r>
              <a:rPr lang="en-US" sz="950" dirty="0">
                <a:solidFill>
                  <a:srgbClr val="5F5E5A"/>
                </a:solidFill>
                <a:latin typeface="Calibri" pitchFamily="34" charset="0"/>
                <a:ea typeface="Calibri" pitchFamily="34" charset="-122"/>
                <a:cs typeface="Calibri" pitchFamily="34" charset="-120"/>
              </a:rPr>
              <a:t>Puedes pedirle al agente que guarde información clave en su memoria persistente. Útil para preferencias, nombre de proyecto y convenciones que quieres que recuerde siempre, incluso entre sesiones.</a:t>
            </a:r>
            <a:endParaRPr lang="en-US" sz="950" dirty="0"/>
          </a:p>
        </p:txBody>
      </p:sp>
      <p:sp>
        <p:nvSpPr>
          <p:cNvPr id="7" name="Shape 5"/>
          <p:cNvSpPr/>
          <p:nvPr/>
        </p:nvSpPr>
        <p:spPr>
          <a:xfrm>
            <a:off x="4709160" y="1417320"/>
            <a:ext cx="4206240" cy="1371600"/>
          </a:xfrm>
          <a:prstGeom prst="roundRect">
            <a:avLst>
              <a:gd name="adj" fmla="val 6667"/>
            </a:avLst>
          </a:prstGeom>
          <a:solidFill>
            <a:srgbClr val="FFFFFF"/>
          </a:solidFill>
          <a:ln w="6350">
            <a:solidFill>
              <a:srgbClr val="D3D1C7"/>
            </a:solidFill>
            <a:prstDash val="solid"/>
          </a:ln>
          <a:effectLst>
            <a:outerShdw blurRad="88900" dist="25400" dir="2700000" algn="bl" rotWithShape="0">
              <a:srgbClr val="000000">
                <a:alpha val="11000"/>
              </a:srgbClr>
            </a:outerShdw>
          </a:effectLst>
        </p:spPr>
        <p:txBody>
          <a:bodyPr/>
          <a:lstStyle/>
          <a:p>
            <a:endParaRPr lang="es-ES_tradnl"/>
          </a:p>
        </p:txBody>
      </p:sp>
      <p:sp>
        <p:nvSpPr>
          <p:cNvPr id="8" name="Text 6"/>
          <p:cNvSpPr/>
          <p:nvPr/>
        </p:nvSpPr>
        <p:spPr>
          <a:xfrm>
            <a:off x="4873752" y="1508760"/>
            <a:ext cx="3858768" cy="365760"/>
          </a:xfrm>
          <a:prstGeom prst="rect">
            <a:avLst/>
          </a:prstGeom>
          <a:noFill/>
          <a:ln/>
        </p:spPr>
        <p:txBody>
          <a:bodyPr wrap="square" lIns="0" tIns="0" rIns="0" bIns="0" rtlCol="0" anchor="ctr"/>
          <a:lstStyle/>
          <a:p>
            <a:pPr marL="0" indent="0">
              <a:buNone/>
            </a:pPr>
            <a:r>
              <a:rPr lang="en-US" sz="1050" b="1" dirty="0">
                <a:solidFill>
                  <a:srgbClr val="1D9E75"/>
                </a:solidFill>
                <a:latin typeface="Calibri" pitchFamily="34" charset="0"/>
                <a:ea typeface="Calibri" pitchFamily="34" charset="-122"/>
                <a:cs typeface="Calibri" pitchFamily="34" charset="-120"/>
              </a:rPr>
              <a:t>🧹  /clear — Limpiar el contexto</a:t>
            </a:r>
            <a:endParaRPr lang="en-US" sz="1050" dirty="0"/>
          </a:p>
        </p:txBody>
      </p:sp>
      <p:sp>
        <p:nvSpPr>
          <p:cNvPr id="9" name="Text 7"/>
          <p:cNvSpPr/>
          <p:nvPr/>
        </p:nvSpPr>
        <p:spPr>
          <a:xfrm>
            <a:off x="4873752" y="1892808"/>
            <a:ext cx="3858768" cy="804672"/>
          </a:xfrm>
          <a:prstGeom prst="rect">
            <a:avLst/>
          </a:prstGeom>
          <a:noFill/>
          <a:ln/>
        </p:spPr>
        <p:txBody>
          <a:bodyPr wrap="square" lIns="0" tIns="0" rIns="0" bIns="0" rtlCol="0" anchor="ctr"/>
          <a:lstStyle/>
          <a:p>
            <a:pPr marL="0" indent="0">
              <a:buNone/>
            </a:pPr>
            <a:r>
              <a:rPr lang="en-US" sz="950" dirty="0">
                <a:solidFill>
                  <a:srgbClr val="5F5E5A"/>
                </a:solidFill>
                <a:latin typeface="Calibri" pitchFamily="34" charset="0"/>
                <a:ea typeface="Calibri" pitchFamily="34" charset="-122"/>
                <a:cs typeface="Calibri" pitchFamily="34" charset="-120"/>
              </a:rPr>
              <a:t>Usa /clear al cambiar de proyecto o cuando el agente empiece a dar respuestas que no tienen sentido. Reinicia la conversación sin cerrar Claude Code.</a:t>
            </a:r>
            <a:endParaRPr lang="en-US" sz="950" dirty="0"/>
          </a:p>
        </p:txBody>
      </p:sp>
      <p:sp>
        <p:nvSpPr>
          <p:cNvPr id="10" name="Shape 8"/>
          <p:cNvSpPr/>
          <p:nvPr/>
        </p:nvSpPr>
        <p:spPr>
          <a:xfrm>
            <a:off x="320040" y="1417320"/>
            <a:ext cx="4206240" cy="1371600"/>
          </a:xfrm>
          <a:prstGeom prst="roundRect">
            <a:avLst>
              <a:gd name="adj" fmla="val 6667"/>
            </a:avLst>
          </a:prstGeom>
          <a:solidFill>
            <a:srgbClr val="FFFFFF"/>
          </a:solidFill>
          <a:ln w="6350">
            <a:solidFill>
              <a:srgbClr val="D3D1C7"/>
            </a:solidFill>
            <a:prstDash val="solid"/>
          </a:ln>
          <a:effectLst>
            <a:outerShdw blurRad="88900" dist="25400" dir="2700000" algn="bl" rotWithShape="0">
              <a:srgbClr val="000000">
                <a:alpha val="11000"/>
              </a:srgbClr>
            </a:outerShdw>
          </a:effectLst>
        </p:spPr>
        <p:txBody>
          <a:bodyPr/>
          <a:lstStyle/>
          <a:p>
            <a:endParaRPr lang="es-ES_tradnl"/>
          </a:p>
        </p:txBody>
      </p:sp>
      <p:sp>
        <p:nvSpPr>
          <p:cNvPr id="11" name="Text 9"/>
          <p:cNvSpPr/>
          <p:nvPr/>
        </p:nvSpPr>
        <p:spPr>
          <a:xfrm>
            <a:off x="484632" y="1508760"/>
            <a:ext cx="3858768" cy="365760"/>
          </a:xfrm>
          <a:prstGeom prst="rect">
            <a:avLst/>
          </a:prstGeom>
          <a:noFill/>
          <a:ln/>
        </p:spPr>
        <p:txBody>
          <a:bodyPr wrap="square" lIns="0" tIns="0" rIns="0" bIns="0" rtlCol="0" anchor="ctr"/>
          <a:lstStyle/>
          <a:p>
            <a:pPr marL="0" indent="0">
              <a:buNone/>
            </a:pPr>
            <a:r>
              <a:rPr lang="en-US" sz="1050" b="1" dirty="0">
                <a:solidFill>
                  <a:srgbClr val="C97B2A"/>
                </a:solidFill>
                <a:latin typeface="Calibri" pitchFamily="34" charset="0"/>
                <a:ea typeface="Calibri" pitchFamily="34" charset="-122"/>
                <a:cs typeface="Calibri" pitchFamily="34" charset="-120"/>
              </a:rPr>
              <a:t>📋  Plan primero, siempre</a:t>
            </a:r>
            <a:endParaRPr lang="en-US" sz="1050" dirty="0"/>
          </a:p>
        </p:txBody>
      </p:sp>
      <p:sp>
        <p:nvSpPr>
          <p:cNvPr id="12" name="Text 10"/>
          <p:cNvSpPr/>
          <p:nvPr/>
        </p:nvSpPr>
        <p:spPr>
          <a:xfrm>
            <a:off x="484632" y="1892808"/>
            <a:ext cx="3858768" cy="804672"/>
          </a:xfrm>
          <a:prstGeom prst="rect">
            <a:avLst/>
          </a:prstGeom>
          <a:noFill/>
          <a:ln/>
        </p:spPr>
        <p:txBody>
          <a:bodyPr wrap="square" lIns="0" tIns="0" rIns="0" bIns="0" rtlCol="0" anchor="ctr"/>
          <a:lstStyle/>
          <a:p>
            <a:pPr marL="0" indent="0">
              <a:buNone/>
            </a:pPr>
            <a:r>
              <a:rPr lang="en-US" sz="950" dirty="0">
                <a:solidFill>
                  <a:srgbClr val="5F5E5A"/>
                </a:solidFill>
                <a:latin typeface="Calibri" pitchFamily="34" charset="0"/>
                <a:ea typeface="Calibri" pitchFamily="34" charset="-122"/>
                <a:cs typeface="Calibri" pitchFamily="34" charset="-120"/>
              </a:rPr>
              <a:t>Antes de cualquier análisis, pide al agente que te dé un plan por escrito y espere tu confirmación. Esto previene que ejecute cosas que no querías.</a:t>
            </a:r>
            <a:endParaRPr lang="en-US" sz="950" dirty="0"/>
          </a:p>
        </p:txBody>
      </p:sp>
      <p:sp>
        <p:nvSpPr>
          <p:cNvPr id="13" name="Shape 11"/>
          <p:cNvSpPr/>
          <p:nvPr/>
        </p:nvSpPr>
        <p:spPr>
          <a:xfrm>
            <a:off x="4709160" y="2926080"/>
            <a:ext cx="4206240" cy="1371600"/>
          </a:xfrm>
          <a:prstGeom prst="roundRect">
            <a:avLst>
              <a:gd name="adj" fmla="val 6667"/>
            </a:avLst>
          </a:prstGeom>
          <a:solidFill>
            <a:srgbClr val="FFFFFF"/>
          </a:solidFill>
          <a:ln w="6350">
            <a:solidFill>
              <a:srgbClr val="D3D1C7"/>
            </a:solidFill>
            <a:prstDash val="solid"/>
          </a:ln>
          <a:effectLst>
            <a:outerShdw blurRad="88900" dist="25400" dir="2700000" algn="bl" rotWithShape="0">
              <a:srgbClr val="000000">
                <a:alpha val="11000"/>
              </a:srgbClr>
            </a:outerShdw>
          </a:effectLst>
        </p:spPr>
        <p:txBody>
          <a:bodyPr/>
          <a:lstStyle/>
          <a:p>
            <a:endParaRPr lang="es-ES_tradnl"/>
          </a:p>
        </p:txBody>
      </p:sp>
      <p:sp>
        <p:nvSpPr>
          <p:cNvPr id="14" name="Text 12"/>
          <p:cNvSpPr/>
          <p:nvPr/>
        </p:nvSpPr>
        <p:spPr>
          <a:xfrm>
            <a:off x="4873752" y="3017520"/>
            <a:ext cx="3858768" cy="365760"/>
          </a:xfrm>
          <a:prstGeom prst="rect">
            <a:avLst/>
          </a:prstGeom>
          <a:noFill/>
          <a:ln/>
        </p:spPr>
        <p:txBody>
          <a:bodyPr wrap="square" lIns="0" tIns="0" rIns="0" bIns="0" rtlCol="0" anchor="ctr"/>
          <a:lstStyle/>
          <a:p>
            <a:pPr marL="0" indent="0">
              <a:buNone/>
            </a:pPr>
            <a:r>
              <a:rPr lang="en-US" sz="1050" b="1" dirty="0">
                <a:solidFill>
                  <a:srgbClr val="534AB7"/>
                </a:solidFill>
                <a:latin typeface="Calibri" pitchFamily="34" charset="0"/>
                <a:ea typeface="Calibri" pitchFamily="34" charset="-122"/>
                <a:cs typeface="Calibri" pitchFamily="34" charset="-120"/>
              </a:rPr>
              <a:t>📁  Commit frecuente a GitHub</a:t>
            </a:r>
            <a:endParaRPr lang="en-US" sz="1050" dirty="0"/>
          </a:p>
        </p:txBody>
      </p:sp>
      <p:sp>
        <p:nvSpPr>
          <p:cNvPr id="15" name="Text 13"/>
          <p:cNvSpPr/>
          <p:nvPr/>
        </p:nvSpPr>
        <p:spPr>
          <a:xfrm>
            <a:off x="4873752" y="3401568"/>
            <a:ext cx="3858768" cy="804672"/>
          </a:xfrm>
          <a:prstGeom prst="rect">
            <a:avLst/>
          </a:prstGeom>
          <a:noFill/>
          <a:ln/>
        </p:spPr>
        <p:txBody>
          <a:bodyPr wrap="square" lIns="0" tIns="0" rIns="0" bIns="0" rtlCol="0" anchor="ctr"/>
          <a:lstStyle/>
          <a:p>
            <a:pPr marL="0" indent="0">
              <a:buNone/>
            </a:pPr>
            <a:r>
              <a:rPr lang="en-US" sz="950" dirty="0">
                <a:solidFill>
                  <a:srgbClr val="5F5E5A"/>
                </a:solidFill>
                <a:latin typeface="Calibri" pitchFamily="34" charset="0"/>
                <a:ea typeface="Calibri" pitchFamily="34" charset="-122"/>
                <a:cs typeface="Calibri" pitchFamily="34" charset="-120"/>
              </a:rPr>
              <a:t>Después de cada resultado importante (figura generada, tabla exportada), haz un commit. Si algo falla más tarde, siempre puedes volver al último estado que funcionó.</a:t>
            </a:r>
            <a:endParaRPr lang="en-US" sz="950" dirty="0"/>
          </a:p>
        </p:txBody>
      </p:sp>
      <p:sp>
        <p:nvSpPr>
          <p:cNvPr id="16" name="Shape 14"/>
          <p:cNvSpPr/>
          <p:nvPr/>
        </p:nvSpPr>
        <p:spPr>
          <a:xfrm>
            <a:off x="320040" y="2926080"/>
            <a:ext cx="4206240" cy="1371600"/>
          </a:xfrm>
          <a:prstGeom prst="roundRect">
            <a:avLst>
              <a:gd name="adj" fmla="val 6667"/>
            </a:avLst>
          </a:prstGeom>
          <a:solidFill>
            <a:srgbClr val="FFFFFF"/>
          </a:solidFill>
          <a:ln w="6350">
            <a:solidFill>
              <a:srgbClr val="D3D1C7"/>
            </a:solidFill>
            <a:prstDash val="solid"/>
          </a:ln>
          <a:effectLst>
            <a:outerShdw blurRad="88900" dist="25400" dir="2700000" algn="bl" rotWithShape="0">
              <a:srgbClr val="000000">
                <a:alpha val="11000"/>
              </a:srgbClr>
            </a:outerShdw>
          </a:effectLst>
        </p:spPr>
        <p:txBody>
          <a:bodyPr/>
          <a:lstStyle/>
          <a:p>
            <a:endParaRPr lang="es-ES_tradnl"/>
          </a:p>
        </p:txBody>
      </p:sp>
      <p:sp>
        <p:nvSpPr>
          <p:cNvPr id="17" name="Text 15"/>
          <p:cNvSpPr/>
          <p:nvPr/>
        </p:nvSpPr>
        <p:spPr>
          <a:xfrm>
            <a:off x="484632" y="3017520"/>
            <a:ext cx="3858768" cy="365760"/>
          </a:xfrm>
          <a:prstGeom prst="rect">
            <a:avLst/>
          </a:prstGeom>
          <a:noFill/>
          <a:ln/>
        </p:spPr>
        <p:txBody>
          <a:bodyPr wrap="square" lIns="0" tIns="0" rIns="0" bIns="0" rtlCol="0" anchor="ctr"/>
          <a:lstStyle/>
          <a:p>
            <a:pPr marL="0" indent="0">
              <a:buNone/>
            </a:pPr>
            <a:r>
              <a:rPr lang="en-US" sz="1050" b="1" dirty="0">
                <a:solidFill>
                  <a:srgbClr val="1D9E75"/>
                </a:solidFill>
                <a:latin typeface="Calibri" pitchFamily="34" charset="0"/>
                <a:ea typeface="Calibri" pitchFamily="34" charset="-122"/>
                <a:cs typeface="Calibri" pitchFamily="34" charset="-120"/>
              </a:rPr>
              <a:t>🔍  Verificar antes de continuar</a:t>
            </a:r>
            <a:endParaRPr lang="en-US" sz="1050" dirty="0"/>
          </a:p>
        </p:txBody>
      </p:sp>
      <p:sp>
        <p:nvSpPr>
          <p:cNvPr id="18" name="Text 16"/>
          <p:cNvSpPr/>
          <p:nvPr/>
        </p:nvSpPr>
        <p:spPr>
          <a:xfrm>
            <a:off x="484632" y="3401568"/>
            <a:ext cx="3858768" cy="804672"/>
          </a:xfrm>
          <a:prstGeom prst="rect">
            <a:avLst/>
          </a:prstGeom>
          <a:noFill/>
          <a:ln/>
        </p:spPr>
        <p:txBody>
          <a:bodyPr wrap="square" lIns="0" tIns="0" rIns="0" bIns="0" rtlCol="0" anchor="ctr"/>
          <a:lstStyle/>
          <a:p>
            <a:pPr marL="0" indent="0">
              <a:buNone/>
            </a:pPr>
            <a:r>
              <a:rPr lang="en-US" sz="950" dirty="0">
                <a:solidFill>
                  <a:srgbClr val="5F5E5A"/>
                </a:solidFill>
                <a:latin typeface="Calibri" pitchFamily="34" charset="0"/>
                <a:ea typeface="Calibri" pitchFamily="34" charset="-122"/>
                <a:cs typeface="Calibri" pitchFamily="34" charset="-120"/>
              </a:rPr>
              <a:t>Después de cada análisis, pide al agente: '¿Tiene sentido biológico este resultado?' y compara manualmente con expected_outputs/. No continúes si algo se ve extraño.</a:t>
            </a:r>
            <a:endParaRPr lang="en-US" sz="950" dirty="0"/>
          </a:p>
        </p:txBody>
      </p:sp>
      <p:sp>
        <p:nvSpPr>
          <p:cNvPr id="19" name="Shape 17"/>
          <p:cNvSpPr/>
          <p:nvPr/>
        </p:nvSpPr>
        <p:spPr>
          <a:xfrm>
            <a:off x="4709160" y="2926080"/>
            <a:ext cx="4206240" cy="1371600"/>
          </a:xfrm>
          <a:prstGeom prst="roundRect">
            <a:avLst>
              <a:gd name="adj" fmla="val 6667"/>
            </a:avLst>
          </a:prstGeom>
          <a:solidFill>
            <a:srgbClr val="FFFFFF"/>
          </a:solidFill>
          <a:ln w="6350">
            <a:solidFill>
              <a:srgbClr val="D3D1C7"/>
            </a:solidFill>
            <a:prstDash val="solid"/>
          </a:ln>
          <a:effectLst>
            <a:outerShdw blurRad="88900" dist="25400" dir="2700000" algn="bl" rotWithShape="0">
              <a:srgbClr val="000000">
                <a:alpha val="11000"/>
              </a:srgbClr>
            </a:outerShdw>
          </a:effectLst>
        </p:spPr>
        <p:txBody>
          <a:bodyPr/>
          <a:lstStyle/>
          <a:p>
            <a:endParaRPr lang="es-ES_tradnl"/>
          </a:p>
        </p:txBody>
      </p:sp>
      <p:sp>
        <p:nvSpPr>
          <p:cNvPr id="20" name="Text 18"/>
          <p:cNvSpPr/>
          <p:nvPr/>
        </p:nvSpPr>
        <p:spPr>
          <a:xfrm>
            <a:off x="4873752" y="3017520"/>
            <a:ext cx="3858768" cy="365760"/>
          </a:xfrm>
          <a:prstGeom prst="rect">
            <a:avLst/>
          </a:prstGeom>
          <a:noFill/>
          <a:ln/>
        </p:spPr>
        <p:txBody>
          <a:bodyPr wrap="square" lIns="0" tIns="0" rIns="0" bIns="0" rtlCol="0" anchor="ctr"/>
          <a:lstStyle/>
          <a:p>
            <a:pPr marL="0" indent="0">
              <a:buNone/>
            </a:pPr>
            <a:r>
              <a:rPr lang="en-US" sz="1050" b="1" dirty="0">
                <a:solidFill>
                  <a:srgbClr val="C97B2A"/>
                </a:solidFill>
                <a:latin typeface="Calibri" pitchFamily="34" charset="0"/>
                <a:ea typeface="Calibri" pitchFamily="34" charset="-122"/>
                <a:cs typeface="Calibri" pitchFamily="34" charset="-120"/>
              </a:rPr>
              <a:t>📝  Un análisis por prompt</a:t>
            </a:r>
            <a:endParaRPr lang="en-US" sz="1050" dirty="0"/>
          </a:p>
        </p:txBody>
      </p:sp>
      <p:sp>
        <p:nvSpPr>
          <p:cNvPr id="21" name="Text 19"/>
          <p:cNvSpPr/>
          <p:nvPr/>
        </p:nvSpPr>
        <p:spPr>
          <a:xfrm>
            <a:off x="4873752" y="3401568"/>
            <a:ext cx="3858768" cy="804672"/>
          </a:xfrm>
          <a:prstGeom prst="rect">
            <a:avLst/>
          </a:prstGeom>
          <a:noFill/>
          <a:ln/>
        </p:spPr>
        <p:txBody>
          <a:bodyPr wrap="square" lIns="0" tIns="0" rIns="0" bIns="0" rtlCol="0" anchor="ctr"/>
          <a:lstStyle/>
          <a:p>
            <a:pPr marL="0" indent="0">
              <a:buNone/>
            </a:pPr>
            <a:r>
              <a:rPr lang="en-US" sz="950" dirty="0">
                <a:solidFill>
                  <a:srgbClr val="5F5E5A"/>
                </a:solidFill>
                <a:latin typeface="Calibri" pitchFamily="34" charset="0"/>
                <a:ea typeface="Calibri" pitchFamily="34" charset="-122"/>
                <a:cs typeface="Calibri" pitchFamily="34" charset="-120"/>
              </a:rPr>
              <a:t>No pidas al agente que haga tres cosas a la vez. Un prompt bien definido = un output verificable. Si combinas tareas, es más difícil detectar dónde algo salió mal.</a:t>
            </a:r>
            <a:endParaRPr lang="en-US" sz="95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0">
    <p:bg>
      <p:bgPr>
        <a:solidFill>
          <a:srgbClr val="F8F8F6"/>
        </a:solidFill>
        <a:effectLst/>
      </p:bgPr>
    </p:bg>
    <p:spTree>
      <p:nvGrpSpPr>
        <p:cNvPr id="1" name=""/>
        <p:cNvGrpSpPr/>
        <p:nvPr/>
      </p:nvGrpSpPr>
      <p:grpSpPr>
        <a:xfrm>
          <a:off x="0" y="0"/>
          <a:ext cx="0" cy="0"/>
          <a:chOff x="0" y="0"/>
          <a:chExt cx="0" cy="0"/>
        </a:xfrm>
      </p:grpSpPr>
      <p:sp>
        <p:nvSpPr>
          <p:cNvPr id="2" name="Text 0"/>
          <p:cNvSpPr/>
          <p:nvPr/>
        </p:nvSpPr>
        <p:spPr>
          <a:xfrm>
            <a:off x="457200" y="256032"/>
            <a:ext cx="8229600" cy="566928"/>
          </a:xfrm>
          <a:prstGeom prst="rect">
            <a:avLst/>
          </a:prstGeom>
          <a:noFill/>
          <a:ln/>
        </p:spPr>
        <p:txBody>
          <a:bodyPr wrap="square" lIns="0" tIns="0" rIns="0" bIns="0" rtlCol="0" anchor="ctr"/>
          <a:lstStyle/>
          <a:p>
            <a:pPr marL="0" indent="0">
              <a:buNone/>
            </a:pPr>
            <a:r>
              <a:rPr lang="en-US" sz="2700" b="1" dirty="0">
                <a:solidFill>
                  <a:srgbClr val="2C2C2A"/>
                </a:solidFill>
                <a:latin typeface="Cambria" pitchFamily="34" charset="0"/>
                <a:ea typeface="Cambria" pitchFamily="34" charset="-122"/>
                <a:cs typeface="Cambria" pitchFamily="34" charset="-120"/>
              </a:rPr>
              <a:t>La ventana de contexto</a:t>
            </a:r>
            <a:endParaRPr lang="en-US" sz="2700" dirty="0"/>
          </a:p>
        </p:txBody>
      </p:sp>
      <p:sp>
        <p:nvSpPr>
          <p:cNvPr id="3" name="Text 1"/>
          <p:cNvSpPr/>
          <p:nvPr/>
        </p:nvSpPr>
        <p:spPr>
          <a:xfrm>
            <a:off x="457200" y="822960"/>
            <a:ext cx="8229600" cy="320040"/>
          </a:xfrm>
          <a:prstGeom prst="rect">
            <a:avLst/>
          </a:prstGeom>
          <a:noFill/>
          <a:ln/>
        </p:spPr>
        <p:txBody>
          <a:bodyPr wrap="square" lIns="0" tIns="0" rIns="0" bIns="0" rtlCol="0" anchor="ctr"/>
          <a:lstStyle/>
          <a:p>
            <a:pPr marL="0" indent="0">
              <a:buNone/>
            </a:pPr>
            <a:r>
              <a:rPr lang="en-US" sz="1300" i="1" dirty="0">
                <a:solidFill>
                  <a:srgbClr val="5F5E5A"/>
                </a:solidFill>
                <a:latin typeface="Calibri" pitchFamily="34" charset="0"/>
                <a:ea typeface="Calibri" pitchFamily="34" charset="-122"/>
                <a:cs typeface="Calibri" pitchFamily="34" charset="-120"/>
              </a:rPr>
              <a:t>El riesgo real: contaminar un proyecto con información de otro</a:t>
            </a:r>
            <a:endParaRPr lang="en-US" sz="1300" dirty="0"/>
          </a:p>
        </p:txBody>
      </p:sp>
      <p:sp>
        <p:nvSpPr>
          <p:cNvPr id="4" name="Shape 2"/>
          <p:cNvSpPr/>
          <p:nvPr/>
        </p:nvSpPr>
        <p:spPr>
          <a:xfrm>
            <a:off x="365760" y="1261872"/>
            <a:ext cx="8412480" cy="658368"/>
          </a:xfrm>
          <a:prstGeom prst="roundRect">
            <a:avLst>
              <a:gd name="adj" fmla="val 13889"/>
            </a:avLst>
          </a:prstGeom>
          <a:solidFill>
            <a:srgbClr val="FFF5F5"/>
          </a:solidFill>
          <a:ln w="10160">
            <a:solidFill>
              <a:srgbClr val="FFBBBB"/>
            </a:solidFill>
            <a:prstDash val="solid"/>
          </a:ln>
        </p:spPr>
        <p:txBody>
          <a:bodyPr/>
          <a:lstStyle/>
          <a:p>
            <a:endParaRPr lang="es-ES_tradnl"/>
          </a:p>
        </p:txBody>
      </p:sp>
      <p:sp>
        <p:nvSpPr>
          <p:cNvPr id="5" name="Text 3"/>
          <p:cNvSpPr/>
          <p:nvPr/>
        </p:nvSpPr>
        <p:spPr>
          <a:xfrm>
            <a:off x="548640" y="1353312"/>
            <a:ext cx="8046720" cy="475488"/>
          </a:xfrm>
          <a:prstGeom prst="rect">
            <a:avLst/>
          </a:prstGeom>
          <a:noFill/>
          <a:ln/>
        </p:spPr>
        <p:txBody>
          <a:bodyPr wrap="square" lIns="0" tIns="0" rIns="0" bIns="0" rtlCol="0" anchor="ctr"/>
          <a:lstStyle/>
          <a:p>
            <a:pPr marL="0" indent="0">
              <a:buNone/>
            </a:pPr>
            <a:r>
              <a:rPr lang="en-US" sz="1150" i="1" dirty="0">
                <a:solidFill>
                  <a:srgbClr val="C0392B"/>
                </a:solidFill>
                <a:latin typeface="Calibri" pitchFamily="34" charset="0"/>
                <a:ea typeface="Calibri" pitchFamily="34" charset="-122"/>
                <a:cs typeface="Calibri" pitchFamily="34" charset="-120"/>
              </a:rPr>
              <a:t>⚠️  El problema más silencioso de trabajar con agentes en sesiones largas no es que el agente olvide — es que mezcle contexto de dos proyectos distintos y lo aplique donde no debe.</a:t>
            </a:r>
            <a:endParaRPr lang="en-US" sz="1150" dirty="0"/>
          </a:p>
        </p:txBody>
      </p:sp>
      <p:sp>
        <p:nvSpPr>
          <p:cNvPr id="6" name="Shape 4"/>
          <p:cNvSpPr/>
          <p:nvPr/>
        </p:nvSpPr>
        <p:spPr>
          <a:xfrm>
            <a:off x="365760" y="2057400"/>
            <a:ext cx="8412480" cy="1234440"/>
          </a:xfrm>
          <a:prstGeom prst="roundRect">
            <a:avLst>
              <a:gd name="adj" fmla="val 7407"/>
            </a:avLst>
          </a:prstGeom>
          <a:solidFill>
            <a:srgbClr val="FFFFFF"/>
          </a:solidFill>
          <a:ln w="6350">
            <a:solidFill>
              <a:srgbClr val="D3D1C7"/>
            </a:solidFill>
            <a:prstDash val="solid"/>
          </a:ln>
          <a:effectLst>
            <a:outerShdw blurRad="88900" dist="25400" dir="2700000" algn="bl" rotWithShape="0">
              <a:srgbClr val="000000">
                <a:alpha val="11000"/>
              </a:srgbClr>
            </a:outerShdw>
          </a:effectLst>
        </p:spPr>
        <p:txBody>
          <a:bodyPr/>
          <a:lstStyle/>
          <a:p>
            <a:endParaRPr lang="es-ES_tradnl"/>
          </a:p>
        </p:txBody>
      </p:sp>
      <p:sp>
        <p:nvSpPr>
          <p:cNvPr id="7" name="Text 5"/>
          <p:cNvSpPr/>
          <p:nvPr/>
        </p:nvSpPr>
        <p:spPr>
          <a:xfrm>
            <a:off x="548640" y="2148840"/>
            <a:ext cx="8046720" cy="274320"/>
          </a:xfrm>
          <a:prstGeom prst="rect">
            <a:avLst/>
          </a:prstGeom>
          <a:noFill/>
          <a:ln/>
        </p:spPr>
        <p:txBody>
          <a:bodyPr wrap="square" lIns="0" tIns="0" rIns="0" bIns="0" rtlCol="0" anchor="ctr"/>
          <a:lstStyle/>
          <a:p>
            <a:pPr marL="0" indent="0">
              <a:buNone/>
            </a:pPr>
            <a:r>
              <a:rPr lang="en-US" sz="1050" b="1" dirty="0">
                <a:solidFill>
                  <a:srgbClr val="534AB7"/>
                </a:solidFill>
                <a:latin typeface="Calibri" pitchFamily="34" charset="0"/>
                <a:ea typeface="Calibri" pitchFamily="34" charset="-122"/>
                <a:cs typeface="Calibri" pitchFamily="34" charset="-120"/>
              </a:rPr>
              <a:t>Escenario real:</a:t>
            </a:r>
            <a:endParaRPr lang="en-US" sz="1050" dirty="0"/>
          </a:p>
        </p:txBody>
      </p:sp>
      <p:sp>
        <p:nvSpPr>
          <p:cNvPr id="8" name="Text 6"/>
          <p:cNvSpPr/>
          <p:nvPr/>
        </p:nvSpPr>
        <p:spPr>
          <a:xfrm>
            <a:off x="548640" y="2468880"/>
            <a:ext cx="8046720" cy="749808"/>
          </a:xfrm>
          <a:prstGeom prst="rect">
            <a:avLst/>
          </a:prstGeom>
          <a:noFill/>
          <a:ln/>
        </p:spPr>
        <p:txBody>
          <a:bodyPr wrap="square" lIns="0" tIns="0" rIns="0" bIns="0" rtlCol="0" anchor="ctr"/>
          <a:lstStyle/>
          <a:p>
            <a:pPr marL="0" indent="0">
              <a:buNone/>
            </a:pPr>
            <a:r>
              <a:rPr lang="en-US" sz="1050" dirty="0">
                <a:solidFill>
                  <a:srgbClr val="5F5E5A"/>
                </a:solidFill>
                <a:latin typeface="Calibri" pitchFamily="34" charset="0"/>
                <a:ea typeface="Calibri" pitchFamily="34" charset="-122"/>
                <a:cs typeface="Calibri" pitchFamily="34" charset="-120"/>
              </a:rPr>
              <a:t>Estás trabajando en el análisis de Atacama (Proyecto A) en una sesión de Claude Code. Sin cerrar la sesión, empiezas a trabajar en un análisis de microbioma intestinal con datos clínicos (Proyecto B). El agente recuerda que las muestras se llaman 'BAQ' y 'YUN', que las variables clave son 'AvgSoilRH' y 'temperatura', y las aplica al nuevo proyecto.</a:t>
            </a:r>
            <a:endParaRPr lang="en-US" sz="1050" dirty="0"/>
          </a:p>
        </p:txBody>
      </p:sp>
      <p:sp>
        <p:nvSpPr>
          <p:cNvPr id="9" name="Shape 7"/>
          <p:cNvSpPr/>
          <p:nvPr/>
        </p:nvSpPr>
        <p:spPr>
          <a:xfrm>
            <a:off x="320040" y="3429000"/>
            <a:ext cx="2834640" cy="1691640"/>
          </a:xfrm>
          <a:prstGeom prst="roundRect">
            <a:avLst>
              <a:gd name="adj" fmla="val 5405"/>
            </a:avLst>
          </a:prstGeom>
          <a:solidFill>
            <a:srgbClr val="FFFFFF"/>
          </a:solidFill>
          <a:ln w="12700">
            <a:solidFill>
              <a:srgbClr val="C0392B"/>
            </a:solidFill>
            <a:prstDash val="solid"/>
          </a:ln>
          <a:effectLst>
            <a:outerShdw blurRad="88900" dist="25400" dir="2700000" algn="bl" rotWithShape="0">
              <a:srgbClr val="000000">
                <a:alpha val="11000"/>
              </a:srgbClr>
            </a:outerShdw>
          </a:effectLst>
        </p:spPr>
        <p:txBody>
          <a:bodyPr/>
          <a:lstStyle/>
          <a:p>
            <a:endParaRPr lang="es-ES_tradnl"/>
          </a:p>
        </p:txBody>
      </p:sp>
      <p:sp>
        <p:nvSpPr>
          <p:cNvPr id="10" name="Text 8"/>
          <p:cNvSpPr/>
          <p:nvPr/>
        </p:nvSpPr>
        <p:spPr>
          <a:xfrm>
            <a:off x="457200" y="3520440"/>
            <a:ext cx="2560320" cy="411480"/>
          </a:xfrm>
          <a:prstGeom prst="rect">
            <a:avLst/>
          </a:prstGeom>
          <a:noFill/>
          <a:ln/>
        </p:spPr>
        <p:txBody>
          <a:bodyPr wrap="square" lIns="0" tIns="0" rIns="0" bIns="0" rtlCol="0" anchor="ctr"/>
          <a:lstStyle/>
          <a:p>
            <a:pPr marL="0" indent="0">
              <a:buNone/>
            </a:pPr>
            <a:r>
              <a:rPr lang="en-US" sz="1000" b="1" dirty="0">
                <a:solidFill>
                  <a:srgbClr val="C0392B"/>
                </a:solidFill>
                <a:latin typeface="Calibri" pitchFamily="34" charset="0"/>
                <a:ea typeface="Calibri" pitchFamily="34" charset="-122"/>
                <a:cs typeface="Calibri" pitchFamily="34" charset="-120"/>
              </a:rPr>
              <a:t>❌  Nombres de variables incorrectos</a:t>
            </a:r>
            <a:endParaRPr lang="en-US" sz="1000" dirty="0"/>
          </a:p>
        </p:txBody>
      </p:sp>
      <p:sp>
        <p:nvSpPr>
          <p:cNvPr id="11" name="Text 9"/>
          <p:cNvSpPr/>
          <p:nvPr/>
        </p:nvSpPr>
        <p:spPr>
          <a:xfrm>
            <a:off x="457200" y="3977640"/>
            <a:ext cx="2560320" cy="1051560"/>
          </a:xfrm>
          <a:prstGeom prst="rect">
            <a:avLst/>
          </a:prstGeom>
          <a:noFill/>
          <a:ln/>
        </p:spPr>
        <p:txBody>
          <a:bodyPr wrap="square" lIns="0" tIns="0" rIns="0" bIns="0" rtlCol="0" anchor="ctr"/>
          <a:lstStyle/>
          <a:p>
            <a:pPr marL="0" indent="0">
              <a:buNone/>
            </a:pPr>
            <a:r>
              <a:rPr lang="en-US" sz="950" dirty="0">
                <a:solidFill>
                  <a:srgbClr val="5F5E5A"/>
                </a:solidFill>
                <a:latin typeface="Calibri" pitchFamily="34" charset="0"/>
                <a:ea typeface="Calibri" pitchFamily="34" charset="-122"/>
                <a:cs typeface="Calibri" pitchFamily="34" charset="-120"/>
              </a:rPr>
              <a:t>El agente busca 'AvgSoilRH' en tu dataset clínico — esa columna no existe y genera un error silencioso o usa la columna más parecida.</a:t>
            </a:r>
            <a:endParaRPr lang="en-US" sz="950" dirty="0"/>
          </a:p>
        </p:txBody>
      </p:sp>
      <p:sp>
        <p:nvSpPr>
          <p:cNvPr id="12" name="Shape 10"/>
          <p:cNvSpPr/>
          <p:nvPr/>
        </p:nvSpPr>
        <p:spPr>
          <a:xfrm>
            <a:off x="3291840" y="3429000"/>
            <a:ext cx="2834640" cy="1691640"/>
          </a:xfrm>
          <a:prstGeom prst="roundRect">
            <a:avLst>
              <a:gd name="adj" fmla="val 5405"/>
            </a:avLst>
          </a:prstGeom>
          <a:solidFill>
            <a:srgbClr val="FFFFFF"/>
          </a:solidFill>
          <a:ln w="12700">
            <a:solidFill>
              <a:srgbClr val="C97B2A"/>
            </a:solidFill>
            <a:prstDash val="solid"/>
          </a:ln>
          <a:effectLst>
            <a:outerShdw blurRad="88900" dist="25400" dir="2700000" algn="bl" rotWithShape="0">
              <a:srgbClr val="000000">
                <a:alpha val="11000"/>
              </a:srgbClr>
            </a:outerShdw>
          </a:effectLst>
        </p:spPr>
        <p:txBody>
          <a:bodyPr/>
          <a:lstStyle/>
          <a:p>
            <a:endParaRPr lang="es-ES_tradnl"/>
          </a:p>
        </p:txBody>
      </p:sp>
      <p:sp>
        <p:nvSpPr>
          <p:cNvPr id="13" name="Text 11"/>
          <p:cNvSpPr/>
          <p:nvPr/>
        </p:nvSpPr>
        <p:spPr>
          <a:xfrm>
            <a:off x="3429000" y="3520440"/>
            <a:ext cx="2560320" cy="411480"/>
          </a:xfrm>
          <a:prstGeom prst="rect">
            <a:avLst/>
          </a:prstGeom>
          <a:noFill/>
          <a:ln/>
        </p:spPr>
        <p:txBody>
          <a:bodyPr wrap="square" lIns="0" tIns="0" rIns="0" bIns="0" rtlCol="0" anchor="ctr"/>
          <a:lstStyle/>
          <a:p>
            <a:pPr marL="0" indent="0">
              <a:buNone/>
            </a:pPr>
            <a:r>
              <a:rPr lang="en-US" sz="1000" b="1" dirty="0">
                <a:solidFill>
                  <a:srgbClr val="C97B2A"/>
                </a:solidFill>
                <a:latin typeface="Calibri" pitchFamily="34" charset="0"/>
                <a:ea typeface="Calibri" pitchFamily="34" charset="-122"/>
                <a:cs typeface="Calibri" pitchFamily="34" charset="-120"/>
              </a:rPr>
              <a:t>❌  Hipótesis del proyecto equivocado</a:t>
            </a:r>
            <a:endParaRPr lang="en-US" sz="1000" dirty="0"/>
          </a:p>
        </p:txBody>
      </p:sp>
      <p:sp>
        <p:nvSpPr>
          <p:cNvPr id="14" name="Text 12"/>
          <p:cNvSpPr/>
          <p:nvPr/>
        </p:nvSpPr>
        <p:spPr>
          <a:xfrm>
            <a:off x="3429000" y="3977640"/>
            <a:ext cx="2560320" cy="1051560"/>
          </a:xfrm>
          <a:prstGeom prst="rect">
            <a:avLst/>
          </a:prstGeom>
          <a:noFill/>
          <a:ln/>
        </p:spPr>
        <p:txBody>
          <a:bodyPr wrap="square" lIns="0" tIns="0" rIns="0" bIns="0" rtlCol="0" anchor="ctr"/>
          <a:lstStyle/>
          <a:p>
            <a:pPr marL="0" indent="0">
              <a:buNone/>
            </a:pPr>
            <a:r>
              <a:rPr lang="en-US" sz="950" dirty="0">
                <a:solidFill>
                  <a:srgbClr val="5F5E5A"/>
                </a:solidFill>
                <a:latin typeface="Calibri" pitchFamily="34" charset="0"/>
                <a:ea typeface="Calibri" pitchFamily="34" charset="-122"/>
                <a:cs typeface="Calibri" pitchFamily="34" charset="-120"/>
              </a:rPr>
              <a:t>El agente sigue asumiendo que la variable independiente es la aridez. Propone análisis correctos para Atacama pero incorrectos para datos clínicos.</a:t>
            </a:r>
            <a:endParaRPr lang="en-US" sz="950" dirty="0"/>
          </a:p>
        </p:txBody>
      </p:sp>
      <p:sp>
        <p:nvSpPr>
          <p:cNvPr id="15" name="Shape 13"/>
          <p:cNvSpPr/>
          <p:nvPr/>
        </p:nvSpPr>
        <p:spPr>
          <a:xfrm>
            <a:off x="6263640" y="3429000"/>
            <a:ext cx="2834640" cy="1691640"/>
          </a:xfrm>
          <a:prstGeom prst="roundRect">
            <a:avLst>
              <a:gd name="adj" fmla="val 5405"/>
            </a:avLst>
          </a:prstGeom>
          <a:solidFill>
            <a:srgbClr val="FFFFFF"/>
          </a:solidFill>
          <a:ln w="12700">
            <a:solidFill>
              <a:srgbClr val="534AB7"/>
            </a:solidFill>
            <a:prstDash val="solid"/>
          </a:ln>
          <a:effectLst>
            <a:outerShdw blurRad="88900" dist="25400" dir="2700000" algn="bl" rotWithShape="0">
              <a:srgbClr val="000000">
                <a:alpha val="11000"/>
              </a:srgbClr>
            </a:outerShdw>
          </a:effectLst>
        </p:spPr>
        <p:txBody>
          <a:bodyPr/>
          <a:lstStyle/>
          <a:p>
            <a:endParaRPr lang="es-ES_tradnl"/>
          </a:p>
        </p:txBody>
      </p:sp>
      <p:sp>
        <p:nvSpPr>
          <p:cNvPr id="16" name="Text 14"/>
          <p:cNvSpPr/>
          <p:nvPr/>
        </p:nvSpPr>
        <p:spPr>
          <a:xfrm>
            <a:off x="6400800" y="3520440"/>
            <a:ext cx="2560320" cy="411480"/>
          </a:xfrm>
          <a:prstGeom prst="rect">
            <a:avLst/>
          </a:prstGeom>
          <a:noFill/>
          <a:ln/>
        </p:spPr>
        <p:txBody>
          <a:bodyPr wrap="square" lIns="0" tIns="0" rIns="0" bIns="0" rtlCol="0" anchor="ctr"/>
          <a:lstStyle/>
          <a:p>
            <a:pPr marL="0" indent="0">
              <a:buNone/>
            </a:pPr>
            <a:r>
              <a:rPr lang="en-US" sz="1000" b="1" dirty="0">
                <a:solidFill>
                  <a:srgbClr val="534AB7"/>
                </a:solidFill>
                <a:latin typeface="Calibri" pitchFamily="34" charset="0"/>
                <a:ea typeface="Calibri" pitchFamily="34" charset="-122"/>
                <a:cs typeface="Calibri" pitchFamily="34" charset="-120"/>
              </a:rPr>
              <a:t>❌  Rutas de archivos cruzadas</a:t>
            </a:r>
            <a:endParaRPr lang="en-US" sz="1000" dirty="0"/>
          </a:p>
        </p:txBody>
      </p:sp>
      <p:sp>
        <p:nvSpPr>
          <p:cNvPr id="17" name="Text 15"/>
          <p:cNvSpPr/>
          <p:nvPr/>
        </p:nvSpPr>
        <p:spPr>
          <a:xfrm>
            <a:off x="6400800" y="3977640"/>
            <a:ext cx="2560320" cy="1051560"/>
          </a:xfrm>
          <a:prstGeom prst="rect">
            <a:avLst/>
          </a:prstGeom>
          <a:noFill/>
          <a:ln/>
        </p:spPr>
        <p:txBody>
          <a:bodyPr wrap="square" lIns="0" tIns="0" rIns="0" bIns="0" rtlCol="0" anchor="ctr"/>
          <a:lstStyle/>
          <a:p>
            <a:pPr marL="0" indent="0">
              <a:buNone/>
            </a:pPr>
            <a:r>
              <a:rPr lang="en-US" sz="950" dirty="0">
                <a:solidFill>
                  <a:srgbClr val="5F5E5A"/>
                </a:solidFill>
                <a:latin typeface="Calibri" pitchFamily="34" charset="0"/>
                <a:ea typeface="Calibri" pitchFamily="34" charset="-122"/>
                <a:cs typeface="Calibri" pitchFamily="34" charset="-120"/>
              </a:rPr>
              <a:t>Guarda outputs del Proyecto B en la carpeta del Proyecto A, o lee el archivo de abundancias de Atacama cuando debería leer el nuevo.</a:t>
            </a:r>
            <a:endParaRPr lang="en-US" sz="950" dirty="0"/>
          </a:p>
        </p:txBody>
      </p:sp>
      <p:sp>
        <p:nvSpPr>
          <p:cNvPr id="18" name="Shape 16"/>
          <p:cNvSpPr/>
          <p:nvPr/>
        </p:nvSpPr>
        <p:spPr>
          <a:xfrm>
            <a:off x="365760" y="5193792"/>
            <a:ext cx="8412480" cy="475488"/>
          </a:xfrm>
          <a:prstGeom prst="roundRect">
            <a:avLst>
              <a:gd name="adj" fmla="val 15385"/>
            </a:avLst>
          </a:prstGeom>
          <a:solidFill>
            <a:srgbClr val="E1F5EE"/>
          </a:solidFill>
          <a:ln w="6350">
            <a:solidFill>
              <a:srgbClr val="1D9E75"/>
            </a:solidFill>
            <a:prstDash val="solid"/>
          </a:ln>
        </p:spPr>
        <p:txBody>
          <a:bodyPr/>
          <a:lstStyle/>
          <a:p>
            <a:endParaRPr lang="es-ES_tradnl"/>
          </a:p>
        </p:txBody>
      </p:sp>
      <p:sp>
        <p:nvSpPr>
          <p:cNvPr id="19" name="Text 17"/>
          <p:cNvSpPr/>
          <p:nvPr/>
        </p:nvSpPr>
        <p:spPr>
          <a:xfrm>
            <a:off x="548640" y="5266944"/>
            <a:ext cx="8046720" cy="347472"/>
          </a:xfrm>
          <a:prstGeom prst="rect">
            <a:avLst/>
          </a:prstGeom>
          <a:noFill/>
          <a:ln/>
        </p:spPr>
        <p:txBody>
          <a:bodyPr wrap="square" lIns="0" tIns="0" rIns="0" bIns="0" rtlCol="0" anchor="ctr"/>
          <a:lstStyle/>
          <a:p>
            <a:pPr marL="0" indent="0">
              <a:buNone/>
            </a:pPr>
            <a:r>
              <a:rPr lang="en-US" sz="1100" b="1" dirty="0">
                <a:solidFill>
                  <a:srgbClr val="0F6E56"/>
                </a:solidFill>
                <a:latin typeface="Calibri" pitchFamily="34" charset="0"/>
                <a:ea typeface="Calibri" pitchFamily="34" charset="-122"/>
                <a:cs typeface="Calibri" pitchFamily="34" charset="-120"/>
              </a:rPr>
              <a:t>✅  Solución: siempre usa /clear al cambiar de proyecto — y un CLAUDE.md por proyecto.</a:t>
            </a:r>
            <a:endParaRPr lang="en-US" sz="110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1">
    <p:bg>
      <p:bgPr>
        <a:solidFill>
          <a:srgbClr val="F8F8F6"/>
        </a:solidFill>
        <a:effectLst/>
      </p:bgPr>
    </p:bg>
    <p:spTree>
      <p:nvGrpSpPr>
        <p:cNvPr id="1" name=""/>
        <p:cNvGrpSpPr/>
        <p:nvPr/>
      </p:nvGrpSpPr>
      <p:grpSpPr>
        <a:xfrm>
          <a:off x="0" y="0"/>
          <a:ext cx="0" cy="0"/>
          <a:chOff x="0" y="0"/>
          <a:chExt cx="0" cy="0"/>
        </a:xfrm>
      </p:grpSpPr>
      <p:sp>
        <p:nvSpPr>
          <p:cNvPr id="2" name="Text 0"/>
          <p:cNvSpPr/>
          <p:nvPr/>
        </p:nvSpPr>
        <p:spPr>
          <a:xfrm>
            <a:off x="457200" y="256032"/>
            <a:ext cx="8229600" cy="566928"/>
          </a:xfrm>
          <a:prstGeom prst="rect">
            <a:avLst/>
          </a:prstGeom>
          <a:noFill/>
          <a:ln/>
        </p:spPr>
        <p:txBody>
          <a:bodyPr wrap="square" lIns="0" tIns="0" rIns="0" bIns="0" rtlCol="0" anchor="ctr"/>
          <a:lstStyle/>
          <a:p>
            <a:pPr marL="0" indent="0">
              <a:buNone/>
            </a:pPr>
            <a:r>
              <a:rPr lang="en-US" sz="2700" b="1" dirty="0">
                <a:solidFill>
                  <a:srgbClr val="2C2C2A"/>
                </a:solidFill>
                <a:latin typeface="Cambria" pitchFamily="34" charset="0"/>
                <a:ea typeface="Cambria" pitchFamily="34" charset="-122"/>
                <a:cs typeface="Cambria" pitchFamily="34" charset="-120"/>
              </a:rPr>
              <a:t>Elegir el modelo con /model</a:t>
            </a:r>
            <a:endParaRPr lang="en-US" sz="2700" dirty="0"/>
          </a:p>
        </p:txBody>
      </p:sp>
      <p:sp>
        <p:nvSpPr>
          <p:cNvPr id="3" name="Text 1"/>
          <p:cNvSpPr/>
          <p:nvPr/>
        </p:nvSpPr>
        <p:spPr>
          <a:xfrm>
            <a:off x="457200" y="822960"/>
            <a:ext cx="8229600" cy="320040"/>
          </a:xfrm>
          <a:prstGeom prst="rect">
            <a:avLst/>
          </a:prstGeom>
          <a:noFill/>
          <a:ln/>
        </p:spPr>
        <p:txBody>
          <a:bodyPr wrap="square" lIns="0" tIns="0" rIns="0" bIns="0" rtlCol="0" anchor="ctr"/>
          <a:lstStyle/>
          <a:p>
            <a:pPr marL="0" indent="0">
              <a:buNone/>
            </a:pPr>
            <a:r>
              <a:rPr lang="en-US" sz="1300" i="1" dirty="0">
                <a:solidFill>
                  <a:srgbClr val="5F5E5A"/>
                </a:solidFill>
                <a:latin typeface="Calibri" pitchFamily="34" charset="0"/>
                <a:ea typeface="Calibri" pitchFamily="34" charset="-122"/>
                <a:cs typeface="Calibri" pitchFamily="34" charset="-120"/>
              </a:rPr>
              <a:t>No todos los modelos son iguales — ni necesitas el mismo para todo</a:t>
            </a:r>
            <a:endParaRPr lang="en-US" sz="1300" dirty="0"/>
          </a:p>
        </p:txBody>
      </p:sp>
      <p:sp>
        <p:nvSpPr>
          <p:cNvPr id="4" name="Shape 2"/>
          <p:cNvSpPr/>
          <p:nvPr/>
        </p:nvSpPr>
        <p:spPr>
          <a:xfrm>
            <a:off x="365760" y="1325880"/>
            <a:ext cx="4114800" cy="777240"/>
          </a:xfrm>
          <a:prstGeom prst="roundRect">
            <a:avLst>
              <a:gd name="adj" fmla="val 11765"/>
            </a:avLst>
          </a:prstGeom>
          <a:solidFill>
            <a:srgbClr val="1E1E2E"/>
          </a:solidFill>
          <a:ln w="6350">
            <a:solidFill>
              <a:srgbClr val="2A2A4A"/>
            </a:solidFill>
            <a:prstDash val="solid"/>
          </a:ln>
        </p:spPr>
        <p:txBody>
          <a:bodyPr/>
          <a:lstStyle/>
          <a:p>
            <a:endParaRPr lang="es-ES_tradnl"/>
          </a:p>
        </p:txBody>
      </p:sp>
      <p:sp>
        <p:nvSpPr>
          <p:cNvPr id="5" name="Text 3"/>
          <p:cNvSpPr/>
          <p:nvPr/>
        </p:nvSpPr>
        <p:spPr>
          <a:xfrm>
            <a:off x="530352" y="1453896"/>
            <a:ext cx="3794760" cy="256032"/>
          </a:xfrm>
          <a:prstGeom prst="rect">
            <a:avLst/>
          </a:prstGeom>
          <a:noFill/>
          <a:ln/>
        </p:spPr>
        <p:txBody>
          <a:bodyPr wrap="square" lIns="0" tIns="0" rIns="0" bIns="0" rtlCol="0" anchor="ctr"/>
          <a:lstStyle/>
          <a:p>
            <a:pPr marL="0" indent="0">
              <a:buNone/>
            </a:pPr>
            <a:r>
              <a:rPr lang="en-US" sz="950" dirty="0">
                <a:solidFill>
                  <a:srgbClr val="888780"/>
                </a:solidFill>
                <a:latin typeface="Courier New" pitchFamily="34" charset="0"/>
                <a:ea typeface="Courier New" pitchFamily="34" charset="-122"/>
                <a:cs typeface="Courier New" pitchFamily="34" charset="-120"/>
              </a:rPr>
              <a:t># Dentro de Claude Code:</a:t>
            </a:r>
            <a:endParaRPr lang="en-US" sz="950" dirty="0"/>
          </a:p>
        </p:txBody>
      </p:sp>
      <p:sp>
        <p:nvSpPr>
          <p:cNvPr id="6" name="Text 4"/>
          <p:cNvSpPr/>
          <p:nvPr/>
        </p:nvSpPr>
        <p:spPr>
          <a:xfrm>
            <a:off x="530352" y="1728216"/>
            <a:ext cx="3794760" cy="256032"/>
          </a:xfrm>
          <a:prstGeom prst="rect">
            <a:avLst/>
          </a:prstGeom>
          <a:noFill/>
          <a:ln/>
        </p:spPr>
        <p:txBody>
          <a:bodyPr wrap="square" lIns="0" tIns="0" rIns="0" bIns="0" rtlCol="0" anchor="ctr"/>
          <a:lstStyle/>
          <a:p>
            <a:pPr marL="0" indent="0">
              <a:buNone/>
            </a:pPr>
            <a:r>
              <a:rPr lang="en-US" sz="950" dirty="0">
                <a:solidFill>
                  <a:srgbClr val="F9C74F"/>
                </a:solidFill>
                <a:latin typeface="Courier New" pitchFamily="34" charset="0"/>
                <a:ea typeface="Courier New" pitchFamily="34" charset="-122"/>
                <a:cs typeface="Courier New" pitchFamily="34" charset="-120"/>
              </a:rPr>
              <a:t>/model</a:t>
            </a:r>
            <a:endParaRPr lang="en-US" sz="950" dirty="0"/>
          </a:p>
        </p:txBody>
      </p:sp>
      <p:sp>
        <p:nvSpPr>
          <p:cNvPr id="7" name="Shape 5"/>
          <p:cNvSpPr/>
          <p:nvPr/>
        </p:nvSpPr>
        <p:spPr>
          <a:xfrm>
            <a:off x="320040" y="2240280"/>
            <a:ext cx="2834640" cy="2743200"/>
          </a:xfrm>
          <a:prstGeom prst="roundRect">
            <a:avLst>
              <a:gd name="adj" fmla="val 3333"/>
            </a:avLst>
          </a:prstGeom>
          <a:solidFill>
            <a:srgbClr val="FFFFFF"/>
          </a:solidFill>
          <a:ln w="19050">
            <a:solidFill>
              <a:srgbClr val="7B74D4"/>
            </a:solidFill>
            <a:prstDash val="solid"/>
          </a:ln>
          <a:effectLst>
            <a:outerShdw blurRad="88900" dist="25400" dir="2700000" algn="bl" rotWithShape="0">
              <a:srgbClr val="000000">
                <a:alpha val="11000"/>
              </a:srgbClr>
            </a:outerShdw>
          </a:effectLst>
        </p:spPr>
        <p:txBody>
          <a:bodyPr/>
          <a:lstStyle/>
          <a:p>
            <a:endParaRPr lang="es-ES_tradnl"/>
          </a:p>
        </p:txBody>
      </p:sp>
      <p:sp>
        <p:nvSpPr>
          <p:cNvPr id="8" name="Text 6"/>
          <p:cNvSpPr/>
          <p:nvPr/>
        </p:nvSpPr>
        <p:spPr>
          <a:xfrm>
            <a:off x="457200" y="2331720"/>
            <a:ext cx="2560320" cy="274320"/>
          </a:xfrm>
          <a:prstGeom prst="rect">
            <a:avLst/>
          </a:prstGeom>
          <a:noFill/>
          <a:ln/>
        </p:spPr>
        <p:txBody>
          <a:bodyPr wrap="square" lIns="0" tIns="0" rIns="0" bIns="0" rtlCol="0" anchor="ctr"/>
          <a:lstStyle/>
          <a:p>
            <a:pPr marL="0" indent="0">
              <a:buNone/>
            </a:pPr>
            <a:r>
              <a:rPr lang="en-US" sz="850" b="1" dirty="0">
                <a:solidFill>
                  <a:srgbClr val="7B74D4"/>
                </a:solidFill>
                <a:latin typeface="Calibri" pitchFamily="34" charset="0"/>
                <a:ea typeface="Calibri" pitchFamily="34" charset="-122"/>
                <a:cs typeface="Calibri" pitchFamily="34" charset="-120"/>
              </a:rPr>
              <a:t>★ Recomendado para comenzar</a:t>
            </a:r>
            <a:endParaRPr lang="en-US" sz="850" dirty="0"/>
          </a:p>
        </p:txBody>
      </p:sp>
      <p:sp>
        <p:nvSpPr>
          <p:cNvPr id="9" name="Text 7"/>
          <p:cNvSpPr/>
          <p:nvPr/>
        </p:nvSpPr>
        <p:spPr>
          <a:xfrm>
            <a:off x="457200" y="2651760"/>
            <a:ext cx="2560320" cy="384048"/>
          </a:xfrm>
          <a:prstGeom prst="rect">
            <a:avLst/>
          </a:prstGeom>
          <a:noFill/>
          <a:ln/>
        </p:spPr>
        <p:txBody>
          <a:bodyPr wrap="square" lIns="0" tIns="0" rIns="0" bIns="0" rtlCol="0" anchor="ctr"/>
          <a:lstStyle/>
          <a:p>
            <a:pPr marL="0" indent="0">
              <a:buNone/>
            </a:pPr>
            <a:r>
              <a:rPr lang="en-US" sz="1300" b="1" dirty="0">
                <a:solidFill>
                  <a:srgbClr val="7B74D4"/>
                </a:solidFill>
                <a:latin typeface="Cambria" pitchFamily="34" charset="0"/>
                <a:ea typeface="Cambria" pitchFamily="34" charset="-122"/>
                <a:cs typeface="Cambria" pitchFamily="34" charset="-120"/>
              </a:rPr>
              <a:t>Claude Sonnet</a:t>
            </a:r>
            <a:endParaRPr lang="en-US" sz="1300" dirty="0"/>
          </a:p>
        </p:txBody>
      </p:sp>
      <p:sp>
        <p:nvSpPr>
          <p:cNvPr id="10" name="Text 8"/>
          <p:cNvSpPr/>
          <p:nvPr/>
        </p:nvSpPr>
        <p:spPr>
          <a:xfrm>
            <a:off x="457200" y="3063240"/>
            <a:ext cx="2560320" cy="320040"/>
          </a:xfrm>
          <a:prstGeom prst="rect">
            <a:avLst/>
          </a:prstGeom>
          <a:noFill/>
          <a:ln/>
        </p:spPr>
        <p:txBody>
          <a:bodyPr wrap="square" lIns="0" tIns="0" rIns="0" bIns="0" rtlCol="0" anchor="ctr"/>
          <a:lstStyle/>
          <a:p>
            <a:pPr marL="0" indent="0">
              <a:buNone/>
            </a:pPr>
            <a:r>
              <a:rPr lang="en-US" sz="950" b="1" dirty="0">
                <a:solidFill>
                  <a:srgbClr val="5F5E5A"/>
                </a:solidFill>
                <a:latin typeface="Calibri" pitchFamily="34" charset="0"/>
                <a:ea typeface="Calibri" pitchFamily="34" charset="-122"/>
                <a:cs typeface="Calibri" pitchFamily="34" charset="-120"/>
              </a:rPr>
              <a:t>Úsalo cuando: Tarea del día a día</a:t>
            </a:r>
            <a:endParaRPr lang="en-US" sz="950" dirty="0"/>
          </a:p>
        </p:txBody>
      </p:sp>
      <p:sp>
        <p:nvSpPr>
          <p:cNvPr id="11" name="Text 9"/>
          <p:cNvSpPr/>
          <p:nvPr/>
        </p:nvSpPr>
        <p:spPr>
          <a:xfrm>
            <a:off x="457200" y="3429000"/>
            <a:ext cx="2560320" cy="1417320"/>
          </a:xfrm>
          <a:prstGeom prst="rect">
            <a:avLst/>
          </a:prstGeom>
          <a:noFill/>
          <a:ln/>
        </p:spPr>
        <p:txBody>
          <a:bodyPr wrap="square" lIns="0" tIns="0" rIns="0" bIns="0" rtlCol="0" anchor="ctr"/>
          <a:lstStyle/>
          <a:p>
            <a:pPr marL="0" indent="0">
              <a:buNone/>
            </a:pPr>
            <a:r>
              <a:rPr lang="en-US" sz="950" dirty="0">
                <a:solidFill>
                  <a:srgbClr val="5F5E5A"/>
                </a:solidFill>
                <a:latin typeface="Calibri" pitchFamily="34" charset="0"/>
                <a:ea typeface="Calibri" pitchFamily="34" charset="-122"/>
                <a:cs typeface="Calibri" pitchFamily="34" charset="-120"/>
              </a:rPr>
              <a:t>Velocidad equilibrada con calidad. Ideal para explorar datos, generar figuras, corregir errores. Recomendado como punto de partida.</a:t>
            </a:r>
            <a:endParaRPr lang="en-US" sz="950" dirty="0"/>
          </a:p>
        </p:txBody>
      </p:sp>
      <p:sp>
        <p:nvSpPr>
          <p:cNvPr id="12" name="Shape 10"/>
          <p:cNvSpPr/>
          <p:nvPr/>
        </p:nvSpPr>
        <p:spPr>
          <a:xfrm>
            <a:off x="3291840" y="2240280"/>
            <a:ext cx="2834640" cy="2743200"/>
          </a:xfrm>
          <a:prstGeom prst="roundRect">
            <a:avLst>
              <a:gd name="adj" fmla="val 3333"/>
            </a:avLst>
          </a:prstGeom>
          <a:solidFill>
            <a:srgbClr val="FFFFFF"/>
          </a:solidFill>
          <a:ln w="6350">
            <a:solidFill>
              <a:srgbClr val="D3D1C7"/>
            </a:solidFill>
            <a:prstDash val="solid"/>
          </a:ln>
          <a:effectLst>
            <a:outerShdw blurRad="88900" dist="25400" dir="2700000" algn="bl" rotWithShape="0">
              <a:srgbClr val="000000">
                <a:alpha val="11000"/>
              </a:srgbClr>
            </a:outerShdw>
          </a:effectLst>
        </p:spPr>
        <p:txBody>
          <a:bodyPr/>
          <a:lstStyle/>
          <a:p>
            <a:endParaRPr lang="es-ES_tradnl"/>
          </a:p>
        </p:txBody>
      </p:sp>
      <p:sp>
        <p:nvSpPr>
          <p:cNvPr id="13" name="Text 11"/>
          <p:cNvSpPr/>
          <p:nvPr/>
        </p:nvSpPr>
        <p:spPr>
          <a:xfrm>
            <a:off x="3429000" y="2359152"/>
            <a:ext cx="2560320" cy="384048"/>
          </a:xfrm>
          <a:prstGeom prst="rect">
            <a:avLst/>
          </a:prstGeom>
          <a:noFill/>
          <a:ln/>
        </p:spPr>
        <p:txBody>
          <a:bodyPr wrap="square" lIns="0" tIns="0" rIns="0" bIns="0" rtlCol="0" anchor="ctr"/>
          <a:lstStyle/>
          <a:p>
            <a:pPr marL="0" indent="0">
              <a:buNone/>
            </a:pPr>
            <a:r>
              <a:rPr lang="en-US" sz="1300" b="1" dirty="0">
                <a:solidFill>
                  <a:srgbClr val="1D9E75"/>
                </a:solidFill>
                <a:latin typeface="Cambria" pitchFamily="34" charset="0"/>
                <a:ea typeface="Cambria" pitchFamily="34" charset="-122"/>
                <a:cs typeface="Cambria" pitchFamily="34" charset="-120"/>
              </a:rPr>
              <a:t>Claude Opus</a:t>
            </a:r>
            <a:endParaRPr lang="en-US" sz="1300" dirty="0"/>
          </a:p>
        </p:txBody>
      </p:sp>
      <p:sp>
        <p:nvSpPr>
          <p:cNvPr id="14" name="Text 12"/>
          <p:cNvSpPr/>
          <p:nvPr/>
        </p:nvSpPr>
        <p:spPr>
          <a:xfrm>
            <a:off x="3429000" y="2788920"/>
            <a:ext cx="2560320" cy="320040"/>
          </a:xfrm>
          <a:prstGeom prst="rect">
            <a:avLst/>
          </a:prstGeom>
          <a:noFill/>
          <a:ln/>
        </p:spPr>
        <p:txBody>
          <a:bodyPr wrap="square" lIns="0" tIns="0" rIns="0" bIns="0" rtlCol="0" anchor="ctr"/>
          <a:lstStyle/>
          <a:p>
            <a:pPr marL="0" indent="0">
              <a:buNone/>
            </a:pPr>
            <a:r>
              <a:rPr lang="en-US" sz="950" b="1" dirty="0">
                <a:solidFill>
                  <a:srgbClr val="5F5E5A"/>
                </a:solidFill>
                <a:latin typeface="Calibri" pitchFamily="34" charset="0"/>
                <a:ea typeface="Calibri" pitchFamily="34" charset="-122"/>
                <a:cs typeface="Calibri" pitchFamily="34" charset="-120"/>
              </a:rPr>
              <a:t>Úsalo cuando: Tareas complejas</a:t>
            </a:r>
            <a:endParaRPr lang="en-US" sz="950" dirty="0"/>
          </a:p>
        </p:txBody>
      </p:sp>
      <p:sp>
        <p:nvSpPr>
          <p:cNvPr id="15" name="Text 13"/>
          <p:cNvSpPr/>
          <p:nvPr/>
        </p:nvSpPr>
        <p:spPr>
          <a:xfrm>
            <a:off x="3429000" y="3154680"/>
            <a:ext cx="2560320" cy="1417320"/>
          </a:xfrm>
          <a:prstGeom prst="rect">
            <a:avLst/>
          </a:prstGeom>
          <a:noFill/>
          <a:ln/>
        </p:spPr>
        <p:txBody>
          <a:bodyPr wrap="square" lIns="0" tIns="0" rIns="0" bIns="0" rtlCol="0" anchor="ctr"/>
          <a:lstStyle/>
          <a:p>
            <a:pPr marL="0" indent="0">
              <a:buNone/>
            </a:pPr>
            <a:r>
              <a:rPr lang="en-US" sz="950" dirty="0">
                <a:solidFill>
                  <a:srgbClr val="5F5E5A"/>
                </a:solidFill>
                <a:latin typeface="Calibri" pitchFamily="34" charset="0"/>
                <a:ea typeface="Calibri" pitchFamily="34" charset="-122"/>
                <a:cs typeface="Calibri" pitchFamily="34" charset="-120"/>
              </a:rPr>
              <a:t>Máxima capacidad de razonamiento. Usar cuando Sonnet no logra resolver un error estadístico persistente o una lógica de análisis difícil.</a:t>
            </a:r>
            <a:endParaRPr lang="en-US" sz="950" dirty="0"/>
          </a:p>
        </p:txBody>
      </p:sp>
      <p:sp>
        <p:nvSpPr>
          <p:cNvPr id="16" name="Shape 14"/>
          <p:cNvSpPr/>
          <p:nvPr/>
        </p:nvSpPr>
        <p:spPr>
          <a:xfrm>
            <a:off x="6263640" y="2240280"/>
            <a:ext cx="2834640" cy="2743200"/>
          </a:xfrm>
          <a:prstGeom prst="roundRect">
            <a:avLst>
              <a:gd name="adj" fmla="val 3333"/>
            </a:avLst>
          </a:prstGeom>
          <a:solidFill>
            <a:srgbClr val="FFFFFF"/>
          </a:solidFill>
          <a:ln w="6350">
            <a:solidFill>
              <a:srgbClr val="D3D1C7"/>
            </a:solidFill>
            <a:prstDash val="solid"/>
          </a:ln>
          <a:effectLst>
            <a:outerShdw blurRad="88900" dist="25400" dir="2700000" algn="bl" rotWithShape="0">
              <a:srgbClr val="000000">
                <a:alpha val="11000"/>
              </a:srgbClr>
            </a:outerShdw>
          </a:effectLst>
        </p:spPr>
        <p:txBody>
          <a:bodyPr/>
          <a:lstStyle/>
          <a:p>
            <a:endParaRPr lang="es-ES_tradnl"/>
          </a:p>
        </p:txBody>
      </p:sp>
      <p:sp>
        <p:nvSpPr>
          <p:cNvPr id="17" name="Text 15"/>
          <p:cNvSpPr/>
          <p:nvPr/>
        </p:nvSpPr>
        <p:spPr>
          <a:xfrm>
            <a:off x="6400800" y="2359152"/>
            <a:ext cx="2560320" cy="384048"/>
          </a:xfrm>
          <a:prstGeom prst="rect">
            <a:avLst/>
          </a:prstGeom>
          <a:noFill/>
          <a:ln/>
        </p:spPr>
        <p:txBody>
          <a:bodyPr wrap="square" lIns="0" tIns="0" rIns="0" bIns="0" rtlCol="0" anchor="ctr"/>
          <a:lstStyle/>
          <a:p>
            <a:pPr marL="0" indent="0">
              <a:buNone/>
            </a:pPr>
            <a:r>
              <a:rPr lang="en-US" sz="1300" b="1" dirty="0">
                <a:solidFill>
                  <a:srgbClr val="C97B2A"/>
                </a:solidFill>
                <a:latin typeface="Cambria" pitchFamily="34" charset="0"/>
                <a:ea typeface="Cambria" pitchFamily="34" charset="-122"/>
                <a:cs typeface="Cambria" pitchFamily="34" charset="-120"/>
              </a:rPr>
              <a:t>Claude Haiku</a:t>
            </a:r>
            <a:endParaRPr lang="en-US" sz="1300" dirty="0"/>
          </a:p>
        </p:txBody>
      </p:sp>
      <p:sp>
        <p:nvSpPr>
          <p:cNvPr id="18" name="Text 16"/>
          <p:cNvSpPr/>
          <p:nvPr/>
        </p:nvSpPr>
        <p:spPr>
          <a:xfrm>
            <a:off x="6400800" y="2788920"/>
            <a:ext cx="2560320" cy="320040"/>
          </a:xfrm>
          <a:prstGeom prst="rect">
            <a:avLst/>
          </a:prstGeom>
          <a:noFill/>
          <a:ln/>
        </p:spPr>
        <p:txBody>
          <a:bodyPr wrap="square" lIns="0" tIns="0" rIns="0" bIns="0" rtlCol="0" anchor="ctr"/>
          <a:lstStyle/>
          <a:p>
            <a:pPr marL="0" indent="0">
              <a:buNone/>
            </a:pPr>
            <a:r>
              <a:rPr lang="en-US" sz="950" b="1" dirty="0">
                <a:solidFill>
                  <a:srgbClr val="5F5E5A"/>
                </a:solidFill>
                <a:latin typeface="Calibri" pitchFamily="34" charset="0"/>
                <a:ea typeface="Calibri" pitchFamily="34" charset="-122"/>
                <a:cs typeface="Calibri" pitchFamily="34" charset="-120"/>
              </a:rPr>
              <a:t>Úsalo cuando: Tareas simples y rápidas</a:t>
            </a:r>
            <a:endParaRPr lang="en-US" sz="950" dirty="0"/>
          </a:p>
        </p:txBody>
      </p:sp>
      <p:sp>
        <p:nvSpPr>
          <p:cNvPr id="19" name="Text 17"/>
          <p:cNvSpPr/>
          <p:nvPr/>
        </p:nvSpPr>
        <p:spPr>
          <a:xfrm>
            <a:off x="6400800" y="3154680"/>
            <a:ext cx="2560320" cy="1417320"/>
          </a:xfrm>
          <a:prstGeom prst="rect">
            <a:avLst/>
          </a:prstGeom>
          <a:noFill/>
          <a:ln/>
        </p:spPr>
        <p:txBody>
          <a:bodyPr wrap="square" lIns="0" tIns="0" rIns="0" bIns="0" rtlCol="0" anchor="ctr"/>
          <a:lstStyle/>
          <a:p>
            <a:pPr marL="0" indent="0">
              <a:buNone/>
            </a:pPr>
            <a:r>
              <a:rPr lang="en-US" sz="950" dirty="0">
                <a:solidFill>
                  <a:srgbClr val="5F5E5A"/>
                </a:solidFill>
                <a:latin typeface="Calibri" pitchFamily="34" charset="0"/>
                <a:ea typeface="Calibri" pitchFamily="34" charset="-122"/>
                <a:cs typeface="Calibri" pitchFamily="34" charset="-120"/>
              </a:rPr>
              <a:t>Muy rápido y económico. Para verificar estructura de archivos, contar filas o preguntas exploratorias rápidas. No recomendado para análisis.</a:t>
            </a:r>
            <a:endParaRPr lang="en-US" sz="95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2">
    <p:bg>
      <p:bgPr>
        <a:solidFill>
          <a:srgbClr val="1A1A2E"/>
        </a:solidFill>
        <a:effectLst/>
      </p:bgPr>
    </p:bg>
    <p:spTree>
      <p:nvGrpSpPr>
        <p:cNvPr id="1" name=""/>
        <p:cNvGrpSpPr/>
        <p:nvPr/>
      </p:nvGrpSpPr>
      <p:grpSpPr>
        <a:xfrm>
          <a:off x="0" y="0"/>
          <a:ext cx="0" cy="0"/>
          <a:chOff x="0" y="0"/>
          <a:chExt cx="0" cy="0"/>
        </a:xfrm>
      </p:grpSpPr>
      <p:sp>
        <p:nvSpPr>
          <p:cNvPr id="2" name="Shape 0"/>
          <p:cNvSpPr/>
          <p:nvPr/>
        </p:nvSpPr>
        <p:spPr>
          <a:xfrm>
            <a:off x="6858000" y="-914400"/>
            <a:ext cx="4114800" cy="4114800"/>
          </a:xfrm>
          <a:prstGeom prst="ellipse">
            <a:avLst/>
          </a:prstGeom>
          <a:solidFill>
            <a:srgbClr val="1D9E75">
              <a:alpha val="18000"/>
            </a:srgbClr>
          </a:solidFill>
          <a:ln w="12700">
            <a:solidFill>
              <a:srgbClr val="1D9E75">
                <a:alpha val="18000"/>
              </a:srgbClr>
            </a:solidFill>
            <a:prstDash val="solid"/>
          </a:ln>
        </p:spPr>
        <p:txBody>
          <a:bodyPr/>
          <a:lstStyle/>
          <a:p>
            <a:endParaRPr lang="es-ES_tradnl"/>
          </a:p>
        </p:txBody>
      </p:sp>
      <p:sp>
        <p:nvSpPr>
          <p:cNvPr id="3" name="Text 1"/>
          <p:cNvSpPr/>
          <p:nvPr/>
        </p:nvSpPr>
        <p:spPr>
          <a:xfrm>
            <a:off x="640080" y="411480"/>
            <a:ext cx="7772400" cy="457200"/>
          </a:xfrm>
          <a:prstGeom prst="rect">
            <a:avLst/>
          </a:prstGeom>
          <a:noFill/>
          <a:ln/>
        </p:spPr>
        <p:txBody>
          <a:bodyPr wrap="square" lIns="0" tIns="0" rIns="0" bIns="0" rtlCol="0" anchor="ctr"/>
          <a:lstStyle/>
          <a:p>
            <a:pPr marL="0" indent="0">
              <a:buNone/>
            </a:pPr>
            <a:r>
              <a:rPr lang="en-US" sz="1400" b="1" kern="0" spc="200" dirty="0">
                <a:solidFill>
                  <a:srgbClr val="1D9E75"/>
                </a:solidFill>
                <a:latin typeface="Calibri" pitchFamily="34" charset="0"/>
                <a:ea typeface="Calibri" pitchFamily="34" charset="-122"/>
                <a:cs typeface="Calibri" pitchFamily="34" charset="-120"/>
              </a:rPr>
              <a:t>🧪  Ejercicio 3</a:t>
            </a:r>
            <a:endParaRPr lang="en-US" sz="1400" dirty="0"/>
          </a:p>
        </p:txBody>
      </p:sp>
      <p:sp>
        <p:nvSpPr>
          <p:cNvPr id="4" name="Text 2"/>
          <p:cNvSpPr/>
          <p:nvPr/>
        </p:nvSpPr>
        <p:spPr>
          <a:xfrm>
            <a:off x="640080" y="914400"/>
            <a:ext cx="7772400" cy="777240"/>
          </a:xfrm>
          <a:prstGeom prst="rect">
            <a:avLst/>
          </a:prstGeom>
          <a:noFill/>
          <a:ln/>
        </p:spPr>
        <p:txBody>
          <a:bodyPr wrap="square" lIns="0" tIns="0" rIns="0" bIns="0" rtlCol="0" anchor="ctr"/>
          <a:lstStyle/>
          <a:p>
            <a:pPr marL="0" indent="0">
              <a:buNone/>
            </a:pPr>
            <a:r>
              <a:rPr lang="en-US" sz="2600" b="1" dirty="0">
                <a:solidFill>
                  <a:srgbClr val="FFFFFF"/>
                </a:solidFill>
                <a:latin typeface="Cambria" pitchFamily="34" charset="0"/>
                <a:ea typeface="Cambria" pitchFamily="34" charset="-122"/>
                <a:cs typeface="Cambria" pitchFamily="34" charset="-120"/>
              </a:rPr>
              <a:t>Sonnet vs. Haiku: razonamiento estadístico real</a:t>
            </a:r>
            <a:endParaRPr lang="en-US" sz="2600" dirty="0"/>
          </a:p>
        </p:txBody>
      </p:sp>
      <p:sp>
        <p:nvSpPr>
          <p:cNvPr id="5" name="Shape 3"/>
          <p:cNvSpPr/>
          <p:nvPr/>
        </p:nvSpPr>
        <p:spPr>
          <a:xfrm>
            <a:off x="640080" y="1828800"/>
            <a:ext cx="7863840" cy="1508760"/>
          </a:xfrm>
          <a:prstGeom prst="roundRect">
            <a:avLst>
              <a:gd name="adj" fmla="val 7273"/>
            </a:avLst>
          </a:prstGeom>
          <a:solidFill>
            <a:srgbClr val="1E1E35"/>
          </a:solidFill>
          <a:ln w="10160">
            <a:solidFill>
              <a:srgbClr val="534AB7"/>
            </a:solidFill>
            <a:prstDash val="solid"/>
          </a:ln>
        </p:spPr>
        <p:txBody>
          <a:bodyPr/>
          <a:lstStyle/>
          <a:p>
            <a:endParaRPr lang="es-ES_tradnl"/>
          </a:p>
        </p:txBody>
      </p:sp>
      <p:sp>
        <p:nvSpPr>
          <p:cNvPr id="6" name="Text 4"/>
          <p:cNvSpPr/>
          <p:nvPr/>
        </p:nvSpPr>
        <p:spPr>
          <a:xfrm>
            <a:off x="822960" y="1920240"/>
            <a:ext cx="7498080" cy="274320"/>
          </a:xfrm>
          <a:prstGeom prst="rect">
            <a:avLst/>
          </a:prstGeom>
          <a:noFill/>
          <a:ln/>
        </p:spPr>
        <p:txBody>
          <a:bodyPr wrap="square" lIns="0" tIns="0" rIns="0" bIns="0" rtlCol="0" anchor="ctr"/>
          <a:lstStyle/>
          <a:p>
            <a:pPr marL="0" indent="0">
              <a:buNone/>
            </a:pPr>
            <a:r>
              <a:rPr lang="en-US" sz="1050" dirty="0">
                <a:solidFill>
                  <a:srgbClr val="7B74D4"/>
                </a:solidFill>
                <a:latin typeface="Calibri" pitchFamily="34" charset="0"/>
                <a:ea typeface="Calibri" pitchFamily="34" charset="-122"/>
                <a:cs typeface="Calibri" pitchFamily="34" charset="-120"/>
              </a:rPr>
              <a:t>Cambia al modelo que te toque (/model) y hazle esta pregunta a ambos:</a:t>
            </a:r>
            <a:endParaRPr lang="en-US" sz="1050" dirty="0"/>
          </a:p>
        </p:txBody>
      </p:sp>
      <p:sp>
        <p:nvSpPr>
          <p:cNvPr id="7" name="Text 5"/>
          <p:cNvSpPr/>
          <p:nvPr/>
        </p:nvSpPr>
        <p:spPr>
          <a:xfrm>
            <a:off x="822960" y="2240280"/>
            <a:ext cx="7498080" cy="1005840"/>
          </a:xfrm>
          <a:prstGeom prst="rect">
            <a:avLst/>
          </a:prstGeom>
          <a:noFill/>
          <a:ln/>
        </p:spPr>
        <p:txBody>
          <a:bodyPr wrap="square" lIns="0" tIns="0" rIns="0" bIns="0" rtlCol="0" anchor="ctr"/>
          <a:lstStyle/>
          <a:p>
            <a:pPr marL="0" indent="0">
              <a:buNone/>
            </a:pPr>
            <a:r>
              <a:rPr lang="en-US" sz="1200" i="1" dirty="0">
                <a:solidFill>
                  <a:srgbClr val="FFFFFF"/>
                </a:solidFill>
                <a:latin typeface="Cambria" pitchFamily="34" charset="0"/>
                <a:ea typeface="Cambria" pitchFamily="34" charset="-122"/>
                <a:cs typeface="Cambria" pitchFamily="34" charset="-120"/>
              </a:rPr>
              <a:t>"Obtuve estos resultados de PERMANOVA: F=2.3, R²=0.08, p=0.048, con 4 grupos de n=5 muestras cada uno y 999 permutaciones. ¿Es este resultado confiable para publicación? ¿Qué problemas ves?"</a:t>
            </a:r>
            <a:endParaRPr lang="en-US" sz="1200" dirty="0"/>
          </a:p>
        </p:txBody>
      </p:sp>
      <p:sp>
        <p:nvSpPr>
          <p:cNvPr id="8" name="Text 6"/>
          <p:cNvSpPr/>
          <p:nvPr/>
        </p:nvSpPr>
        <p:spPr>
          <a:xfrm>
            <a:off x="640080" y="3493008"/>
            <a:ext cx="7863840" cy="1234440"/>
          </a:xfrm>
          <a:prstGeom prst="rect">
            <a:avLst/>
          </a:prstGeom>
          <a:noFill/>
          <a:ln/>
        </p:spPr>
        <p:txBody>
          <a:bodyPr wrap="square" rtlCol="0" anchor="ctr"/>
          <a:lstStyle/>
          <a:p>
            <a:pPr marL="342900" indent="-342900">
              <a:spcAft>
                <a:spcPts val="500"/>
              </a:spcAft>
              <a:buSzPct val="100000"/>
              <a:buChar char="•"/>
            </a:pPr>
            <a:r>
              <a:rPr lang="en-US" sz="1150" dirty="0">
                <a:solidFill>
                  <a:srgbClr val="FFFFFF"/>
                </a:solidFill>
                <a:latin typeface="Calibri" pitchFamily="34" charset="0"/>
                <a:ea typeface="Calibri" pitchFamily="34" charset="-122"/>
                <a:cs typeface="Calibri" pitchFamily="34" charset="-120"/>
              </a:rPr>
              <a:t>¿Haiku notó que R²=0.08 es muy bajo (solo 8% de varianza explicada)?</a:t>
            </a:r>
            <a:endParaRPr lang="en-US" sz="1150" dirty="0"/>
          </a:p>
          <a:p>
            <a:pPr marL="342900" indent="-342900">
              <a:spcAft>
                <a:spcPts val="500"/>
              </a:spcAft>
              <a:buSzPct val="100000"/>
              <a:buChar char="•"/>
            </a:pPr>
            <a:r>
              <a:rPr lang="en-US" sz="1150" dirty="0">
                <a:solidFill>
                  <a:srgbClr val="FFFFFF"/>
                </a:solidFill>
                <a:latin typeface="Calibri" pitchFamily="34" charset="0"/>
                <a:ea typeface="Calibri" pitchFamily="34" charset="-122"/>
                <a:cs typeface="Calibri" pitchFamily="34" charset="-120"/>
              </a:rPr>
              <a:t>¿Sonnet señaló que n=5 da solo 5⁴=625 permutaciones posibles — cerca del límite para 999?</a:t>
            </a:r>
            <a:endParaRPr lang="en-US" sz="1150" dirty="0"/>
          </a:p>
          <a:p>
            <a:pPr marL="342900" indent="-342900">
              <a:spcAft>
                <a:spcPts val="500"/>
              </a:spcAft>
              <a:buSzPct val="100000"/>
              <a:buChar char="•"/>
            </a:pPr>
            <a:r>
              <a:rPr lang="en-US" sz="1150" dirty="0">
                <a:solidFill>
                  <a:srgbClr val="FFFFFF"/>
                </a:solidFill>
                <a:latin typeface="Calibri" pitchFamily="34" charset="0"/>
                <a:ea typeface="Calibri" pitchFamily="34" charset="-122"/>
                <a:cs typeface="Calibri" pitchFamily="34" charset="-120"/>
              </a:rPr>
              <a:t>¿Alguno cuestionó el p=0.048 borderline con esas restricciones estadísticas?</a:t>
            </a:r>
            <a:endParaRPr lang="en-US" sz="1150" dirty="0"/>
          </a:p>
        </p:txBody>
      </p:sp>
      <p:sp>
        <p:nvSpPr>
          <p:cNvPr id="9" name="Text 7"/>
          <p:cNvSpPr/>
          <p:nvPr/>
        </p:nvSpPr>
        <p:spPr>
          <a:xfrm>
            <a:off x="640080" y="4736592"/>
            <a:ext cx="7772400" cy="274320"/>
          </a:xfrm>
          <a:prstGeom prst="rect">
            <a:avLst/>
          </a:prstGeom>
          <a:noFill/>
          <a:ln/>
        </p:spPr>
        <p:txBody>
          <a:bodyPr wrap="square" lIns="0" tIns="0" rIns="0" bIns="0" rtlCol="0" anchor="ctr"/>
          <a:lstStyle/>
          <a:p>
            <a:pPr marL="0" indent="0">
              <a:buNone/>
            </a:pPr>
            <a:r>
              <a:rPr lang="en-US" sz="1000" i="1" dirty="0">
                <a:solidFill>
                  <a:srgbClr val="1D9E75"/>
                </a:solidFill>
                <a:latin typeface="Calibri" pitchFamily="34" charset="0"/>
                <a:ea typeface="Calibri" pitchFamily="34" charset="-122"/>
                <a:cs typeface="Calibri" pitchFamily="34" charset="-120"/>
              </a:rPr>
              <a:t>10 min · Haiku vs. Sonnet: la diferencia importa cuando el análisis importa</a:t>
            </a:r>
            <a:endParaRPr lang="en-US" sz="100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3">
    <p:bg>
      <p:bgPr>
        <a:solidFill>
          <a:srgbClr val="1A1A2E"/>
        </a:solidFill>
        <a:effectLst/>
      </p:bgPr>
    </p:bg>
    <p:spTree>
      <p:nvGrpSpPr>
        <p:cNvPr id="1" name=""/>
        <p:cNvGrpSpPr/>
        <p:nvPr/>
      </p:nvGrpSpPr>
      <p:grpSpPr>
        <a:xfrm>
          <a:off x="0" y="0"/>
          <a:ext cx="0" cy="0"/>
          <a:chOff x="0" y="0"/>
          <a:chExt cx="0" cy="0"/>
        </a:xfrm>
      </p:grpSpPr>
      <p:sp>
        <p:nvSpPr>
          <p:cNvPr id="2" name="Shape 0"/>
          <p:cNvSpPr/>
          <p:nvPr/>
        </p:nvSpPr>
        <p:spPr>
          <a:xfrm>
            <a:off x="6858000" y="-914400"/>
            <a:ext cx="4572000" cy="4572000"/>
          </a:xfrm>
          <a:prstGeom prst="ellipse">
            <a:avLst/>
          </a:prstGeom>
          <a:solidFill>
            <a:srgbClr val="7B74D4">
              <a:alpha val="22000"/>
            </a:srgbClr>
          </a:solidFill>
          <a:ln w="12700">
            <a:solidFill>
              <a:srgbClr val="7B74D4">
                <a:alpha val="22000"/>
              </a:srgbClr>
            </a:solidFill>
            <a:prstDash val="solid"/>
          </a:ln>
        </p:spPr>
        <p:txBody>
          <a:bodyPr/>
          <a:lstStyle/>
          <a:p>
            <a:endParaRPr lang="es-ES_tradnl"/>
          </a:p>
        </p:txBody>
      </p:sp>
      <p:sp>
        <p:nvSpPr>
          <p:cNvPr id="3" name="Shape 1"/>
          <p:cNvSpPr/>
          <p:nvPr/>
        </p:nvSpPr>
        <p:spPr>
          <a:xfrm>
            <a:off x="-1371600" y="3200400"/>
            <a:ext cx="3200400" cy="3200400"/>
          </a:xfrm>
          <a:prstGeom prst="ellipse">
            <a:avLst/>
          </a:prstGeom>
          <a:solidFill>
            <a:srgbClr val="1D9E75">
              <a:alpha val="16000"/>
            </a:srgbClr>
          </a:solidFill>
          <a:ln w="12700">
            <a:solidFill>
              <a:srgbClr val="1D9E75">
                <a:alpha val="16000"/>
              </a:srgbClr>
            </a:solidFill>
            <a:prstDash val="solid"/>
          </a:ln>
        </p:spPr>
        <p:txBody>
          <a:bodyPr/>
          <a:lstStyle/>
          <a:p>
            <a:endParaRPr lang="es-ES_tradnl"/>
          </a:p>
        </p:txBody>
      </p:sp>
      <p:sp>
        <p:nvSpPr>
          <p:cNvPr id="4" name="Text 2"/>
          <p:cNvSpPr/>
          <p:nvPr/>
        </p:nvSpPr>
        <p:spPr>
          <a:xfrm>
            <a:off x="640080" y="822960"/>
            <a:ext cx="7772400" cy="411480"/>
          </a:xfrm>
          <a:prstGeom prst="rect">
            <a:avLst/>
          </a:prstGeom>
          <a:noFill/>
          <a:ln/>
        </p:spPr>
        <p:txBody>
          <a:bodyPr wrap="square" lIns="0" tIns="0" rIns="0" bIns="0" rtlCol="0" anchor="ctr"/>
          <a:lstStyle/>
          <a:p>
            <a:pPr marL="0" indent="0">
              <a:buNone/>
            </a:pPr>
            <a:r>
              <a:rPr lang="en-US" sz="1300" b="1" kern="0" spc="400" dirty="0">
                <a:solidFill>
                  <a:srgbClr val="7B74D4"/>
                </a:solidFill>
                <a:latin typeface="Calibri" pitchFamily="34" charset="0"/>
                <a:ea typeface="Calibri" pitchFamily="34" charset="-122"/>
                <a:cs typeface="Calibri" pitchFamily="34" charset="-120"/>
              </a:rPr>
              <a:t>Módulo 4</a:t>
            </a:r>
            <a:endParaRPr lang="en-US" sz="1300" dirty="0"/>
          </a:p>
        </p:txBody>
      </p:sp>
      <p:sp>
        <p:nvSpPr>
          <p:cNvPr id="5" name="Text 3"/>
          <p:cNvSpPr/>
          <p:nvPr/>
        </p:nvSpPr>
        <p:spPr>
          <a:xfrm>
            <a:off x="640080" y="1280160"/>
            <a:ext cx="7498080" cy="1005840"/>
          </a:xfrm>
          <a:prstGeom prst="rect">
            <a:avLst/>
          </a:prstGeom>
          <a:noFill/>
          <a:ln/>
        </p:spPr>
        <p:txBody>
          <a:bodyPr wrap="square" lIns="0" tIns="0" rIns="0" bIns="0" rtlCol="0" anchor="ctr"/>
          <a:lstStyle/>
          <a:p>
            <a:pPr marL="0" indent="0">
              <a:buNone/>
            </a:pPr>
            <a:r>
              <a:rPr lang="en-US" sz="3600" b="1" dirty="0">
                <a:solidFill>
                  <a:srgbClr val="FFFFFF"/>
                </a:solidFill>
                <a:latin typeface="Cambria" pitchFamily="34" charset="0"/>
                <a:ea typeface="Cambria" pitchFamily="34" charset="-122"/>
                <a:cs typeface="Cambria" pitchFamily="34" charset="-120"/>
              </a:rPr>
              <a:t>Manejo de archivos y entorno</a:t>
            </a:r>
            <a:endParaRPr lang="en-US" sz="3600" dirty="0"/>
          </a:p>
        </p:txBody>
      </p:sp>
      <p:sp>
        <p:nvSpPr>
          <p:cNvPr id="6" name="Text 4"/>
          <p:cNvSpPr/>
          <p:nvPr/>
        </p:nvSpPr>
        <p:spPr>
          <a:xfrm>
            <a:off x="640080" y="2377440"/>
            <a:ext cx="6858000" cy="594360"/>
          </a:xfrm>
          <a:prstGeom prst="rect">
            <a:avLst/>
          </a:prstGeom>
          <a:noFill/>
          <a:ln/>
        </p:spPr>
        <p:txBody>
          <a:bodyPr wrap="square" lIns="0" tIns="0" rIns="0" bIns="0" rtlCol="0" anchor="ctr"/>
          <a:lstStyle/>
          <a:p>
            <a:pPr marL="0" indent="0">
              <a:buNone/>
            </a:pPr>
            <a:r>
              <a:rPr lang="en-US" sz="1300" i="1" dirty="0">
                <a:solidFill>
                  <a:srgbClr val="7B74D4"/>
                </a:solidFill>
                <a:latin typeface="Calibri" pitchFamily="34" charset="0"/>
                <a:ea typeface="Calibri" pitchFamily="34" charset="-122"/>
                <a:cs typeface="Calibri" pitchFamily="34" charset="-120"/>
              </a:rPr>
              <a:t>Qué ve Claude Code y cómo darle acceso a los datos correctos</a:t>
            </a:r>
            <a:endParaRPr lang="en-US" sz="1300" dirty="0"/>
          </a:p>
        </p:txBody>
      </p:sp>
      <p:sp>
        <p:nvSpPr>
          <p:cNvPr id="7" name="Shape 5"/>
          <p:cNvSpPr/>
          <p:nvPr/>
        </p:nvSpPr>
        <p:spPr>
          <a:xfrm>
            <a:off x="640080" y="3154680"/>
            <a:ext cx="2011680" cy="0"/>
          </a:xfrm>
          <a:prstGeom prst="line">
            <a:avLst/>
          </a:prstGeom>
          <a:noFill/>
          <a:ln w="31750">
            <a:solidFill>
              <a:srgbClr val="1D9E75"/>
            </a:solidFill>
            <a:prstDash val="solid"/>
          </a:ln>
        </p:spPr>
        <p:txBody>
          <a:bodyPr/>
          <a:lstStyle/>
          <a:p>
            <a:endParaRPr lang="es-ES_tradnl"/>
          </a:p>
        </p:txBody>
      </p:sp>
      <p:sp>
        <p:nvSpPr>
          <p:cNvPr id="8" name="Text 6"/>
          <p:cNvSpPr/>
          <p:nvPr/>
        </p:nvSpPr>
        <p:spPr>
          <a:xfrm>
            <a:off x="640080" y="4526280"/>
            <a:ext cx="7772400" cy="292608"/>
          </a:xfrm>
          <a:prstGeom prst="rect">
            <a:avLst/>
          </a:prstGeom>
          <a:noFill/>
          <a:ln/>
        </p:spPr>
        <p:txBody>
          <a:bodyPr wrap="square" lIns="0" tIns="0" rIns="0" bIns="0" rtlCol="0" anchor="ctr"/>
          <a:lstStyle/>
          <a:p>
            <a:pPr marL="0" indent="0">
              <a:buNone/>
            </a:pPr>
            <a:r>
              <a:rPr lang="en-US" sz="1000" dirty="0">
                <a:solidFill>
                  <a:srgbClr val="888780"/>
                </a:solidFill>
                <a:latin typeface="Calibri" pitchFamily="34" charset="0"/>
                <a:ea typeface="Calibri" pitchFamily="34" charset="-122"/>
                <a:cs typeface="Calibri" pitchFamily="34" charset="-120"/>
              </a:rPr>
              <a:t>11:30 – 12:00 · 30 minutos</a:t>
            </a:r>
            <a:endParaRPr lang="en-US" sz="1000"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4">
    <p:bg>
      <p:bgPr>
        <a:solidFill>
          <a:srgbClr val="F8F8F6"/>
        </a:solidFill>
        <a:effectLst/>
      </p:bgPr>
    </p:bg>
    <p:spTree>
      <p:nvGrpSpPr>
        <p:cNvPr id="1" name=""/>
        <p:cNvGrpSpPr/>
        <p:nvPr/>
      </p:nvGrpSpPr>
      <p:grpSpPr>
        <a:xfrm>
          <a:off x="0" y="0"/>
          <a:ext cx="0" cy="0"/>
          <a:chOff x="0" y="0"/>
          <a:chExt cx="0" cy="0"/>
        </a:xfrm>
      </p:grpSpPr>
      <p:sp>
        <p:nvSpPr>
          <p:cNvPr id="2" name="Text 0"/>
          <p:cNvSpPr/>
          <p:nvPr/>
        </p:nvSpPr>
        <p:spPr>
          <a:xfrm>
            <a:off x="457200" y="256032"/>
            <a:ext cx="8229600" cy="566928"/>
          </a:xfrm>
          <a:prstGeom prst="rect">
            <a:avLst/>
          </a:prstGeom>
          <a:noFill/>
          <a:ln/>
        </p:spPr>
        <p:txBody>
          <a:bodyPr wrap="square" lIns="0" tIns="0" rIns="0" bIns="0" rtlCol="0" anchor="ctr"/>
          <a:lstStyle/>
          <a:p>
            <a:pPr marL="0" indent="0">
              <a:buNone/>
            </a:pPr>
            <a:r>
              <a:rPr lang="en-US" sz="2700" b="1" dirty="0">
                <a:solidFill>
                  <a:srgbClr val="2C2C2A"/>
                </a:solidFill>
                <a:latin typeface="Cambria" pitchFamily="34" charset="0"/>
                <a:ea typeface="Cambria" pitchFamily="34" charset="-122"/>
                <a:cs typeface="Cambria" pitchFamily="34" charset="-120"/>
              </a:rPr>
              <a:t>El directorio de trabajo</a:t>
            </a:r>
            <a:endParaRPr lang="en-US" sz="2700" dirty="0"/>
          </a:p>
        </p:txBody>
      </p:sp>
      <p:sp>
        <p:nvSpPr>
          <p:cNvPr id="3" name="Text 1"/>
          <p:cNvSpPr/>
          <p:nvPr/>
        </p:nvSpPr>
        <p:spPr>
          <a:xfrm>
            <a:off x="457200" y="822960"/>
            <a:ext cx="8229600" cy="320040"/>
          </a:xfrm>
          <a:prstGeom prst="rect">
            <a:avLst/>
          </a:prstGeom>
          <a:noFill/>
          <a:ln/>
        </p:spPr>
        <p:txBody>
          <a:bodyPr wrap="square" lIns="0" tIns="0" rIns="0" bIns="0" rtlCol="0" anchor="ctr"/>
          <a:lstStyle/>
          <a:p>
            <a:pPr marL="0" indent="0">
              <a:buNone/>
            </a:pPr>
            <a:r>
              <a:rPr lang="en-US" sz="1300" i="1" dirty="0">
                <a:solidFill>
                  <a:srgbClr val="5F5E5A"/>
                </a:solidFill>
                <a:latin typeface="Calibri" pitchFamily="34" charset="0"/>
                <a:ea typeface="Calibri" pitchFamily="34" charset="-122"/>
                <a:cs typeface="Calibri" pitchFamily="34" charset="-120"/>
              </a:rPr>
              <a:t>La diferencia entre 'tengo el archivo' y 'el agente lo puede ver'</a:t>
            </a:r>
            <a:endParaRPr lang="en-US" sz="1300" dirty="0"/>
          </a:p>
        </p:txBody>
      </p:sp>
      <p:sp>
        <p:nvSpPr>
          <p:cNvPr id="4" name="Shape 2"/>
          <p:cNvSpPr/>
          <p:nvPr/>
        </p:nvSpPr>
        <p:spPr>
          <a:xfrm>
            <a:off x="365760" y="1325880"/>
            <a:ext cx="4023360" cy="2606040"/>
          </a:xfrm>
          <a:prstGeom prst="roundRect">
            <a:avLst>
              <a:gd name="adj" fmla="val 4211"/>
            </a:avLst>
          </a:prstGeom>
          <a:solidFill>
            <a:srgbClr val="FFF5F5"/>
          </a:solidFill>
          <a:ln w="12700">
            <a:solidFill>
              <a:srgbClr val="FFBBBB"/>
            </a:solidFill>
            <a:prstDash val="solid"/>
          </a:ln>
        </p:spPr>
        <p:txBody>
          <a:bodyPr/>
          <a:lstStyle/>
          <a:p>
            <a:endParaRPr lang="es-ES_tradnl"/>
          </a:p>
        </p:txBody>
      </p:sp>
      <p:sp>
        <p:nvSpPr>
          <p:cNvPr id="5" name="Text 3"/>
          <p:cNvSpPr/>
          <p:nvPr/>
        </p:nvSpPr>
        <p:spPr>
          <a:xfrm>
            <a:off x="548640" y="1417320"/>
            <a:ext cx="3657600" cy="365760"/>
          </a:xfrm>
          <a:prstGeom prst="rect">
            <a:avLst/>
          </a:prstGeom>
          <a:noFill/>
          <a:ln/>
        </p:spPr>
        <p:txBody>
          <a:bodyPr wrap="square" lIns="0" tIns="0" rIns="0" bIns="0" rtlCol="0" anchor="ctr"/>
          <a:lstStyle/>
          <a:p>
            <a:pPr marL="0" indent="0">
              <a:buNone/>
            </a:pPr>
            <a:r>
              <a:rPr lang="en-US" sz="1100" b="1" dirty="0">
                <a:solidFill>
                  <a:srgbClr val="C0392B"/>
                </a:solidFill>
                <a:latin typeface="Calibri" pitchFamily="34" charset="0"/>
                <a:ea typeface="Calibri" pitchFamily="34" charset="-122"/>
                <a:cs typeface="Calibri" pitchFamily="34" charset="-120"/>
              </a:rPr>
              <a:t>❌  Sin directorio correcto</a:t>
            </a:r>
            <a:endParaRPr lang="en-US" sz="1100" dirty="0"/>
          </a:p>
        </p:txBody>
      </p:sp>
      <p:sp>
        <p:nvSpPr>
          <p:cNvPr id="6" name="Shape 4"/>
          <p:cNvSpPr/>
          <p:nvPr/>
        </p:nvSpPr>
        <p:spPr>
          <a:xfrm>
            <a:off x="548640" y="1828800"/>
            <a:ext cx="3657600" cy="640080"/>
          </a:xfrm>
          <a:prstGeom prst="roundRect">
            <a:avLst>
              <a:gd name="adj" fmla="val 14286"/>
            </a:avLst>
          </a:prstGeom>
          <a:solidFill>
            <a:srgbClr val="1E1E2E"/>
          </a:solidFill>
          <a:ln w="6350">
            <a:solidFill>
              <a:srgbClr val="2A2A4A"/>
            </a:solidFill>
            <a:prstDash val="solid"/>
          </a:ln>
        </p:spPr>
        <p:txBody>
          <a:bodyPr/>
          <a:lstStyle/>
          <a:p>
            <a:endParaRPr lang="es-ES_tradnl"/>
          </a:p>
        </p:txBody>
      </p:sp>
      <p:sp>
        <p:nvSpPr>
          <p:cNvPr id="7" name="Text 5"/>
          <p:cNvSpPr/>
          <p:nvPr/>
        </p:nvSpPr>
        <p:spPr>
          <a:xfrm>
            <a:off x="713232" y="1956816"/>
            <a:ext cx="3337560" cy="256032"/>
          </a:xfrm>
          <a:prstGeom prst="rect">
            <a:avLst/>
          </a:prstGeom>
          <a:noFill/>
          <a:ln/>
        </p:spPr>
        <p:txBody>
          <a:bodyPr wrap="square" lIns="0" tIns="0" rIns="0" bIns="0" rtlCol="0" anchor="ctr"/>
          <a:lstStyle/>
          <a:p>
            <a:pPr marL="0" indent="0">
              <a:buNone/>
            </a:pPr>
            <a:r>
              <a:rPr lang="en-US" sz="950" dirty="0">
                <a:solidFill>
                  <a:srgbClr val="888780"/>
                </a:solidFill>
                <a:latin typeface="Courier New" pitchFamily="34" charset="0"/>
                <a:ea typeface="Courier New" pitchFamily="34" charset="-122"/>
                <a:cs typeface="Courier New" pitchFamily="34" charset="-120"/>
              </a:rPr>
              <a:t># El agente responde:</a:t>
            </a:r>
            <a:endParaRPr lang="en-US" sz="950" dirty="0"/>
          </a:p>
        </p:txBody>
      </p:sp>
      <p:sp>
        <p:nvSpPr>
          <p:cNvPr id="8" name="Text 6"/>
          <p:cNvSpPr/>
          <p:nvPr/>
        </p:nvSpPr>
        <p:spPr>
          <a:xfrm>
            <a:off x="713232" y="2231136"/>
            <a:ext cx="3337560" cy="256032"/>
          </a:xfrm>
          <a:prstGeom prst="rect">
            <a:avLst/>
          </a:prstGeom>
          <a:noFill/>
          <a:ln/>
        </p:spPr>
        <p:txBody>
          <a:bodyPr wrap="square" lIns="0" tIns="0" rIns="0" bIns="0" rtlCol="0" anchor="ctr"/>
          <a:lstStyle/>
          <a:p>
            <a:pPr marL="0" indent="0">
              <a:buNone/>
            </a:pPr>
            <a:r>
              <a:rPr lang="en-US" sz="950" dirty="0">
                <a:solidFill>
                  <a:srgbClr val="FF6B6B"/>
                </a:solidFill>
                <a:latin typeface="Courier New" pitchFamily="34" charset="0"/>
                <a:ea typeface="Courier New" pitchFamily="34" charset="-122"/>
                <a:cs typeface="Courier New" pitchFamily="34" charset="-120"/>
              </a:rPr>
              <a:t>No encuentro atacama_abundancias.csv</a:t>
            </a:r>
            <a:endParaRPr lang="en-US" sz="950" dirty="0"/>
          </a:p>
        </p:txBody>
      </p:sp>
      <p:sp>
        <p:nvSpPr>
          <p:cNvPr id="9" name="Text 7"/>
          <p:cNvSpPr/>
          <p:nvPr/>
        </p:nvSpPr>
        <p:spPr>
          <a:xfrm>
            <a:off x="548640" y="2578608"/>
            <a:ext cx="3657600" cy="822960"/>
          </a:xfrm>
          <a:prstGeom prst="rect">
            <a:avLst/>
          </a:prstGeom>
          <a:noFill/>
          <a:ln/>
        </p:spPr>
        <p:txBody>
          <a:bodyPr wrap="square" lIns="0" tIns="0" rIns="0" bIns="0" rtlCol="0" anchor="ctr"/>
          <a:lstStyle/>
          <a:p>
            <a:pPr marL="0" indent="0">
              <a:buNone/>
            </a:pPr>
            <a:r>
              <a:rPr lang="en-US" sz="1000" dirty="0">
                <a:solidFill>
                  <a:srgbClr val="5F5E5A"/>
                </a:solidFill>
                <a:latin typeface="Calibri" pitchFamily="34" charset="0"/>
                <a:ea typeface="Calibri" pitchFamily="34" charset="-122"/>
                <a:cs typeface="Calibri" pitchFamily="34" charset="-120"/>
              </a:rPr>
              <a:t>Diagnóstico: ejecuta pwd en la terminal. Si no muestra la carpeta del repo, usa cd.</a:t>
            </a:r>
            <a:endParaRPr lang="en-US" sz="1000" dirty="0"/>
          </a:p>
        </p:txBody>
      </p:sp>
      <p:sp>
        <p:nvSpPr>
          <p:cNvPr id="10" name="Shape 8"/>
          <p:cNvSpPr/>
          <p:nvPr/>
        </p:nvSpPr>
        <p:spPr>
          <a:xfrm>
            <a:off x="4754880" y="1325880"/>
            <a:ext cx="4023360" cy="2606040"/>
          </a:xfrm>
          <a:prstGeom prst="roundRect">
            <a:avLst>
              <a:gd name="adj" fmla="val 4211"/>
            </a:avLst>
          </a:prstGeom>
          <a:solidFill>
            <a:srgbClr val="E1F5EE"/>
          </a:solidFill>
          <a:ln w="12700">
            <a:solidFill>
              <a:srgbClr val="1D9E75"/>
            </a:solidFill>
            <a:prstDash val="solid"/>
          </a:ln>
        </p:spPr>
        <p:txBody>
          <a:bodyPr/>
          <a:lstStyle/>
          <a:p>
            <a:endParaRPr lang="es-ES_tradnl"/>
          </a:p>
        </p:txBody>
      </p:sp>
      <p:sp>
        <p:nvSpPr>
          <p:cNvPr id="11" name="Text 9"/>
          <p:cNvSpPr/>
          <p:nvPr/>
        </p:nvSpPr>
        <p:spPr>
          <a:xfrm>
            <a:off x="4937760" y="1417320"/>
            <a:ext cx="3657600" cy="365760"/>
          </a:xfrm>
          <a:prstGeom prst="rect">
            <a:avLst/>
          </a:prstGeom>
          <a:noFill/>
          <a:ln/>
        </p:spPr>
        <p:txBody>
          <a:bodyPr wrap="square" lIns="0" tIns="0" rIns="0" bIns="0" rtlCol="0" anchor="ctr"/>
          <a:lstStyle/>
          <a:p>
            <a:pPr marL="0" indent="0">
              <a:buNone/>
            </a:pPr>
            <a:r>
              <a:rPr lang="en-US" sz="1100" b="1" dirty="0">
                <a:solidFill>
                  <a:srgbClr val="0F6E56"/>
                </a:solidFill>
                <a:latin typeface="Calibri" pitchFamily="34" charset="0"/>
                <a:ea typeface="Calibri" pitchFamily="34" charset="-122"/>
                <a:cs typeface="Calibri" pitchFamily="34" charset="-120"/>
              </a:rPr>
              <a:t>✅  Con directorio correcto</a:t>
            </a:r>
            <a:endParaRPr lang="en-US" sz="1100" dirty="0"/>
          </a:p>
        </p:txBody>
      </p:sp>
      <p:sp>
        <p:nvSpPr>
          <p:cNvPr id="12" name="Shape 10"/>
          <p:cNvSpPr/>
          <p:nvPr/>
        </p:nvSpPr>
        <p:spPr>
          <a:xfrm>
            <a:off x="4937760" y="1828800"/>
            <a:ext cx="3657600" cy="640080"/>
          </a:xfrm>
          <a:prstGeom prst="roundRect">
            <a:avLst>
              <a:gd name="adj" fmla="val 14286"/>
            </a:avLst>
          </a:prstGeom>
          <a:solidFill>
            <a:srgbClr val="1E1E2E"/>
          </a:solidFill>
          <a:ln w="6350">
            <a:solidFill>
              <a:srgbClr val="2A2A4A"/>
            </a:solidFill>
            <a:prstDash val="solid"/>
          </a:ln>
        </p:spPr>
        <p:txBody>
          <a:bodyPr/>
          <a:lstStyle/>
          <a:p>
            <a:endParaRPr lang="es-ES_tradnl"/>
          </a:p>
        </p:txBody>
      </p:sp>
      <p:sp>
        <p:nvSpPr>
          <p:cNvPr id="13" name="Text 11"/>
          <p:cNvSpPr/>
          <p:nvPr/>
        </p:nvSpPr>
        <p:spPr>
          <a:xfrm>
            <a:off x="5102352" y="1956816"/>
            <a:ext cx="3337560" cy="256032"/>
          </a:xfrm>
          <a:prstGeom prst="rect">
            <a:avLst/>
          </a:prstGeom>
          <a:noFill/>
          <a:ln/>
        </p:spPr>
        <p:txBody>
          <a:bodyPr wrap="square" lIns="0" tIns="0" rIns="0" bIns="0" rtlCol="0" anchor="ctr"/>
          <a:lstStyle/>
          <a:p>
            <a:pPr marL="0" indent="0">
              <a:buNone/>
            </a:pPr>
            <a:r>
              <a:rPr lang="en-US" sz="950" dirty="0">
                <a:solidFill>
                  <a:srgbClr val="888780"/>
                </a:solidFill>
                <a:latin typeface="Courier New" pitchFamily="34" charset="0"/>
                <a:ea typeface="Courier New" pitchFamily="34" charset="-122"/>
                <a:cs typeface="Courier New" pitchFamily="34" charset="-120"/>
              </a:rPr>
              <a:t># El agente responde:</a:t>
            </a:r>
            <a:endParaRPr lang="en-US" sz="950" dirty="0"/>
          </a:p>
        </p:txBody>
      </p:sp>
      <p:sp>
        <p:nvSpPr>
          <p:cNvPr id="14" name="Text 12"/>
          <p:cNvSpPr/>
          <p:nvPr/>
        </p:nvSpPr>
        <p:spPr>
          <a:xfrm>
            <a:off x="5102352" y="2231136"/>
            <a:ext cx="3337560" cy="256032"/>
          </a:xfrm>
          <a:prstGeom prst="rect">
            <a:avLst/>
          </a:prstGeom>
          <a:noFill/>
          <a:ln/>
        </p:spPr>
        <p:txBody>
          <a:bodyPr wrap="square" lIns="0" tIns="0" rIns="0" bIns="0" rtlCol="0" anchor="ctr"/>
          <a:lstStyle/>
          <a:p>
            <a:pPr marL="0" indent="0">
              <a:buNone/>
            </a:pPr>
            <a:r>
              <a:rPr lang="en-US" sz="950" dirty="0">
                <a:solidFill>
                  <a:srgbClr val="5EEAD4"/>
                </a:solidFill>
                <a:latin typeface="Courier New" pitchFamily="34" charset="0"/>
                <a:ea typeface="Courier New" pitchFamily="34" charset="-122"/>
                <a:cs typeface="Courier New" pitchFamily="34" charset="-120"/>
              </a:rPr>
              <a:t>Veo 54 muestras y 1109 OTUs...</a:t>
            </a:r>
            <a:endParaRPr lang="en-US" sz="950" dirty="0"/>
          </a:p>
        </p:txBody>
      </p:sp>
      <p:sp>
        <p:nvSpPr>
          <p:cNvPr id="15" name="Text 13"/>
          <p:cNvSpPr/>
          <p:nvPr/>
        </p:nvSpPr>
        <p:spPr>
          <a:xfrm>
            <a:off x="4937760" y="2578608"/>
            <a:ext cx="3657600" cy="822960"/>
          </a:xfrm>
          <a:prstGeom prst="rect">
            <a:avLst/>
          </a:prstGeom>
          <a:noFill/>
          <a:ln/>
        </p:spPr>
        <p:txBody>
          <a:bodyPr wrap="square" lIns="0" tIns="0" rIns="0" bIns="0" rtlCol="0" anchor="ctr"/>
          <a:lstStyle/>
          <a:p>
            <a:pPr marL="0" indent="0">
              <a:buNone/>
            </a:pPr>
            <a:r>
              <a:rPr lang="en-US" sz="1000" dirty="0">
                <a:solidFill>
                  <a:srgbClr val="5F5E5A"/>
                </a:solidFill>
                <a:latin typeface="Calibri" pitchFamily="34" charset="0"/>
                <a:ea typeface="Calibri" pitchFamily="34" charset="-122"/>
                <a:cs typeface="Calibri" pitchFamily="34" charset="-120"/>
              </a:rPr>
              <a:t>Siempre ejecuta claude desde dentro de la carpeta del repositorio. Verifica con pwd antes de empezar.</a:t>
            </a:r>
            <a:endParaRPr lang="en-US" sz="1000" dirty="0"/>
          </a:p>
        </p:txBody>
      </p:sp>
      <p:sp>
        <p:nvSpPr>
          <p:cNvPr id="16" name="Shape 14"/>
          <p:cNvSpPr/>
          <p:nvPr/>
        </p:nvSpPr>
        <p:spPr>
          <a:xfrm>
            <a:off x="365760" y="4069080"/>
            <a:ext cx="8412480" cy="1170432"/>
          </a:xfrm>
          <a:prstGeom prst="roundRect">
            <a:avLst>
              <a:gd name="adj" fmla="val 7813"/>
            </a:avLst>
          </a:prstGeom>
          <a:solidFill>
            <a:srgbClr val="EEEDFE"/>
          </a:solidFill>
          <a:ln w="6350">
            <a:solidFill>
              <a:srgbClr val="534AB7"/>
            </a:solidFill>
            <a:prstDash val="solid"/>
          </a:ln>
        </p:spPr>
        <p:txBody>
          <a:bodyPr/>
          <a:lstStyle/>
          <a:p>
            <a:endParaRPr lang="es-ES_tradnl"/>
          </a:p>
        </p:txBody>
      </p:sp>
      <p:sp>
        <p:nvSpPr>
          <p:cNvPr id="17" name="Text 15"/>
          <p:cNvSpPr/>
          <p:nvPr/>
        </p:nvSpPr>
        <p:spPr>
          <a:xfrm>
            <a:off x="548640" y="4160520"/>
            <a:ext cx="8046720" cy="347472"/>
          </a:xfrm>
          <a:prstGeom prst="rect">
            <a:avLst/>
          </a:prstGeom>
          <a:noFill/>
          <a:ln/>
        </p:spPr>
        <p:txBody>
          <a:bodyPr wrap="square" lIns="0" tIns="0" rIns="0" bIns="0" rtlCol="0" anchor="ctr"/>
          <a:lstStyle/>
          <a:p>
            <a:pPr marL="0" indent="0">
              <a:buNone/>
            </a:pPr>
            <a:r>
              <a:rPr lang="en-US" sz="1100" b="1" dirty="0">
                <a:solidFill>
                  <a:srgbClr val="534AB7"/>
                </a:solidFill>
                <a:latin typeface="Calibri" pitchFamily="34" charset="0"/>
                <a:ea typeface="Calibri" pitchFamily="34" charset="-122"/>
                <a:cs typeface="Calibri" pitchFamily="34" charset="-120"/>
              </a:rPr>
              <a:t>💡  ¿Proyecto nuevo? Usa claude init</a:t>
            </a:r>
            <a:endParaRPr lang="en-US" sz="1100" dirty="0"/>
          </a:p>
        </p:txBody>
      </p:sp>
      <p:sp>
        <p:nvSpPr>
          <p:cNvPr id="18" name="Text 16"/>
          <p:cNvSpPr/>
          <p:nvPr/>
        </p:nvSpPr>
        <p:spPr>
          <a:xfrm>
            <a:off x="548640" y="4507992"/>
            <a:ext cx="8046720" cy="621792"/>
          </a:xfrm>
          <a:prstGeom prst="rect">
            <a:avLst/>
          </a:prstGeom>
          <a:noFill/>
          <a:ln/>
        </p:spPr>
        <p:txBody>
          <a:bodyPr wrap="square" lIns="0" tIns="0" rIns="0" bIns="0" rtlCol="0" anchor="ctr"/>
          <a:lstStyle/>
          <a:p>
            <a:pPr marL="0" indent="0">
              <a:buNone/>
            </a:pPr>
            <a:r>
              <a:rPr lang="en-US" sz="1050" dirty="0">
                <a:solidFill>
                  <a:srgbClr val="5F5E5A"/>
                </a:solidFill>
                <a:latin typeface="Calibri" pitchFamily="34" charset="0"/>
                <a:ea typeface="Calibri" pitchFamily="34" charset="-122"/>
                <a:cs typeface="Calibri" pitchFamily="34" charset="-120"/>
              </a:rPr>
              <a:t>Ejecuta claude init en la carpeta vacía de tu nuevo proyecto. Claude Code creará automáticamente un CLAUDE.md plantilla con las secciones básicas ya definidas — el punto de partida oficial para cualquier proyecto nuevo.</a:t>
            </a:r>
            <a:endParaRPr lang="en-US" sz="1050"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5">
    <p:bg>
      <p:bgPr>
        <a:solidFill>
          <a:srgbClr val="F8F8F6"/>
        </a:solidFill>
        <a:effectLst/>
      </p:bgPr>
    </p:bg>
    <p:spTree>
      <p:nvGrpSpPr>
        <p:cNvPr id="1" name=""/>
        <p:cNvGrpSpPr/>
        <p:nvPr/>
      </p:nvGrpSpPr>
      <p:grpSpPr>
        <a:xfrm>
          <a:off x="0" y="0"/>
          <a:ext cx="0" cy="0"/>
          <a:chOff x="0" y="0"/>
          <a:chExt cx="0" cy="0"/>
        </a:xfrm>
      </p:grpSpPr>
      <p:sp>
        <p:nvSpPr>
          <p:cNvPr id="2" name="Text 0"/>
          <p:cNvSpPr/>
          <p:nvPr/>
        </p:nvSpPr>
        <p:spPr>
          <a:xfrm>
            <a:off x="457200" y="256032"/>
            <a:ext cx="8229600" cy="566928"/>
          </a:xfrm>
          <a:prstGeom prst="rect">
            <a:avLst/>
          </a:prstGeom>
          <a:noFill/>
          <a:ln/>
        </p:spPr>
        <p:txBody>
          <a:bodyPr wrap="square" lIns="0" tIns="0" rIns="0" bIns="0" rtlCol="0" anchor="ctr"/>
          <a:lstStyle/>
          <a:p>
            <a:pPr marL="0" indent="0">
              <a:buNone/>
            </a:pPr>
            <a:r>
              <a:rPr lang="en-US" sz="2700" b="1" dirty="0">
                <a:solidFill>
                  <a:srgbClr val="2C2C2A"/>
                </a:solidFill>
                <a:latin typeface="Cambria" pitchFamily="34" charset="0"/>
                <a:ea typeface="Cambria" pitchFamily="34" charset="-122"/>
                <a:cs typeface="Cambria" pitchFamily="34" charset="-120"/>
              </a:rPr>
              <a:t>Agregar archivos y configurar el proyecto</a:t>
            </a:r>
            <a:endParaRPr lang="en-US" sz="2700" dirty="0"/>
          </a:p>
        </p:txBody>
      </p:sp>
      <p:sp>
        <p:nvSpPr>
          <p:cNvPr id="3" name="Text 1"/>
          <p:cNvSpPr/>
          <p:nvPr/>
        </p:nvSpPr>
        <p:spPr>
          <a:xfrm>
            <a:off x="457200" y="822960"/>
            <a:ext cx="8229600" cy="320040"/>
          </a:xfrm>
          <a:prstGeom prst="rect">
            <a:avLst/>
          </a:prstGeom>
          <a:noFill/>
          <a:ln/>
        </p:spPr>
        <p:txBody>
          <a:bodyPr wrap="square" lIns="0" tIns="0" rIns="0" bIns="0" rtlCol="0" anchor="ctr"/>
          <a:lstStyle/>
          <a:p>
            <a:pPr marL="0" indent="0">
              <a:buNone/>
            </a:pPr>
            <a:r>
              <a:rPr lang="en-US" sz="1300" i="1" dirty="0">
                <a:solidFill>
                  <a:srgbClr val="5F5E5A"/>
                </a:solidFill>
                <a:latin typeface="Calibri" pitchFamily="34" charset="0"/>
                <a:ea typeface="Calibri" pitchFamily="34" charset="-122"/>
                <a:cs typeface="Calibri" pitchFamily="34" charset="-120"/>
              </a:rPr>
              <a:t>Dos comandos esenciales: /add para datos y claude init para nuevos proyectos</a:t>
            </a:r>
            <a:endParaRPr lang="en-US" sz="1300" dirty="0"/>
          </a:p>
        </p:txBody>
      </p:sp>
      <p:sp>
        <p:nvSpPr>
          <p:cNvPr id="4" name="Shape 2"/>
          <p:cNvSpPr/>
          <p:nvPr/>
        </p:nvSpPr>
        <p:spPr>
          <a:xfrm>
            <a:off x="365760" y="1325880"/>
            <a:ext cx="5029200" cy="1920240"/>
          </a:xfrm>
          <a:prstGeom prst="roundRect">
            <a:avLst>
              <a:gd name="adj" fmla="val 4762"/>
            </a:avLst>
          </a:prstGeom>
          <a:solidFill>
            <a:srgbClr val="1E1E2E"/>
          </a:solidFill>
          <a:ln w="6350">
            <a:solidFill>
              <a:srgbClr val="2A2A4A"/>
            </a:solidFill>
            <a:prstDash val="solid"/>
          </a:ln>
        </p:spPr>
        <p:txBody>
          <a:bodyPr/>
          <a:lstStyle/>
          <a:p>
            <a:endParaRPr lang="es-ES_tradnl"/>
          </a:p>
        </p:txBody>
      </p:sp>
      <p:sp>
        <p:nvSpPr>
          <p:cNvPr id="5" name="Text 3"/>
          <p:cNvSpPr/>
          <p:nvPr/>
        </p:nvSpPr>
        <p:spPr>
          <a:xfrm>
            <a:off x="530352" y="1453896"/>
            <a:ext cx="4709160" cy="256032"/>
          </a:xfrm>
          <a:prstGeom prst="rect">
            <a:avLst/>
          </a:prstGeom>
          <a:noFill/>
          <a:ln/>
        </p:spPr>
        <p:txBody>
          <a:bodyPr wrap="square" lIns="0" tIns="0" rIns="0" bIns="0" rtlCol="0" anchor="ctr"/>
          <a:lstStyle/>
          <a:p>
            <a:pPr marL="0" indent="0">
              <a:buNone/>
            </a:pPr>
            <a:r>
              <a:rPr lang="en-US" sz="950" dirty="0">
                <a:solidFill>
                  <a:srgbClr val="888780"/>
                </a:solidFill>
                <a:latin typeface="Courier New" pitchFamily="34" charset="0"/>
                <a:ea typeface="Courier New" pitchFamily="34" charset="-122"/>
                <a:cs typeface="Courier New" pitchFamily="34" charset="-120"/>
              </a:rPr>
              <a:t># Añadir archivos al contexto</a:t>
            </a:r>
            <a:endParaRPr lang="en-US" sz="950" dirty="0"/>
          </a:p>
        </p:txBody>
      </p:sp>
      <p:sp>
        <p:nvSpPr>
          <p:cNvPr id="6" name="Text 4"/>
          <p:cNvSpPr/>
          <p:nvPr/>
        </p:nvSpPr>
        <p:spPr>
          <a:xfrm>
            <a:off x="530352" y="1728216"/>
            <a:ext cx="4709160" cy="256032"/>
          </a:xfrm>
          <a:prstGeom prst="rect">
            <a:avLst/>
          </a:prstGeom>
          <a:noFill/>
          <a:ln/>
        </p:spPr>
        <p:txBody>
          <a:bodyPr wrap="square" lIns="0" tIns="0" rIns="0" bIns="0" rtlCol="0" anchor="ctr"/>
          <a:lstStyle/>
          <a:p>
            <a:pPr marL="0" indent="0">
              <a:buNone/>
            </a:pPr>
            <a:r>
              <a:rPr lang="en-US" sz="950" dirty="0">
                <a:solidFill>
                  <a:srgbClr val="F9C74F"/>
                </a:solidFill>
                <a:latin typeface="Courier New" pitchFamily="34" charset="0"/>
                <a:ea typeface="Courier New" pitchFamily="34" charset="-122"/>
                <a:cs typeface="Courier New" pitchFamily="34" charset="-120"/>
              </a:rPr>
              <a:t>/add data/metadata.tsv</a:t>
            </a:r>
            <a:endParaRPr lang="en-US" sz="950" dirty="0"/>
          </a:p>
        </p:txBody>
      </p:sp>
      <p:sp>
        <p:nvSpPr>
          <p:cNvPr id="7" name="Text 5"/>
          <p:cNvSpPr/>
          <p:nvPr/>
        </p:nvSpPr>
        <p:spPr>
          <a:xfrm>
            <a:off x="530352" y="2002536"/>
            <a:ext cx="4709160" cy="256032"/>
          </a:xfrm>
          <a:prstGeom prst="rect">
            <a:avLst/>
          </a:prstGeom>
          <a:noFill/>
          <a:ln/>
        </p:spPr>
        <p:txBody>
          <a:bodyPr wrap="square" lIns="0" tIns="0" rIns="0" bIns="0" rtlCol="0" anchor="ctr"/>
          <a:lstStyle/>
          <a:p>
            <a:pPr marL="0" indent="0">
              <a:buNone/>
            </a:pPr>
            <a:r>
              <a:rPr lang="en-US" sz="950" dirty="0">
                <a:solidFill>
                  <a:srgbClr val="F9C74F"/>
                </a:solidFill>
                <a:latin typeface="Courier New" pitchFamily="34" charset="0"/>
                <a:ea typeface="Courier New" pitchFamily="34" charset="-122"/>
                <a:cs typeface="Courier New" pitchFamily="34" charset="-120"/>
              </a:rPr>
              <a:t>/add data/abundancias.tsv</a:t>
            </a:r>
            <a:endParaRPr lang="en-US" sz="950" dirty="0"/>
          </a:p>
        </p:txBody>
      </p:sp>
      <p:sp>
        <p:nvSpPr>
          <p:cNvPr id="8" name="Text 6"/>
          <p:cNvSpPr/>
          <p:nvPr/>
        </p:nvSpPr>
        <p:spPr>
          <a:xfrm>
            <a:off x="530352" y="2276856"/>
            <a:ext cx="4709160" cy="256032"/>
          </a:xfrm>
          <a:prstGeom prst="rect">
            <a:avLst/>
          </a:prstGeom>
          <a:noFill/>
          <a:ln/>
        </p:spPr>
        <p:txBody>
          <a:bodyPr wrap="square" lIns="0" tIns="0" rIns="0" bIns="0" rtlCol="0" anchor="ctr"/>
          <a:lstStyle/>
          <a:p>
            <a:pPr marL="0" indent="0">
              <a:buNone/>
            </a:pPr>
            <a:r>
              <a:rPr lang="en-US" sz="950" dirty="0">
                <a:solidFill>
                  <a:srgbClr val="F9C74F"/>
                </a:solidFill>
                <a:latin typeface="Courier New" pitchFamily="34" charset="0"/>
                <a:ea typeface="Courier New" pitchFamily="34" charset="-122"/>
                <a:cs typeface="Courier New" pitchFamily="34" charset="-120"/>
              </a:rPr>
              <a:t>/add paper/mSystems.00195-16.pdf</a:t>
            </a:r>
            <a:endParaRPr lang="en-US" sz="950" dirty="0"/>
          </a:p>
        </p:txBody>
      </p:sp>
      <p:sp>
        <p:nvSpPr>
          <p:cNvPr id="9" name="Text 7"/>
          <p:cNvSpPr/>
          <p:nvPr/>
        </p:nvSpPr>
        <p:spPr>
          <a:xfrm>
            <a:off x="530352" y="2551176"/>
            <a:ext cx="4709160" cy="256032"/>
          </a:xfrm>
          <a:prstGeom prst="rect">
            <a:avLst/>
          </a:prstGeom>
          <a:noFill/>
          <a:ln/>
        </p:spPr>
        <p:txBody>
          <a:bodyPr wrap="square" lIns="0" tIns="0" rIns="0" bIns="0" rtlCol="0" anchor="ctr"/>
          <a:lstStyle/>
          <a:p>
            <a:pPr marL="0" indent="0">
              <a:buNone/>
            </a:pPr>
            <a:r>
              <a:rPr lang="en-US" sz="950" dirty="0">
                <a:solidFill>
                  <a:srgbClr val="888780"/>
                </a:solidFill>
                <a:latin typeface="Courier New" pitchFamily="34" charset="0"/>
                <a:ea typeface="Courier New" pitchFamily="34" charset="-122"/>
                <a:cs typeface="Courier New" pitchFamily="34" charset="-120"/>
              </a:rPr>
              <a:t># Ver qué archivos están en contexto</a:t>
            </a:r>
            <a:endParaRPr lang="en-US" sz="950" dirty="0"/>
          </a:p>
        </p:txBody>
      </p:sp>
      <p:sp>
        <p:nvSpPr>
          <p:cNvPr id="10" name="Text 8"/>
          <p:cNvSpPr/>
          <p:nvPr/>
        </p:nvSpPr>
        <p:spPr>
          <a:xfrm>
            <a:off x="530352" y="2825496"/>
            <a:ext cx="4709160" cy="256032"/>
          </a:xfrm>
          <a:prstGeom prst="rect">
            <a:avLst/>
          </a:prstGeom>
          <a:noFill/>
          <a:ln/>
        </p:spPr>
        <p:txBody>
          <a:bodyPr wrap="square" lIns="0" tIns="0" rIns="0" bIns="0" rtlCol="0" anchor="ctr"/>
          <a:lstStyle/>
          <a:p>
            <a:pPr marL="0" indent="0">
              <a:buNone/>
            </a:pPr>
            <a:r>
              <a:rPr lang="en-US" sz="950" dirty="0">
                <a:solidFill>
                  <a:srgbClr val="A78BFA"/>
                </a:solidFill>
                <a:latin typeface="Courier New" pitchFamily="34" charset="0"/>
                <a:ea typeface="Courier New" pitchFamily="34" charset="-122"/>
                <a:cs typeface="Courier New" pitchFamily="34" charset="-120"/>
              </a:rPr>
              <a:t>/files</a:t>
            </a:r>
            <a:endParaRPr lang="en-US" sz="950" dirty="0"/>
          </a:p>
        </p:txBody>
      </p:sp>
      <p:sp>
        <p:nvSpPr>
          <p:cNvPr id="11" name="Shape 9"/>
          <p:cNvSpPr/>
          <p:nvPr/>
        </p:nvSpPr>
        <p:spPr>
          <a:xfrm>
            <a:off x="365760" y="3337560"/>
            <a:ext cx="5029200" cy="1371600"/>
          </a:xfrm>
          <a:prstGeom prst="roundRect">
            <a:avLst>
              <a:gd name="adj" fmla="val 6667"/>
            </a:avLst>
          </a:prstGeom>
          <a:solidFill>
            <a:srgbClr val="1E1E2E"/>
          </a:solidFill>
          <a:ln w="6350">
            <a:solidFill>
              <a:srgbClr val="2A2A4A"/>
            </a:solidFill>
            <a:prstDash val="solid"/>
          </a:ln>
        </p:spPr>
        <p:txBody>
          <a:bodyPr/>
          <a:lstStyle/>
          <a:p>
            <a:endParaRPr lang="es-ES_tradnl"/>
          </a:p>
        </p:txBody>
      </p:sp>
      <p:sp>
        <p:nvSpPr>
          <p:cNvPr id="12" name="Text 10"/>
          <p:cNvSpPr/>
          <p:nvPr/>
        </p:nvSpPr>
        <p:spPr>
          <a:xfrm>
            <a:off x="530352" y="3465576"/>
            <a:ext cx="4709160" cy="256032"/>
          </a:xfrm>
          <a:prstGeom prst="rect">
            <a:avLst/>
          </a:prstGeom>
          <a:noFill/>
          <a:ln/>
        </p:spPr>
        <p:txBody>
          <a:bodyPr wrap="square" lIns="0" tIns="0" rIns="0" bIns="0" rtlCol="0" anchor="ctr"/>
          <a:lstStyle/>
          <a:p>
            <a:pPr marL="0" indent="0">
              <a:buNone/>
            </a:pPr>
            <a:r>
              <a:rPr lang="en-US" sz="950" dirty="0">
                <a:solidFill>
                  <a:srgbClr val="888780"/>
                </a:solidFill>
                <a:latin typeface="Courier New" pitchFamily="34" charset="0"/>
                <a:ea typeface="Courier New" pitchFamily="34" charset="-122"/>
                <a:cs typeface="Courier New" pitchFamily="34" charset="-120"/>
              </a:rPr>
              <a:t># Para un proyecto completamente nuevo:</a:t>
            </a:r>
            <a:endParaRPr lang="en-US" sz="950" dirty="0"/>
          </a:p>
        </p:txBody>
      </p:sp>
      <p:sp>
        <p:nvSpPr>
          <p:cNvPr id="13" name="Text 11"/>
          <p:cNvSpPr/>
          <p:nvPr/>
        </p:nvSpPr>
        <p:spPr>
          <a:xfrm>
            <a:off x="530352" y="3739896"/>
            <a:ext cx="4709160" cy="256032"/>
          </a:xfrm>
          <a:prstGeom prst="rect">
            <a:avLst/>
          </a:prstGeom>
          <a:noFill/>
          <a:ln/>
        </p:spPr>
        <p:txBody>
          <a:bodyPr wrap="square" lIns="0" tIns="0" rIns="0" bIns="0" rtlCol="0" anchor="ctr"/>
          <a:lstStyle/>
          <a:p>
            <a:pPr marL="0" indent="0">
              <a:buNone/>
            </a:pPr>
            <a:r>
              <a:rPr lang="en-US" sz="950" dirty="0">
                <a:solidFill>
                  <a:srgbClr val="5EEAD4"/>
                </a:solidFill>
                <a:latin typeface="Courier New" pitchFamily="34" charset="0"/>
                <a:ea typeface="Courier New" pitchFamily="34" charset="-122"/>
                <a:cs typeface="Courier New" pitchFamily="34" charset="-120"/>
              </a:rPr>
              <a:t>mkdir mi-nuevo-proyecto &amp;&amp; cd mi-nuevo-proyecto</a:t>
            </a:r>
            <a:endParaRPr lang="en-US" sz="950" dirty="0"/>
          </a:p>
        </p:txBody>
      </p:sp>
      <p:sp>
        <p:nvSpPr>
          <p:cNvPr id="14" name="Text 12"/>
          <p:cNvSpPr/>
          <p:nvPr/>
        </p:nvSpPr>
        <p:spPr>
          <a:xfrm>
            <a:off x="530352" y="4014216"/>
            <a:ext cx="4709160" cy="256032"/>
          </a:xfrm>
          <a:prstGeom prst="rect">
            <a:avLst/>
          </a:prstGeom>
          <a:noFill/>
          <a:ln/>
        </p:spPr>
        <p:txBody>
          <a:bodyPr wrap="square" lIns="0" tIns="0" rIns="0" bIns="0" rtlCol="0" anchor="ctr"/>
          <a:lstStyle/>
          <a:p>
            <a:pPr marL="0" indent="0">
              <a:buNone/>
            </a:pPr>
            <a:r>
              <a:rPr lang="en-US" sz="950" dirty="0">
                <a:solidFill>
                  <a:srgbClr val="F9C74F"/>
                </a:solidFill>
                <a:latin typeface="Courier New" pitchFamily="34" charset="0"/>
                <a:ea typeface="Courier New" pitchFamily="34" charset="-122"/>
                <a:cs typeface="Courier New" pitchFamily="34" charset="-120"/>
              </a:rPr>
              <a:t>claude init</a:t>
            </a:r>
            <a:endParaRPr lang="en-US" sz="950" dirty="0"/>
          </a:p>
        </p:txBody>
      </p:sp>
      <p:sp>
        <p:nvSpPr>
          <p:cNvPr id="15" name="Text 13"/>
          <p:cNvSpPr/>
          <p:nvPr/>
        </p:nvSpPr>
        <p:spPr>
          <a:xfrm>
            <a:off x="530352" y="4288536"/>
            <a:ext cx="4709160" cy="256032"/>
          </a:xfrm>
          <a:prstGeom prst="rect">
            <a:avLst/>
          </a:prstGeom>
          <a:noFill/>
          <a:ln/>
        </p:spPr>
        <p:txBody>
          <a:bodyPr wrap="square" lIns="0" tIns="0" rIns="0" bIns="0" rtlCol="0" anchor="ctr"/>
          <a:lstStyle/>
          <a:p>
            <a:pPr marL="0" indent="0">
              <a:buNone/>
            </a:pPr>
            <a:r>
              <a:rPr lang="en-US" sz="950" dirty="0">
                <a:solidFill>
                  <a:srgbClr val="888780"/>
                </a:solidFill>
                <a:latin typeface="Courier New" pitchFamily="34" charset="0"/>
                <a:ea typeface="Courier New" pitchFamily="34" charset="-122"/>
                <a:cs typeface="Courier New" pitchFamily="34" charset="-120"/>
              </a:rPr>
              <a:t># Crea CLAUDE.md con plantilla + estructura</a:t>
            </a:r>
            <a:endParaRPr lang="en-US" sz="950" dirty="0"/>
          </a:p>
        </p:txBody>
      </p:sp>
      <p:sp>
        <p:nvSpPr>
          <p:cNvPr id="16" name="Shape 14"/>
          <p:cNvSpPr/>
          <p:nvPr/>
        </p:nvSpPr>
        <p:spPr>
          <a:xfrm>
            <a:off x="5577840" y="1325880"/>
            <a:ext cx="3200400" cy="3383280"/>
          </a:xfrm>
          <a:prstGeom prst="roundRect">
            <a:avLst>
              <a:gd name="adj" fmla="val 3429"/>
            </a:avLst>
          </a:prstGeom>
          <a:solidFill>
            <a:srgbClr val="FFFFFF"/>
          </a:solidFill>
          <a:ln w="6350">
            <a:solidFill>
              <a:srgbClr val="D3D1C7"/>
            </a:solidFill>
            <a:prstDash val="solid"/>
          </a:ln>
          <a:effectLst>
            <a:outerShdw blurRad="88900" dist="25400" dir="2700000" algn="bl" rotWithShape="0">
              <a:srgbClr val="000000">
                <a:alpha val="11000"/>
              </a:srgbClr>
            </a:outerShdw>
          </a:effectLst>
        </p:spPr>
        <p:txBody>
          <a:bodyPr/>
          <a:lstStyle/>
          <a:p>
            <a:endParaRPr lang="es-ES_tradnl"/>
          </a:p>
        </p:txBody>
      </p:sp>
      <p:sp>
        <p:nvSpPr>
          <p:cNvPr id="17" name="Text 15"/>
          <p:cNvSpPr/>
          <p:nvPr/>
        </p:nvSpPr>
        <p:spPr>
          <a:xfrm>
            <a:off x="5742432" y="1417320"/>
            <a:ext cx="2880360" cy="347472"/>
          </a:xfrm>
          <a:prstGeom prst="rect">
            <a:avLst/>
          </a:prstGeom>
          <a:noFill/>
          <a:ln/>
        </p:spPr>
        <p:txBody>
          <a:bodyPr wrap="square" lIns="0" tIns="0" rIns="0" bIns="0" rtlCol="0" anchor="ctr"/>
          <a:lstStyle/>
          <a:p>
            <a:pPr marL="0" indent="0">
              <a:buNone/>
            </a:pPr>
            <a:r>
              <a:rPr lang="en-US" sz="1100" b="1" dirty="0">
                <a:solidFill>
                  <a:srgbClr val="534AB7"/>
                </a:solidFill>
                <a:latin typeface="Calibri" pitchFamily="34" charset="0"/>
                <a:ea typeface="Calibri" pitchFamily="34" charset="-122"/>
                <a:cs typeface="Calibri" pitchFamily="34" charset="-120"/>
              </a:rPr>
              <a:t>claude init hace por ti:</a:t>
            </a:r>
            <a:endParaRPr lang="en-US" sz="1100" dirty="0"/>
          </a:p>
        </p:txBody>
      </p:sp>
      <p:sp>
        <p:nvSpPr>
          <p:cNvPr id="18" name="Text 16"/>
          <p:cNvSpPr/>
          <p:nvPr/>
        </p:nvSpPr>
        <p:spPr>
          <a:xfrm>
            <a:off x="5742432" y="1874520"/>
            <a:ext cx="2880360" cy="502920"/>
          </a:xfrm>
          <a:prstGeom prst="rect">
            <a:avLst/>
          </a:prstGeom>
          <a:noFill/>
          <a:ln/>
        </p:spPr>
        <p:txBody>
          <a:bodyPr wrap="square" lIns="0" tIns="0" rIns="0" bIns="0" rtlCol="0" anchor="ctr"/>
          <a:lstStyle/>
          <a:p>
            <a:pPr marL="0" indent="0">
              <a:buNone/>
            </a:pPr>
            <a:r>
              <a:rPr lang="en-US" sz="950" dirty="0">
                <a:solidFill>
                  <a:srgbClr val="0F6E56"/>
                </a:solidFill>
                <a:latin typeface="Calibri" pitchFamily="34" charset="0"/>
                <a:ea typeface="Calibri" pitchFamily="34" charset="-122"/>
                <a:cs typeface="Calibri" pitchFamily="34" charset="-120"/>
              </a:rPr>
              <a:t>✅  Crea CLAUDE.md con secciones base ya definidas</a:t>
            </a:r>
            <a:endParaRPr lang="en-US" sz="950" dirty="0"/>
          </a:p>
        </p:txBody>
      </p:sp>
      <p:sp>
        <p:nvSpPr>
          <p:cNvPr id="19" name="Text 17"/>
          <p:cNvSpPr/>
          <p:nvPr/>
        </p:nvSpPr>
        <p:spPr>
          <a:xfrm>
            <a:off x="5742432" y="2423160"/>
            <a:ext cx="2880360" cy="502920"/>
          </a:xfrm>
          <a:prstGeom prst="rect">
            <a:avLst/>
          </a:prstGeom>
          <a:noFill/>
          <a:ln/>
        </p:spPr>
        <p:txBody>
          <a:bodyPr wrap="square" lIns="0" tIns="0" rIns="0" bIns="0" rtlCol="0" anchor="ctr"/>
          <a:lstStyle/>
          <a:p>
            <a:pPr marL="0" indent="0">
              <a:buNone/>
            </a:pPr>
            <a:r>
              <a:rPr lang="en-US" sz="950" dirty="0">
                <a:solidFill>
                  <a:srgbClr val="0F6E56"/>
                </a:solidFill>
                <a:latin typeface="Calibri" pitchFamily="34" charset="0"/>
                <a:ea typeface="Calibri" pitchFamily="34" charset="-122"/>
                <a:cs typeface="Calibri" pitchFamily="34" charset="-120"/>
              </a:rPr>
              <a:t>✅  Pregunta el nombre del proyecto y el objetivo</a:t>
            </a:r>
            <a:endParaRPr lang="en-US" sz="950" dirty="0"/>
          </a:p>
        </p:txBody>
      </p:sp>
      <p:sp>
        <p:nvSpPr>
          <p:cNvPr id="20" name="Text 18"/>
          <p:cNvSpPr/>
          <p:nvPr/>
        </p:nvSpPr>
        <p:spPr>
          <a:xfrm>
            <a:off x="5742432" y="2971800"/>
            <a:ext cx="2880360" cy="502920"/>
          </a:xfrm>
          <a:prstGeom prst="rect">
            <a:avLst/>
          </a:prstGeom>
          <a:noFill/>
          <a:ln/>
        </p:spPr>
        <p:txBody>
          <a:bodyPr wrap="square" lIns="0" tIns="0" rIns="0" bIns="0" rtlCol="0" anchor="ctr"/>
          <a:lstStyle/>
          <a:p>
            <a:pPr marL="0" indent="0">
              <a:buNone/>
            </a:pPr>
            <a:r>
              <a:rPr lang="en-US" sz="950" dirty="0">
                <a:solidFill>
                  <a:srgbClr val="0F6E56"/>
                </a:solidFill>
                <a:latin typeface="Calibri" pitchFamily="34" charset="0"/>
                <a:ea typeface="Calibri" pitchFamily="34" charset="-122"/>
                <a:cs typeface="Calibri" pitchFamily="34" charset="-120"/>
              </a:rPr>
              <a:t>✅  Sugiere estructura de carpetas</a:t>
            </a:r>
            <a:endParaRPr lang="en-US" sz="950" dirty="0"/>
          </a:p>
        </p:txBody>
      </p:sp>
      <p:sp>
        <p:nvSpPr>
          <p:cNvPr id="21" name="Text 19"/>
          <p:cNvSpPr/>
          <p:nvPr/>
        </p:nvSpPr>
        <p:spPr>
          <a:xfrm>
            <a:off x="5742432" y="3520440"/>
            <a:ext cx="2880360" cy="502920"/>
          </a:xfrm>
          <a:prstGeom prst="rect">
            <a:avLst/>
          </a:prstGeom>
          <a:noFill/>
          <a:ln/>
        </p:spPr>
        <p:txBody>
          <a:bodyPr wrap="square" lIns="0" tIns="0" rIns="0" bIns="0" rtlCol="0" anchor="ctr"/>
          <a:lstStyle/>
          <a:p>
            <a:pPr marL="0" indent="0">
              <a:buNone/>
            </a:pPr>
            <a:r>
              <a:rPr lang="en-US" sz="950" dirty="0">
                <a:solidFill>
                  <a:srgbClr val="0F6E56"/>
                </a:solidFill>
                <a:latin typeface="Calibri" pitchFamily="34" charset="0"/>
                <a:ea typeface="Calibri" pitchFamily="34" charset="-122"/>
                <a:cs typeface="Calibri" pitchFamily="34" charset="-120"/>
              </a:rPr>
              <a:t>✅  Define convenciones de output por defecto</a:t>
            </a:r>
            <a:endParaRPr lang="en-US" sz="950" dirty="0"/>
          </a:p>
        </p:txBody>
      </p:sp>
      <p:sp>
        <p:nvSpPr>
          <p:cNvPr id="22" name="Text 20"/>
          <p:cNvSpPr/>
          <p:nvPr/>
        </p:nvSpPr>
        <p:spPr>
          <a:xfrm>
            <a:off x="5742432" y="4069080"/>
            <a:ext cx="2880360" cy="502920"/>
          </a:xfrm>
          <a:prstGeom prst="rect">
            <a:avLst/>
          </a:prstGeom>
          <a:noFill/>
          <a:ln/>
        </p:spPr>
        <p:txBody>
          <a:bodyPr wrap="square" lIns="0" tIns="0" rIns="0" bIns="0" rtlCol="0" anchor="ctr"/>
          <a:lstStyle/>
          <a:p>
            <a:pPr marL="0" indent="0">
              <a:buNone/>
            </a:pPr>
            <a:r>
              <a:rPr lang="en-US" sz="950" dirty="0">
                <a:solidFill>
                  <a:srgbClr val="534AB7"/>
                </a:solidFill>
                <a:latin typeface="Calibri" pitchFamily="34" charset="0"/>
                <a:ea typeface="Calibri" pitchFamily="34" charset="-122"/>
                <a:cs typeface="Calibri" pitchFamily="34" charset="-120"/>
              </a:rPr>
              <a:t>⚡  Punto de partida oficial — no partes de cero</a:t>
            </a:r>
            <a:endParaRPr lang="en-US" sz="950" dirty="0"/>
          </a:p>
        </p:txBody>
      </p:sp>
      <p:sp>
        <p:nvSpPr>
          <p:cNvPr id="23" name="Shape 21"/>
          <p:cNvSpPr/>
          <p:nvPr/>
        </p:nvSpPr>
        <p:spPr>
          <a:xfrm>
            <a:off x="365760" y="4828032"/>
            <a:ext cx="8412480" cy="658368"/>
          </a:xfrm>
          <a:prstGeom prst="roundRect">
            <a:avLst>
              <a:gd name="adj" fmla="val 11111"/>
            </a:avLst>
          </a:prstGeom>
          <a:solidFill>
            <a:srgbClr val="FAEEDA"/>
          </a:solidFill>
          <a:ln w="6350">
            <a:solidFill>
              <a:srgbClr val="C97B2A"/>
            </a:solidFill>
            <a:prstDash val="solid"/>
          </a:ln>
        </p:spPr>
        <p:txBody>
          <a:bodyPr/>
          <a:lstStyle/>
          <a:p>
            <a:endParaRPr lang="es-ES_tradnl"/>
          </a:p>
        </p:txBody>
      </p:sp>
      <p:sp>
        <p:nvSpPr>
          <p:cNvPr id="24" name="Text 22"/>
          <p:cNvSpPr/>
          <p:nvPr/>
        </p:nvSpPr>
        <p:spPr>
          <a:xfrm>
            <a:off x="548640" y="4901184"/>
            <a:ext cx="8046720" cy="512064"/>
          </a:xfrm>
          <a:prstGeom prst="rect">
            <a:avLst/>
          </a:prstGeom>
          <a:noFill/>
          <a:ln/>
        </p:spPr>
        <p:txBody>
          <a:bodyPr wrap="square" lIns="0" tIns="0" rIns="0" bIns="0" rtlCol="0" anchor="ctr"/>
          <a:lstStyle/>
          <a:p>
            <a:pPr marL="0" indent="0">
              <a:buNone/>
            </a:pPr>
            <a:r>
              <a:rPr lang="en-US" sz="1050" dirty="0">
                <a:solidFill>
                  <a:srgbClr val="C97B2A"/>
                </a:solidFill>
                <a:latin typeface="Calibri" pitchFamily="34" charset="0"/>
                <a:ea typeface="Calibri" pitchFamily="34" charset="-122"/>
                <a:cs typeface="Calibri" pitchFamily="34" charset="-120"/>
              </a:rPr>
              <a:t>Para este curso: el repo ya tiene un CLAUDE.md base. Usa claude init solo si en el futuro creas un proyecto tuyo desde cero — es la forma recomendada de empezar.</a:t>
            </a:r>
            <a:endParaRPr lang="en-US" sz="1050" dirty="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6">
    <p:bg>
      <p:bgPr>
        <a:solidFill>
          <a:srgbClr val="1A1A2E"/>
        </a:solidFill>
        <a:effectLst/>
      </p:bgPr>
    </p:bg>
    <p:spTree>
      <p:nvGrpSpPr>
        <p:cNvPr id="1" name=""/>
        <p:cNvGrpSpPr/>
        <p:nvPr/>
      </p:nvGrpSpPr>
      <p:grpSpPr>
        <a:xfrm>
          <a:off x="0" y="0"/>
          <a:ext cx="0" cy="0"/>
          <a:chOff x="0" y="0"/>
          <a:chExt cx="0" cy="0"/>
        </a:xfrm>
      </p:grpSpPr>
      <p:sp>
        <p:nvSpPr>
          <p:cNvPr id="2" name="Shape 0"/>
          <p:cNvSpPr/>
          <p:nvPr/>
        </p:nvSpPr>
        <p:spPr>
          <a:xfrm>
            <a:off x="6858000" y="-914400"/>
            <a:ext cx="4114800" cy="4114800"/>
          </a:xfrm>
          <a:prstGeom prst="ellipse">
            <a:avLst/>
          </a:prstGeom>
          <a:solidFill>
            <a:srgbClr val="1D9E75">
              <a:alpha val="18000"/>
            </a:srgbClr>
          </a:solidFill>
          <a:ln w="12700">
            <a:solidFill>
              <a:srgbClr val="1D9E75">
                <a:alpha val="18000"/>
              </a:srgbClr>
            </a:solidFill>
            <a:prstDash val="solid"/>
          </a:ln>
        </p:spPr>
        <p:txBody>
          <a:bodyPr/>
          <a:lstStyle/>
          <a:p>
            <a:endParaRPr lang="es-ES_tradnl"/>
          </a:p>
        </p:txBody>
      </p:sp>
      <p:sp>
        <p:nvSpPr>
          <p:cNvPr id="3" name="Text 1"/>
          <p:cNvSpPr/>
          <p:nvPr/>
        </p:nvSpPr>
        <p:spPr>
          <a:xfrm>
            <a:off x="640080" y="411480"/>
            <a:ext cx="7772400" cy="457200"/>
          </a:xfrm>
          <a:prstGeom prst="rect">
            <a:avLst/>
          </a:prstGeom>
          <a:noFill/>
          <a:ln/>
        </p:spPr>
        <p:txBody>
          <a:bodyPr wrap="square" lIns="0" tIns="0" rIns="0" bIns="0" rtlCol="0" anchor="ctr"/>
          <a:lstStyle/>
          <a:p>
            <a:pPr marL="0" indent="0">
              <a:buNone/>
            </a:pPr>
            <a:r>
              <a:rPr lang="en-US" sz="1400" b="1" kern="0" spc="200" dirty="0">
                <a:solidFill>
                  <a:srgbClr val="1D9E75"/>
                </a:solidFill>
                <a:latin typeface="Calibri" pitchFamily="34" charset="0"/>
                <a:ea typeface="Calibri" pitchFamily="34" charset="-122"/>
                <a:cs typeface="Calibri" pitchFamily="34" charset="-120"/>
              </a:rPr>
              <a:t>🧪  Ejercicio 4</a:t>
            </a:r>
            <a:endParaRPr lang="en-US" sz="1400" dirty="0"/>
          </a:p>
        </p:txBody>
      </p:sp>
      <p:sp>
        <p:nvSpPr>
          <p:cNvPr id="4" name="Text 2"/>
          <p:cNvSpPr/>
          <p:nvPr/>
        </p:nvSpPr>
        <p:spPr>
          <a:xfrm>
            <a:off x="640080" y="914400"/>
            <a:ext cx="7498080" cy="777240"/>
          </a:xfrm>
          <a:prstGeom prst="rect">
            <a:avLst/>
          </a:prstGeom>
          <a:noFill/>
          <a:ln/>
        </p:spPr>
        <p:txBody>
          <a:bodyPr wrap="square" lIns="0" tIns="0" rIns="0" bIns="0" rtlCol="0" anchor="ctr"/>
          <a:lstStyle/>
          <a:p>
            <a:pPr marL="0" indent="0">
              <a:buNone/>
            </a:pPr>
            <a:r>
              <a:rPr lang="en-US" sz="2800" b="1" dirty="0">
                <a:solidFill>
                  <a:srgbClr val="FFFFFF"/>
                </a:solidFill>
                <a:latin typeface="Cambria" pitchFamily="34" charset="0"/>
                <a:ea typeface="Cambria" pitchFamily="34" charset="-122"/>
                <a:cs typeface="Cambria" pitchFamily="34" charset="-120"/>
              </a:rPr>
              <a:t>Explorar el dataset de Atacama</a:t>
            </a:r>
            <a:endParaRPr lang="en-US" sz="2800" dirty="0"/>
          </a:p>
        </p:txBody>
      </p:sp>
      <p:sp>
        <p:nvSpPr>
          <p:cNvPr id="5" name="Shape 3"/>
          <p:cNvSpPr/>
          <p:nvPr/>
        </p:nvSpPr>
        <p:spPr>
          <a:xfrm>
            <a:off x="640080" y="1828800"/>
            <a:ext cx="7863840" cy="1298448"/>
          </a:xfrm>
          <a:prstGeom prst="roundRect">
            <a:avLst>
              <a:gd name="adj" fmla="val 8451"/>
            </a:avLst>
          </a:prstGeom>
          <a:solidFill>
            <a:srgbClr val="1E1E35"/>
          </a:solidFill>
          <a:ln w="10160">
            <a:solidFill>
              <a:srgbClr val="534AB7"/>
            </a:solidFill>
            <a:prstDash val="solid"/>
          </a:ln>
        </p:spPr>
        <p:txBody>
          <a:bodyPr/>
          <a:lstStyle/>
          <a:p>
            <a:endParaRPr lang="es-ES_tradnl"/>
          </a:p>
        </p:txBody>
      </p:sp>
      <p:sp>
        <p:nvSpPr>
          <p:cNvPr id="6" name="Text 4"/>
          <p:cNvSpPr/>
          <p:nvPr/>
        </p:nvSpPr>
        <p:spPr>
          <a:xfrm>
            <a:off x="822960" y="1920240"/>
            <a:ext cx="7498080" cy="1115568"/>
          </a:xfrm>
          <a:prstGeom prst="rect">
            <a:avLst/>
          </a:prstGeom>
          <a:noFill/>
          <a:ln/>
        </p:spPr>
        <p:txBody>
          <a:bodyPr wrap="square" lIns="0" tIns="0" rIns="0" bIns="0" rtlCol="0" anchor="ctr"/>
          <a:lstStyle/>
          <a:p>
            <a:pPr marL="0" indent="0">
              <a:buNone/>
            </a:pPr>
            <a:r>
              <a:rPr lang="en-US" sz="1150" dirty="0">
                <a:solidFill>
                  <a:srgbClr val="7B74D4"/>
                </a:solidFill>
                <a:latin typeface="Calibri" pitchFamily="34" charset="0"/>
                <a:ea typeface="Calibri" pitchFamily="34" charset="-122"/>
                <a:cs typeface="Calibri" pitchFamily="34" charset="-120"/>
              </a:rPr>
              <a:t>Desde tu branch, añade el metadata al contexto con /add y pide al agente:</a:t>
            </a:r>
            <a:endParaRPr lang="en-US" sz="1150" dirty="0"/>
          </a:p>
        </p:txBody>
      </p:sp>
      <p:sp>
        <p:nvSpPr>
          <p:cNvPr id="7" name="Text 5"/>
          <p:cNvSpPr/>
          <p:nvPr/>
        </p:nvSpPr>
        <p:spPr>
          <a:xfrm>
            <a:off x="640080" y="3291840"/>
            <a:ext cx="7863840" cy="1325880"/>
          </a:xfrm>
          <a:prstGeom prst="rect">
            <a:avLst/>
          </a:prstGeom>
          <a:noFill/>
          <a:ln/>
        </p:spPr>
        <p:txBody>
          <a:bodyPr wrap="square" rtlCol="0" anchor="ctr"/>
          <a:lstStyle/>
          <a:p>
            <a:pPr marL="342900" indent="-342900">
              <a:spcAft>
                <a:spcPts val="400"/>
              </a:spcAft>
              <a:buSzPct val="100000"/>
              <a:buChar char="•"/>
            </a:pPr>
            <a:r>
              <a:rPr lang="en-US" sz="1150" dirty="0">
                <a:solidFill>
                  <a:srgbClr val="FFFFFF"/>
                </a:solidFill>
                <a:latin typeface="Calibri" pitchFamily="34" charset="0"/>
                <a:ea typeface="Calibri" pitchFamily="34" charset="-122"/>
                <a:cs typeface="Calibri" pitchFamily="34" charset="-120"/>
              </a:rPr>
              <a:t>¿Cuántas muestras hay por transecto (Baquedano vs. Yungay)?</a:t>
            </a:r>
            <a:endParaRPr lang="en-US" sz="1150" dirty="0"/>
          </a:p>
          <a:p>
            <a:pPr marL="342900" indent="-342900">
              <a:spcAft>
                <a:spcPts val="400"/>
              </a:spcAft>
              <a:buSzPct val="100000"/>
              <a:buChar char="•"/>
            </a:pPr>
            <a:r>
              <a:rPr lang="en-US" sz="1150" dirty="0">
                <a:solidFill>
                  <a:srgbClr val="FFFFFF"/>
                </a:solidFill>
                <a:latin typeface="Calibri" pitchFamily="34" charset="0"/>
                <a:ea typeface="Calibri" pitchFamily="34" charset="-122"/>
                <a:cs typeface="Calibri" pitchFamily="34" charset="-120"/>
              </a:rPr>
              <a:t>¿Qué columnas de variables ambientales tiene el archivo?</a:t>
            </a:r>
            <a:endParaRPr lang="en-US" sz="1150" dirty="0"/>
          </a:p>
          <a:p>
            <a:pPr marL="342900" indent="-342900">
              <a:spcAft>
                <a:spcPts val="400"/>
              </a:spcAft>
              <a:buSzPct val="100000"/>
              <a:buChar char="•"/>
            </a:pPr>
            <a:r>
              <a:rPr lang="en-US" sz="1150" dirty="0">
                <a:solidFill>
                  <a:srgbClr val="FFFFFF"/>
                </a:solidFill>
                <a:latin typeface="Calibri" pitchFamily="34" charset="0"/>
                <a:ea typeface="Calibri" pitchFamily="34" charset="-122"/>
                <a:cs typeface="Calibri" pitchFamily="34" charset="-120"/>
              </a:rPr>
              <a:t>¿Cuál es el rango de valores de AvgSoilRH?</a:t>
            </a:r>
            <a:endParaRPr lang="en-US" sz="1150" dirty="0"/>
          </a:p>
        </p:txBody>
      </p:sp>
      <p:sp>
        <p:nvSpPr>
          <p:cNvPr id="8" name="Text 6"/>
          <p:cNvSpPr/>
          <p:nvPr/>
        </p:nvSpPr>
        <p:spPr>
          <a:xfrm>
            <a:off x="640080" y="4736592"/>
            <a:ext cx="7772400" cy="274320"/>
          </a:xfrm>
          <a:prstGeom prst="rect">
            <a:avLst/>
          </a:prstGeom>
          <a:noFill/>
          <a:ln/>
        </p:spPr>
        <p:txBody>
          <a:bodyPr wrap="square" lIns="0" tIns="0" rIns="0" bIns="0" rtlCol="0" anchor="ctr"/>
          <a:lstStyle/>
          <a:p>
            <a:pPr marL="0" indent="0">
              <a:buNone/>
            </a:pPr>
            <a:r>
              <a:rPr lang="en-US" sz="1000" i="1" dirty="0">
                <a:solidFill>
                  <a:srgbClr val="1D9E75"/>
                </a:solidFill>
                <a:latin typeface="Calibri" pitchFamily="34" charset="0"/>
                <a:ea typeface="Calibri" pitchFamily="34" charset="-122"/>
                <a:cs typeface="Calibri" pitchFamily="34" charset="-120"/>
              </a:rPr>
              <a:t>10 min · individual — el agente responde con los datos reales del repo</a:t>
            </a:r>
            <a:endParaRPr lang="en-US" sz="1000" dirty="0"/>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7">
    <p:bg>
      <p:bgPr>
        <a:solidFill>
          <a:srgbClr val="1A1A2E"/>
        </a:solidFill>
        <a:effectLst/>
      </p:bgPr>
    </p:bg>
    <p:spTree>
      <p:nvGrpSpPr>
        <p:cNvPr id="1" name=""/>
        <p:cNvGrpSpPr/>
        <p:nvPr/>
      </p:nvGrpSpPr>
      <p:grpSpPr>
        <a:xfrm>
          <a:off x="0" y="0"/>
          <a:ext cx="0" cy="0"/>
          <a:chOff x="0" y="0"/>
          <a:chExt cx="0" cy="0"/>
        </a:xfrm>
      </p:grpSpPr>
      <p:sp>
        <p:nvSpPr>
          <p:cNvPr id="2" name="Shape 0"/>
          <p:cNvSpPr/>
          <p:nvPr/>
        </p:nvSpPr>
        <p:spPr>
          <a:xfrm>
            <a:off x="6858000" y="-914400"/>
            <a:ext cx="4572000" cy="4572000"/>
          </a:xfrm>
          <a:prstGeom prst="ellipse">
            <a:avLst/>
          </a:prstGeom>
          <a:solidFill>
            <a:srgbClr val="7B74D4">
              <a:alpha val="22000"/>
            </a:srgbClr>
          </a:solidFill>
          <a:ln w="12700">
            <a:solidFill>
              <a:srgbClr val="7B74D4">
                <a:alpha val="22000"/>
              </a:srgbClr>
            </a:solidFill>
            <a:prstDash val="solid"/>
          </a:ln>
        </p:spPr>
        <p:txBody>
          <a:bodyPr/>
          <a:lstStyle/>
          <a:p>
            <a:endParaRPr lang="es-ES_tradnl"/>
          </a:p>
        </p:txBody>
      </p:sp>
      <p:sp>
        <p:nvSpPr>
          <p:cNvPr id="3" name="Shape 1"/>
          <p:cNvSpPr/>
          <p:nvPr/>
        </p:nvSpPr>
        <p:spPr>
          <a:xfrm>
            <a:off x="-1371600" y="3200400"/>
            <a:ext cx="3200400" cy="3200400"/>
          </a:xfrm>
          <a:prstGeom prst="ellipse">
            <a:avLst/>
          </a:prstGeom>
          <a:solidFill>
            <a:srgbClr val="1D9E75">
              <a:alpha val="16000"/>
            </a:srgbClr>
          </a:solidFill>
          <a:ln w="12700">
            <a:solidFill>
              <a:srgbClr val="1D9E75">
                <a:alpha val="16000"/>
              </a:srgbClr>
            </a:solidFill>
            <a:prstDash val="solid"/>
          </a:ln>
        </p:spPr>
        <p:txBody>
          <a:bodyPr/>
          <a:lstStyle/>
          <a:p>
            <a:endParaRPr lang="es-ES_tradnl"/>
          </a:p>
        </p:txBody>
      </p:sp>
      <p:sp>
        <p:nvSpPr>
          <p:cNvPr id="4" name="Text 2"/>
          <p:cNvSpPr/>
          <p:nvPr/>
        </p:nvSpPr>
        <p:spPr>
          <a:xfrm>
            <a:off x="640080" y="822960"/>
            <a:ext cx="7772400" cy="411480"/>
          </a:xfrm>
          <a:prstGeom prst="rect">
            <a:avLst/>
          </a:prstGeom>
          <a:noFill/>
          <a:ln/>
        </p:spPr>
        <p:txBody>
          <a:bodyPr wrap="square" lIns="0" tIns="0" rIns="0" bIns="0" rtlCol="0" anchor="ctr"/>
          <a:lstStyle/>
          <a:p>
            <a:pPr marL="0" indent="0">
              <a:buNone/>
            </a:pPr>
            <a:r>
              <a:rPr lang="en-US" sz="1300" b="1" kern="0" spc="400" dirty="0">
                <a:solidFill>
                  <a:srgbClr val="7B74D4"/>
                </a:solidFill>
                <a:latin typeface="Calibri" pitchFamily="34" charset="0"/>
                <a:ea typeface="Calibri" pitchFamily="34" charset="-122"/>
                <a:cs typeface="Calibri" pitchFamily="34" charset="-120"/>
              </a:rPr>
              <a:t>Módulo 5</a:t>
            </a:r>
            <a:endParaRPr lang="en-US" sz="1300" dirty="0"/>
          </a:p>
        </p:txBody>
      </p:sp>
      <p:sp>
        <p:nvSpPr>
          <p:cNvPr id="5" name="Text 3"/>
          <p:cNvSpPr/>
          <p:nvPr/>
        </p:nvSpPr>
        <p:spPr>
          <a:xfrm>
            <a:off x="640080" y="1280160"/>
            <a:ext cx="7498080" cy="1005840"/>
          </a:xfrm>
          <a:prstGeom prst="rect">
            <a:avLst/>
          </a:prstGeom>
          <a:noFill/>
          <a:ln/>
        </p:spPr>
        <p:txBody>
          <a:bodyPr wrap="square" lIns="0" tIns="0" rIns="0" bIns="0" rtlCol="0" anchor="ctr"/>
          <a:lstStyle/>
          <a:p>
            <a:pPr marL="0" indent="0">
              <a:buNone/>
            </a:pPr>
            <a:r>
              <a:rPr lang="en-US" sz="3600" b="1" dirty="0">
                <a:solidFill>
                  <a:srgbClr val="FFFFFF"/>
                </a:solidFill>
                <a:latin typeface="Cambria" pitchFamily="34" charset="0"/>
                <a:ea typeface="Cambria" pitchFamily="34" charset="-122"/>
                <a:cs typeface="Cambria" pitchFamily="34" charset="-120"/>
              </a:rPr>
              <a:t>CLAUDE.md, Skills y conectores MCP</a:t>
            </a:r>
            <a:endParaRPr lang="en-US" sz="3600" dirty="0"/>
          </a:p>
        </p:txBody>
      </p:sp>
      <p:sp>
        <p:nvSpPr>
          <p:cNvPr id="6" name="Text 4"/>
          <p:cNvSpPr/>
          <p:nvPr/>
        </p:nvSpPr>
        <p:spPr>
          <a:xfrm>
            <a:off x="640080" y="2377440"/>
            <a:ext cx="6858000" cy="594360"/>
          </a:xfrm>
          <a:prstGeom prst="rect">
            <a:avLst/>
          </a:prstGeom>
          <a:noFill/>
          <a:ln/>
        </p:spPr>
        <p:txBody>
          <a:bodyPr wrap="square" lIns="0" tIns="0" rIns="0" bIns="0" rtlCol="0" anchor="ctr"/>
          <a:lstStyle/>
          <a:p>
            <a:pPr marL="0" indent="0">
              <a:buNone/>
            </a:pPr>
            <a:r>
              <a:rPr lang="en-US" sz="1300" i="1" dirty="0">
                <a:solidFill>
                  <a:srgbClr val="7B74D4"/>
                </a:solidFill>
                <a:latin typeface="Calibri" pitchFamily="34" charset="0"/>
                <a:ea typeface="Calibri" pitchFamily="34" charset="-122"/>
                <a:cs typeface="Calibri" pitchFamily="34" charset="-120"/>
              </a:rPr>
              <a:t>Darle al agente memoria, instrucciones permanentes y acceso a fuentes externas</a:t>
            </a:r>
            <a:endParaRPr lang="en-US" sz="1300" dirty="0"/>
          </a:p>
        </p:txBody>
      </p:sp>
      <p:sp>
        <p:nvSpPr>
          <p:cNvPr id="7" name="Shape 5"/>
          <p:cNvSpPr/>
          <p:nvPr/>
        </p:nvSpPr>
        <p:spPr>
          <a:xfrm>
            <a:off x="640080" y="3154680"/>
            <a:ext cx="2011680" cy="0"/>
          </a:xfrm>
          <a:prstGeom prst="line">
            <a:avLst/>
          </a:prstGeom>
          <a:noFill/>
          <a:ln w="31750">
            <a:solidFill>
              <a:srgbClr val="1D9E75"/>
            </a:solidFill>
            <a:prstDash val="solid"/>
          </a:ln>
        </p:spPr>
        <p:txBody>
          <a:bodyPr/>
          <a:lstStyle/>
          <a:p>
            <a:endParaRPr lang="es-ES_tradnl"/>
          </a:p>
        </p:txBody>
      </p:sp>
      <p:sp>
        <p:nvSpPr>
          <p:cNvPr id="8" name="Text 6"/>
          <p:cNvSpPr/>
          <p:nvPr/>
        </p:nvSpPr>
        <p:spPr>
          <a:xfrm>
            <a:off x="640080" y="4526280"/>
            <a:ext cx="7772400" cy="292608"/>
          </a:xfrm>
          <a:prstGeom prst="rect">
            <a:avLst/>
          </a:prstGeom>
          <a:noFill/>
          <a:ln/>
        </p:spPr>
        <p:txBody>
          <a:bodyPr wrap="square" lIns="0" tIns="0" rIns="0" bIns="0" rtlCol="0" anchor="ctr"/>
          <a:lstStyle/>
          <a:p>
            <a:pPr marL="0" indent="0">
              <a:buNone/>
            </a:pPr>
            <a:r>
              <a:rPr lang="en-US" sz="1000" dirty="0">
                <a:solidFill>
                  <a:srgbClr val="888780"/>
                </a:solidFill>
                <a:latin typeface="Calibri" pitchFamily="34" charset="0"/>
                <a:ea typeface="Calibri" pitchFamily="34" charset="-122"/>
                <a:cs typeface="Calibri" pitchFamily="34" charset="-120"/>
              </a:rPr>
              <a:t>12:00 – 12:30 · 30 minutos</a:t>
            </a:r>
            <a:endParaRPr lang="en-US" sz="1000" dirty="0"/>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8">
    <p:bg>
      <p:bgPr>
        <a:solidFill>
          <a:srgbClr val="F8F8F6"/>
        </a:solidFill>
        <a:effectLst/>
      </p:bgPr>
    </p:bg>
    <p:spTree>
      <p:nvGrpSpPr>
        <p:cNvPr id="1" name=""/>
        <p:cNvGrpSpPr/>
        <p:nvPr/>
      </p:nvGrpSpPr>
      <p:grpSpPr>
        <a:xfrm>
          <a:off x="0" y="0"/>
          <a:ext cx="0" cy="0"/>
          <a:chOff x="0" y="0"/>
          <a:chExt cx="0" cy="0"/>
        </a:xfrm>
      </p:grpSpPr>
      <p:sp>
        <p:nvSpPr>
          <p:cNvPr id="2" name="Text 0"/>
          <p:cNvSpPr/>
          <p:nvPr/>
        </p:nvSpPr>
        <p:spPr>
          <a:xfrm>
            <a:off x="457200" y="256032"/>
            <a:ext cx="8229600" cy="566928"/>
          </a:xfrm>
          <a:prstGeom prst="rect">
            <a:avLst/>
          </a:prstGeom>
          <a:noFill/>
          <a:ln/>
        </p:spPr>
        <p:txBody>
          <a:bodyPr wrap="square" lIns="0" tIns="0" rIns="0" bIns="0" rtlCol="0" anchor="ctr"/>
          <a:lstStyle/>
          <a:p>
            <a:pPr marL="0" indent="0">
              <a:buNone/>
            </a:pPr>
            <a:r>
              <a:rPr lang="en-US" sz="2700" b="1" dirty="0">
                <a:solidFill>
                  <a:srgbClr val="2C2C2A"/>
                </a:solidFill>
                <a:latin typeface="Cambria" pitchFamily="34" charset="0"/>
                <a:ea typeface="Cambria" pitchFamily="34" charset="-122"/>
                <a:cs typeface="Cambria" pitchFamily="34" charset="-120"/>
              </a:rPr>
              <a:t>CLAUDE.md: el briefing del agente</a:t>
            </a:r>
            <a:endParaRPr lang="en-US" sz="2700" dirty="0"/>
          </a:p>
        </p:txBody>
      </p:sp>
      <p:sp>
        <p:nvSpPr>
          <p:cNvPr id="3" name="Text 1"/>
          <p:cNvSpPr/>
          <p:nvPr/>
        </p:nvSpPr>
        <p:spPr>
          <a:xfrm>
            <a:off x="457200" y="822960"/>
            <a:ext cx="8229600" cy="320040"/>
          </a:xfrm>
          <a:prstGeom prst="rect">
            <a:avLst/>
          </a:prstGeom>
          <a:noFill/>
          <a:ln/>
        </p:spPr>
        <p:txBody>
          <a:bodyPr wrap="square" lIns="0" tIns="0" rIns="0" bIns="0" rtlCol="0" anchor="ctr"/>
          <a:lstStyle/>
          <a:p>
            <a:pPr marL="0" indent="0">
              <a:buNone/>
            </a:pPr>
            <a:r>
              <a:rPr lang="en-US" sz="1300" i="1" dirty="0">
                <a:solidFill>
                  <a:srgbClr val="5F5E5A"/>
                </a:solidFill>
                <a:latin typeface="Calibri" pitchFamily="34" charset="0"/>
                <a:ea typeface="Calibri" pitchFamily="34" charset="-122"/>
                <a:cs typeface="Calibri" pitchFamily="34" charset="-120"/>
              </a:rPr>
              <a:t>El archivo que Claude Code lee automáticamente al iniciar cada sesión</a:t>
            </a:r>
            <a:endParaRPr lang="en-US" sz="1300" dirty="0"/>
          </a:p>
        </p:txBody>
      </p:sp>
      <p:sp>
        <p:nvSpPr>
          <p:cNvPr id="4" name="Shape 2"/>
          <p:cNvSpPr/>
          <p:nvPr/>
        </p:nvSpPr>
        <p:spPr>
          <a:xfrm>
            <a:off x="365760" y="1261872"/>
            <a:ext cx="8412480" cy="658368"/>
          </a:xfrm>
          <a:prstGeom prst="roundRect">
            <a:avLst>
              <a:gd name="adj" fmla="val 13889"/>
            </a:avLst>
          </a:prstGeom>
          <a:solidFill>
            <a:srgbClr val="EEEDFE"/>
          </a:solidFill>
          <a:ln w="7620">
            <a:solidFill>
              <a:srgbClr val="534AB7"/>
            </a:solidFill>
            <a:prstDash val="solid"/>
          </a:ln>
        </p:spPr>
        <p:txBody>
          <a:bodyPr/>
          <a:lstStyle/>
          <a:p>
            <a:endParaRPr lang="es-ES_tradnl"/>
          </a:p>
        </p:txBody>
      </p:sp>
      <p:sp>
        <p:nvSpPr>
          <p:cNvPr id="5" name="Text 3"/>
          <p:cNvSpPr/>
          <p:nvPr/>
        </p:nvSpPr>
        <p:spPr>
          <a:xfrm>
            <a:off x="548640" y="1353312"/>
            <a:ext cx="8046720" cy="475488"/>
          </a:xfrm>
          <a:prstGeom prst="rect">
            <a:avLst/>
          </a:prstGeom>
          <a:noFill/>
          <a:ln/>
        </p:spPr>
        <p:txBody>
          <a:bodyPr wrap="square" lIns="0" tIns="0" rIns="0" bIns="0" rtlCol="0" anchor="ctr"/>
          <a:lstStyle/>
          <a:p>
            <a:pPr marL="0" indent="0">
              <a:buNone/>
            </a:pPr>
            <a:r>
              <a:rPr lang="en-US" sz="1200" i="1" dirty="0">
                <a:solidFill>
                  <a:srgbClr val="534AB7"/>
                </a:solidFill>
                <a:latin typeface="Calibri" pitchFamily="34" charset="0"/>
                <a:ea typeface="Calibri" pitchFamily="34" charset="-122"/>
                <a:cs typeface="Calibri" pitchFamily="34" charset="-120"/>
              </a:rPr>
              <a:t>Sin CLAUDE.md, el agente empieza cada sesión sin saber nada sobre ti ni tu proyecto. Con CLAUDE.md, empieza exactamente donde lo dejaste.</a:t>
            </a:r>
            <a:endParaRPr lang="en-US" sz="1200" dirty="0"/>
          </a:p>
        </p:txBody>
      </p:sp>
      <p:sp>
        <p:nvSpPr>
          <p:cNvPr id="6" name="Shape 4"/>
          <p:cNvSpPr/>
          <p:nvPr/>
        </p:nvSpPr>
        <p:spPr>
          <a:xfrm>
            <a:off x="365760" y="2057400"/>
            <a:ext cx="5029200" cy="2834640"/>
          </a:xfrm>
          <a:prstGeom prst="roundRect">
            <a:avLst>
              <a:gd name="adj" fmla="val 3226"/>
            </a:avLst>
          </a:prstGeom>
          <a:solidFill>
            <a:srgbClr val="1E1E2E"/>
          </a:solidFill>
          <a:ln w="6350">
            <a:solidFill>
              <a:srgbClr val="2A2A4A"/>
            </a:solidFill>
            <a:prstDash val="solid"/>
          </a:ln>
        </p:spPr>
        <p:txBody>
          <a:bodyPr/>
          <a:lstStyle/>
          <a:p>
            <a:endParaRPr lang="es-ES_tradnl"/>
          </a:p>
        </p:txBody>
      </p:sp>
      <p:sp>
        <p:nvSpPr>
          <p:cNvPr id="7" name="Text 5"/>
          <p:cNvSpPr/>
          <p:nvPr/>
        </p:nvSpPr>
        <p:spPr>
          <a:xfrm>
            <a:off x="530352" y="2185416"/>
            <a:ext cx="4709160" cy="256032"/>
          </a:xfrm>
          <a:prstGeom prst="rect">
            <a:avLst/>
          </a:prstGeom>
          <a:noFill/>
          <a:ln/>
        </p:spPr>
        <p:txBody>
          <a:bodyPr wrap="square" lIns="0" tIns="0" rIns="0" bIns="0" rtlCol="0" anchor="ctr"/>
          <a:lstStyle/>
          <a:p>
            <a:pPr marL="0" indent="0">
              <a:buNone/>
            </a:pPr>
            <a:r>
              <a:rPr lang="en-US" sz="950" dirty="0">
                <a:solidFill>
                  <a:srgbClr val="888780"/>
                </a:solidFill>
                <a:latin typeface="Courier New" pitchFamily="34" charset="0"/>
                <a:ea typeface="Courier New" pitchFamily="34" charset="-122"/>
                <a:cs typeface="Courier New" pitchFamily="34" charset="-120"/>
              </a:rPr>
              <a:t># CLAUDE.md — estructura base</a:t>
            </a:r>
            <a:endParaRPr lang="en-US" sz="950" dirty="0"/>
          </a:p>
        </p:txBody>
      </p:sp>
      <p:sp>
        <p:nvSpPr>
          <p:cNvPr id="8" name="Text 6"/>
          <p:cNvSpPr/>
          <p:nvPr/>
        </p:nvSpPr>
        <p:spPr>
          <a:xfrm>
            <a:off x="530352" y="2459736"/>
            <a:ext cx="4709160" cy="256032"/>
          </a:xfrm>
          <a:prstGeom prst="rect">
            <a:avLst/>
          </a:prstGeom>
          <a:noFill/>
          <a:ln/>
        </p:spPr>
        <p:txBody>
          <a:bodyPr wrap="square" lIns="0" tIns="0" rIns="0" bIns="0" rtlCol="0" anchor="ctr"/>
          <a:lstStyle/>
          <a:p>
            <a:pPr marL="0" indent="0">
              <a:buNone/>
            </a:pPr>
            <a:r>
              <a:rPr lang="en-US" sz="950" dirty="0">
                <a:solidFill>
                  <a:srgbClr val="F9C74F"/>
                </a:solidFill>
                <a:latin typeface="Courier New" pitchFamily="34" charset="0"/>
                <a:ea typeface="Courier New" pitchFamily="34" charset="-122"/>
                <a:cs typeface="Courier New" pitchFamily="34" charset="-120"/>
              </a:rPr>
              <a:t>## Quien soy</a:t>
            </a:r>
            <a:endParaRPr lang="en-US" sz="950" dirty="0"/>
          </a:p>
        </p:txBody>
      </p:sp>
      <p:sp>
        <p:nvSpPr>
          <p:cNvPr id="9" name="Text 7"/>
          <p:cNvSpPr/>
          <p:nvPr/>
        </p:nvSpPr>
        <p:spPr>
          <a:xfrm>
            <a:off x="530352" y="2734056"/>
            <a:ext cx="4709160" cy="256032"/>
          </a:xfrm>
          <a:prstGeom prst="rect">
            <a:avLst/>
          </a:prstGeom>
          <a:noFill/>
          <a:ln/>
        </p:spPr>
        <p:txBody>
          <a:bodyPr wrap="square" lIns="0" tIns="0" rIns="0" bIns="0" rtlCol="0" anchor="ctr"/>
          <a:lstStyle/>
          <a:p>
            <a:pPr marL="0" indent="0">
              <a:buNone/>
            </a:pPr>
            <a:r>
              <a:rPr lang="en-US" sz="950" dirty="0">
                <a:solidFill>
                  <a:srgbClr val="FFFFFF"/>
                </a:solidFill>
                <a:latin typeface="Courier New" pitchFamily="34" charset="0"/>
                <a:ea typeface="Courier New" pitchFamily="34" charset="-122"/>
                <a:cs typeface="Courier New" pitchFamily="34" charset="-120"/>
              </a:rPr>
              <a:t>Soy ecóloga microbiana. No sé programar.</a:t>
            </a:r>
            <a:endParaRPr lang="en-US" sz="950" dirty="0"/>
          </a:p>
        </p:txBody>
      </p:sp>
      <p:sp>
        <p:nvSpPr>
          <p:cNvPr id="10" name="Text 8"/>
          <p:cNvSpPr/>
          <p:nvPr/>
        </p:nvSpPr>
        <p:spPr>
          <a:xfrm>
            <a:off x="530352" y="3008376"/>
            <a:ext cx="4709160" cy="256032"/>
          </a:xfrm>
          <a:prstGeom prst="rect">
            <a:avLst/>
          </a:prstGeom>
          <a:noFill/>
          <a:ln/>
        </p:spPr>
        <p:txBody>
          <a:bodyPr wrap="square" lIns="0" tIns="0" rIns="0" bIns="0" rtlCol="0" anchor="ctr"/>
          <a:lstStyle/>
          <a:p>
            <a:pPr marL="0" indent="0">
              <a:buNone/>
            </a:pPr>
            <a:r>
              <a:rPr lang="en-US" sz="950" dirty="0">
                <a:solidFill>
                  <a:srgbClr val="F9C74F"/>
                </a:solidFill>
                <a:latin typeface="Courier New" pitchFamily="34" charset="0"/>
                <a:ea typeface="Courier New" pitchFamily="34" charset="-122"/>
                <a:cs typeface="Courier New" pitchFamily="34" charset="-120"/>
              </a:rPr>
              <a:t>## El proyecto</a:t>
            </a:r>
            <a:endParaRPr lang="en-US" sz="950" dirty="0"/>
          </a:p>
        </p:txBody>
      </p:sp>
      <p:sp>
        <p:nvSpPr>
          <p:cNvPr id="11" name="Text 9"/>
          <p:cNvSpPr/>
          <p:nvPr/>
        </p:nvSpPr>
        <p:spPr>
          <a:xfrm>
            <a:off x="530352" y="3282696"/>
            <a:ext cx="4709160" cy="256032"/>
          </a:xfrm>
          <a:prstGeom prst="rect">
            <a:avLst/>
          </a:prstGeom>
          <a:noFill/>
          <a:ln/>
        </p:spPr>
        <p:txBody>
          <a:bodyPr wrap="square" lIns="0" tIns="0" rIns="0" bIns="0" rtlCol="0" anchor="ctr"/>
          <a:lstStyle/>
          <a:p>
            <a:pPr marL="0" indent="0">
              <a:buNone/>
            </a:pPr>
            <a:r>
              <a:rPr lang="en-US" sz="950" dirty="0">
                <a:solidFill>
                  <a:srgbClr val="FFFFFF"/>
                </a:solidFill>
                <a:latin typeface="Courier New" pitchFamily="34" charset="0"/>
                <a:ea typeface="Courier New" pitchFamily="34" charset="-122"/>
                <a:cs typeface="Courier New" pitchFamily="34" charset="-120"/>
              </a:rPr>
              <a:t>Analizar microbioma de Atacama (Neilson 2017).</a:t>
            </a:r>
            <a:endParaRPr lang="en-US" sz="950" dirty="0"/>
          </a:p>
        </p:txBody>
      </p:sp>
      <p:sp>
        <p:nvSpPr>
          <p:cNvPr id="12" name="Text 10"/>
          <p:cNvSpPr/>
          <p:nvPr/>
        </p:nvSpPr>
        <p:spPr>
          <a:xfrm>
            <a:off x="530352" y="3557016"/>
            <a:ext cx="4709160" cy="256032"/>
          </a:xfrm>
          <a:prstGeom prst="rect">
            <a:avLst/>
          </a:prstGeom>
          <a:noFill/>
          <a:ln/>
        </p:spPr>
        <p:txBody>
          <a:bodyPr wrap="square" lIns="0" tIns="0" rIns="0" bIns="0" rtlCol="0" anchor="ctr"/>
          <a:lstStyle/>
          <a:p>
            <a:pPr marL="0" indent="0">
              <a:buNone/>
            </a:pPr>
            <a:r>
              <a:rPr lang="en-US" sz="950" dirty="0">
                <a:solidFill>
                  <a:srgbClr val="F9C74F"/>
                </a:solidFill>
                <a:latin typeface="Courier New" pitchFamily="34" charset="0"/>
                <a:ea typeface="Courier New" pitchFamily="34" charset="-122"/>
                <a:cs typeface="Courier New" pitchFamily="34" charset="-120"/>
              </a:rPr>
              <a:t>## Los datos</a:t>
            </a:r>
            <a:endParaRPr lang="en-US" sz="950" dirty="0"/>
          </a:p>
        </p:txBody>
      </p:sp>
      <p:sp>
        <p:nvSpPr>
          <p:cNvPr id="13" name="Text 11"/>
          <p:cNvSpPr/>
          <p:nvPr/>
        </p:nvSpPr>
        <p:spPr>
          <a:xfrm>
            <a:off x="530352" y="3831336"/>
            <a:ext cx="4709160" cy="256032"/>
          </a:xfrm>
          <a:prstGeom prst="rect">
            <a:avLst/>
          </a:prstGeom>
          <a:noFill/>
          <a:ln/>
        </p:spPr>
        <p:txBody>
          <a:bodyPr wrap="square" lIns="0" tIns="0" rIns="0" bIns="0" rtlCol="0" anchor="ctr"/>
          <a:lstStyle/>
          <a:p>
            <a:pPr marL="0" indent="0">
              <a:buNone/>
            </a:pPr>
            <a:r>
              <a:rPr lang="en-US" sz="950" dirty="0">
                <a:solidFill>
                  <a:srgbClr val="5EEAD4"/>
                </a:solidFill>
                <a:latin typeface="Courier New" pitchFamily="34" charset="0"/>
                <a:ea typeface="Courier New" pitchFamily="34" charset="-122"/>
                <a:cs typeface="Courier New" pitchFamily="34" charset="-120"/>
              </a:rPr>
              <a:t>data/abundancias.tsv  (1109 OTUs × 54)</a:t>
            </a:r>
            <a:endParaRPr lang="en-US" sz="950" dirty="0"/>
          </a:p>
        </p:txBody>
      </p:sp>
      <p:sp>
        <p:nvSpPr>
          <p:cNvPr id="14" name="Text 12"/>
          <p:cNvSpPr/>
          <p:nvPr/>
        </p:nvSpPr>
        <p:spPr>
          <a:xfrm>
            <a:off x="530352" y="4105656"/>
            <a:ext cx="4709160" cy="256032"/>
          </a:xfrm>
          <a:prstGeom prst="rect">
            <a:avLst/>
          </a:prstGeom>
          <a:noFill/>
          <a:ln/>
        </p:spPr>
        <p:txBody>
          <a:bodyPr wrap="square" lIns="0" tIns="0" rIns="0" bIns="0" rtlCol="0" anchor="ctr"/>
          <a:lstStyle/>
          <a:p>
            <a:pPr marL="0" indent="0">
              <a:buNone/>
            </a:pPr>
            <a:r>
              <a:rPr lang="en-US" sz="950" dirty="0">
                <a:solidFill>
                  <a:srgbClr val="5EEAD4"/>
                </a:solidFill>
                <a:latin typeface="Courier New" pitchFamily="34" charset="0"/>
                <a:ea typeface="Courier New" pitchFamily="34" charset="-122"/>
                <a:cs typeface="Courier New" pitchFamily="34" charset="-120"/>
              </a:rPr>
              <a:t>data/metadata.tsv    (75 muestras × 21 vars)</a:t>
            </a:r>
            <a:endParaRPr lang="en-US" sz="950" dirty="0"/>
          </a:p>
        </p:txBody>
      </p:sp>
      <p:sp>
        <p:nvSpPr>
          <p:cNvPr id="15" name="Text 13"/>
          <p:cNvSpPr/>
          <p:nvPr/>
        </p:nvSpPr>
        <p:spPr>
          <a:xfrm>
            <a:off x="530352" y="4379976"/>
            <a:ext cx="4709160" cy="256032"/>
          </a:xfrm>
          <a:prstGeom prst="rect">
            <a:avLst/>
          </a:prstGeom>
          <a:noFill/>
          <a:ln/>
        </p:spPr>
        <p:txBody>
          <a:bodyPr wrap="square" lIns="0" tIns="0" rIns="0" bIns="0" rtlCol="0" anchor="ctr"/>
          <a:lstStyle/>
          <a:p>
            <a:pPr marL="0" indent="0">
              <a:buNone/>
            </a:pPr>
            <a:r>
              <a:rPr lang="en-US" sz="950" dirty="0">
                <a:solidFill>
                  <a:srgbClr val="F9C74F"/>
                </a:solidFill>
                <a:latin typeface="Courier New" pitchFamily="34" charset="0"/>
                <a:ea typeface="Courier New" pitchFamily="34" charset="-122"/>
                <a:cs typeface="Courier New" pitchFamily="34" charset="-120"/>
              </a:rPr>
              <a:t>## Reglas del agente</a:t>
            </a:r>
            <a:endParaRPr lang="en-US" sz="950" dirty="0"/>
          </a:p>
        </p:txBody>
      </p:sp>
      <p:sp>
        <p:nvSpPr>
          <p:cNvPr id="16" name="Text 14"/>
          <p:cNvSpPr/>
          <p:nvPr/>
        </p:nvSpPr>
        <p:spPr>
          <a:xfrm>
            <a:off x="530352" y="4654296"/>
            <a:ext cx="4709160" cy="256032"/>
          </a:xfrm>
          <a:prstGeom prst="rect">
            <a:avLst/>
          </a:prstGeom>
          <a:noFill/>
          <a:ln/>
        </p:spPr>
        <p:txBody>
          <a:bodyPr wrap="square" lIns="0" tIns="0" rIns="0" bIns="0" rtlCol="0" anchor="ctr"/>
          <a:lstStyle/>
          <a:p>
            <a:pPr marL="0" indent="0">
              <a:buNone/>
            </a:pPr>
            <a:r>
              <a:rPr lang="en-US" sz="950" dirty="0">
                <a:solidFill>
                  <a:srgbClr val="A78BFA"/>
                </a:solidFill>
                <a:latin typeface="Courier New" pitchFamily="34" charset="0"/>
                <a:ea typeface="Courier New" pitchFamily="34" charset="-122"/>
                <a:cs typeface="Courier New" pitchFamily="34" charset="-120"/>
              </a:rPr>
              <a:t>Antes de ejecutar: hazme un plan y espera.</a:t>
            </a:r>
            <a:endParaRPr lang="en-US" sz="950" dirty="0"/>
          </a:p>
        </p:txBody>
      </p:sp>
      <p:sp>
        <p:nvSpPr>
          <p:cNvPr id="17" name="Shape 15"/>
          <p:cNvSpPr/>
          <p:nvPr/>
        </p:nvSpPr>
        <p:spPr>
          <a:xfrm>
            <a:off x="5577840" y="2057400"/>
            <a:ext cx="3200400" cy="621792"/>
          </a:xfrm>
          <a:prstGeom prst="roundRect">
            <a:avLst>
              <a:gd name="adj" fmla="val 11765"/>
            </a:avLst>
          </a:prstGeom>
          <a:solidFill>
            <a:srgbClr val="FFFFFF"/>
          </a:solidFill>
          <a:ln w="6350">
            <a:solidFill>
              <a:srgbClr val="D3D1C7"/>
            </a:solidFill>
            <a:prstDash val="solid"/>
          </a:ln>
          <a:effectLst>
            <a:outerShdw blurRad="88900" dist="25400" dir="2700000" algn="bl" rotWithShape="0">
              <a:srgbClr val="000000">
                <a:alpha val="11000"/>
              </a:srgbClr>
            </a:outerShdw>
          </a:effectLst>
        </p:spPr>
        <p:txBody>
          <a:bodyPr/>
          <a:lstStyle/>
          <a:p>
            <a:endParaRPr lang="es-ES_tradnl"/>
          </a:p>
        </p:txBody>
      </p:sp>
      <p:sp>
        <p:nvSpPr>
          <p:cNvPr id="18" name="Text 16"/>
          <p:cNvSpPr/>
          <p:nvPr/>
        </p:nvSpPr>
        <p:spPr>
          <a:xfrm>
            <a:off x="5742432" y="2130552"/>
            <a:ext cx="1097280" cy="457200"/>
          </a:xfrm>
          <a:prstGeom prst="rect">
            <a:avLst/>
          </a:prstGeom>
          <a:noFill/>
          <a:ln/>
        </p:spPr>
        <p:txBody>
          <a:bodyPr wrap="square" lIns="0" tIns="0" rIns="0" bIns="0" rtlCol="0" anchor="ctr"/>
          <a:lstStyle/>
          <a:p>
            <a:pPr marL="0" indent="0">
              <a:buNone/>
            </a:pPr>
            <a:r>
              <a:rPr lang="en-US" sz="950" b="1" dirty="0">
                <a:solidFill>
                  <a:srgbClr val="534AB7"/>
                </a:solidFill>
                <a:latin typeface="Calibri" pitchFamily="34" charset="0"/>
                <a:ea typeface="Calibri" pitchFamily="34" charset="-122"/>
                <a:cs typeface="Calibri" pitchFamily="34" charset="-120"/>
              </a:rPr>
              <a:t>Quién soy</a:t>
            </a:r>
            <a:endParaRPr lang="en-US" sz="950" dirty="0"/>
          </a:p>
        </p:txBody>
      </p:sp>
      <p:sp>
        <p:nvSpPr>
          <p:cNvPr id="19" name="Text 17"/>
          <p:cNvSpPr/>
          <p:nvPr/>
        </p:nvSpPr>
        <p:spPr>
          <a:xfrm>
            <a:off x="6876288" y="2130552"/>
            <a:ext cx="1755648" cy="457200"/>
          </a:xfrm>
          <a:prstGeom prst="rect">
            <a:avLst/>
          </a:prstGeom>
          <a:noFill/>
          <a:ln/>
        </p:spPr>
        <p:txBody>
          <a:bodyPr wrap="square" lIns="0" tIns="0" rIns="0" bIns="0" rtlCol="0" anchor="ctr"/>
          <a:lstStyle/>
          <a:p>
            <a:pPr marL="0" indent="0">
              <a:buNone/>
            </a:pPr>
            <a:r>
              <a:rPr lang="en-US" sz="900" dirty="0">
                <a:solidFill>
                  <a:srgbClr val="5F5E5A"/>
                </a:solidFill>
                <a:latin typeface="Calibri" pitchFamily="34" charset="0"/>
                <a:ea typeface="Calibri" pitchFamily="34" charset="-122"/>
                <a:cs typeface="Calibri" pitchFamily="34" charset="-120"/>
              </a:rPr>
              <a:t>Tu rol y formación — para que el agente calibre el nivel de explicación</a:t>
            </a:r>
            <a:endParaRPr lang="en-US" sz="900" dirty="0"/>
          </a:p>
        </p:txBody>
      </p:sp>
      <p:sp>
        <p:nvSpPr>
          <p:cNvPr id="20" name="Shape 18"/>
          <p:cNvSpPr/>
          <p:nvPr/>
        </p:nvSpPr>
        <p:spPr>
          <a:xfrm>
            <a:off x="5577840" y="2743200"/>
            <a:ext cx="3200400" cy="621792"/>
          </a:xfrm>
          <a:prstGeom prst="roundRect">
            <a:avLst>
              <a:gd name="adj" fmla="val 11765"/>
            </a:avLst>
          </a:prstGeom>
          <a:solidFill>
            <a:srgbClr val="FFFFFF"/>
          </a:solidFill>
          <a:ln w="6350">
            <a:solidFill>
              <a:srgbClr val="D3D1C7"/>
            </a:solidFill>
            <a:prstDash val="solid"/>
          </a:ln>
          <a:effectLst>
            <a:outerShdw blurRad="88900" dist="25400" dir="2700000" algn="bl" rotWithShape="0">
              <a:srgbClr val="000000">
                <a:alpha val="11000"/>
              </a:srgbClr>
            </a:outerShdw>
          </a:effectLst>
        </p:spPr>
        <p:txBody>
          <a:bodyPr/>
          <a:lstStyle/>
          <a:p>
            <a:endParaRPr lang="es-ES_tradnl"/>
          </a:p>
        </p:txBody>
      </p:sp>
      <p:sp>
        <p:nvSpPr>
          <p:cNvPr id="21" name="Text 19"/>
          <p:cNvSpPr/>
          <p:nvPr/>
        </p:nvSpPr>
        <p:spPr>
          <a:xfrm>
            <a:off x="5742432" y="2816352"/>
            <a:ext cx="1097280" cy="457200"/>
          </a:xfrm>
          <a:prstGeom prst="rect">
            <a:avLst/>
          </a:prstGeom>
          <a:noFill/>
          <a:ln/>
        </p:spPr>
        <p:txBody>
          <a:bodyPr wrap="square" lIns="0" tIns="0" rIns="0" bIns="0" rtlCol="0" anchor="ctr"/>
          <a:lstStyle/>
          <a:p>
            <a:pPr marL="0" indent="0">
              <a:buNone/>
            </a:pPr>
            <a:r>
              <a:rPr lang="en-US" sz="950" b="1" dirty="0">
                <a:solidFill>
                  <a:srgbClr val="534AB7"/>
                </a:solidFill>
                <a:latin typeface="Calibri" pitchFamily="34" charset="0"/>
                <a:ea typeface="Calibri" pitchFamily="34" charset="-122"/>
                <a:cs typeface="Calibri" pitchFamily="34" charset="-120"/>
              </a:rPr>
              <a:t>El proyecto</a:t>
            </a:r>
            <a:endParaRPr lang="en-US" sz="950" dirty="0"/>
          </a:p>
        </p:txBody>
      </p:sp>
      <p:sp>
        <p:nvSpPr>
          <p:cNvPr id="22" name="Text 20"/>
          <p:cNvSpPr/>
          <p:nvPr/>
        </p:nvSpPr>
        <p:spPr>
          <a:xfrm>
            <a:off x="6876288" y="2816352"/>
            <a:ext cx="1755648" cy="457200"/>
          </a:xfrm>
          <a:prstGeom prst="rect">
            <a:avLst/>
          </a:prstGeom>
          <a:noFill/>
          <a:ln/>
        </p:spPr>
        <p:txBody>
          <a:bodyPr wrap="square" lIns="0" tIns="0" rIns="0" bIns="0" rtlCol="0" anchor="ctr"/>
          <a:lstStyle/>
          <a:p>
            <a:pPr marL="0" indent="0">
              <a:buNone/>
            </a:pPr>
            <a:r>
              <a:rPr lang="en-US" sz="900" dirty="0">
                <a:solidFill>
                  <a:srgbClr val="5F5E5A"/>
                </a:solidFill>
                <a:latin typeface="Calibri" pitchFamily="34" charset="0"/>
                <a:ea typeface="Calibri" pitchFamily="34" charset="-122"/>
                <a:cs typeface="Calibri" pitchFamily="34" charset="-120"/>
              </a:rPr>
              <a:t>Qué problema científico y con qué paper</a:t>
            </a:r>
            <a:endParaRPr lang="en-US" sz="900" dirty="0"/>
          </a:p>
        </p:txBody>
      </p:sp>
      <p:sp>
        <p:nvSpPr>
          <p:cNvPr id="23" name="Shape 21"/>
          <p:cNvSpPr/>
          <p:nvPr/>
        </p:nvSpPr>
        <p:spPr>
          <a:xfrm>
            <a:off x="5577840" y="3429000"/>
            <a:ext cx="3200400" cy="621792"/>
          </a:xfrm>
          <a:prstGeom prst="roundRect">
            <a:avLst>
              <a:gd name="adj" fmla="val 11765"/>
            </a:avLst>
          </a:prstGeom>
          <a:solidFill>
            <a:srgbClr val="FFFFFF"/>
          </a:solidFill>
          <a:ln w="6350">
            <a:solidFill>
              <a:srgbClr val="D3D1C7"/>
            </a:solidFill>
            <a:prstDash val="solid"/>
          </a:ln>
          <a:effectLst>
            <a:outerShdw blurRad="88900" dist="25400" dir="2700000" algn="bl" rotWithShape="0">
              <a:srgbClr val="000000">
                <a:alpha val="11000"/>
              </a:srgbClr>
            </a:outerShdw>
          </a:effectLst>
        </p:spPr>
        <p:txBody>
          <a:bodyPr/>
          <a:lstStyle/>
          <a:p>
            <a:endParaRPr lang="es-ES_tradnl"/>
          </a:p>
        </p:txBody>
      </p:sp>
      <p:sp>
        <p:nvSpPr>
          <p:cNvPr id="24" name="Text 22"/>
          <p:cNvSpPr/>
          <p:nvPr/>
        </p:nvSpPr>
        <p:spPr>
          <a:xfrm>
            <a:off x="5742432" y="3502152"/>
            <a:ext cx="1097280" cy="457200"/>
          </a:xfrm>
          <a:prstGeom prst="rect">
            <a:avLst/>
          </a:prstGeom>
          <a:noFill/>
          <a:ln/>
        </p:spPr>
        <p:txBody>
          <a:bodyPr wrap="square" lIns="0" tIns="0" rIns="0" bIns="0" rtlCol="0" anchor="ctr"/>
          <a:lstStyle/>
          <a:p>
            <a:pPr marL="0" indent="0">
              <a:buNone/>
            </a:pPr>
            <a:r>
              <a:rPr lang="en-US" sz="950" b="1" dirty="0">
                <a:solidFill>
                  <a:srgbClr val="534AB7"/>
                </a:solidFill>
                <a:latin typeface="Calibri" pitchFamily="34" charset="0"/>
                <a:ea typeface="Calibri" pitchFamily="34" charset="-122"/>
                <a:cs typeface="Calibri" pitchFamily="34" charset="-120"/>
              </a:rPr>
              <a:t>Los datos</a:t>
            </a:r>
            <a:endParaRPr lang="en-US" sz="950" dirty="0"/>
          </a:p>
        </p:txBody>
      </p:sp>
      <p:sp>
        <p:nvSpPr>
          <p:cNvPr id="25" name="Text 23"/>
          <p:cNvSpPr/>
          <p:nvPr/>
        </p:nvSpPr>
        <p:spPr>
          <a:xfrm>
            <a:off x="6876288" y="3502152"/>
            <a:ext cx="1755648" cy="457200"/>
          </a:xfrm>
          <a:prstGeom prst="rect">
            <a:avLst/>
          </a:prstGeom>
          <a:noFill/>
          <a:ln/>
        </p:spPr>
        <p:txBody>
          <a:bodyPr wrap="square" lIns="0" tIns="0" rIns="0" bIns="0" rtlCol="0" anchor="ctr"/>
          <a:lstStyle/>
          <a:p>
            <a:pPr marL="0" indent="0">
              <a:buNone/>
            </a:pPr>
            <a:r>
              <a:rPr lang="en-US" sz="900" dirty="0">
                <a:solidFill>
                  <a:srgbClr val="5F5E5A"/>
                </a:solidFill>
                <a:latin typeface="Calibri" pitchFamily="34" charset="0"/>
                <a:ea typeface="Calibri" pitchFamily="34" charset="-122"/>
                <a:cs typeface="Calibri" pitchFamily="34" charset="-120"/>
              </a:rPr>
              <a:t>Qué archivos existen y cuáles son de solo lectura</a:t>
            </a:r>
            <a:endParaRPr lang="en-US" sz="900" dirty="0"/>
          </a:p>
        </p:txBody>
      </p:sp>
      <p:sp>
        <p:nvSpPr>
          <p:cNvPr id="26" name="Shape 24"/>
          <p:cNvSpPr/>
          <p:nvPr/>
        </p:nvSpPr>
        <p:spPr>
          <a:xfrm>
            <a:off x="5577840" y="4114800"/>
            <a:ext cx="3200400" cy="621792"/>
          </a:xfrm>
          <a:prstGeom prst="roundRect">
            <a:avLst>
              <a:gd name="adj" fmla="val 11765"/>
            </a:avLst>
          </a:prstGeom>
          <a:solidFill>
            <a:srgbClr val="FFFFFF"/>
          </a:solidFill>
          <a:ln w="6350">
            <a:solidFill>
              <a:srgbClr val="D3D1C7"/>
            </a:solidFill>
            <a:prstDash val="solid"/>
          </a:ln>
          <a:effectLst>
            <a:outerShdw blurRad="88900" dist="25400" dir="2700000" algn="bl" rotWithShape="0">
              <a:srgbClr val="000000">
                <a:alpha val="11000"/>
              </a:srgbClr>
            </a:outerShdw>
          </a:effectLst>
        </p:spPr>
        <p:txBody>
          <a:bodyPr/>
          <a:lstStyle/>
          <a:p>
            <a:endParaRPr lang="es-ES_tradnl"/>
          </a:p>
        </p:txBody>
      </p:sp>
      <p:sp>
        <p:nvSpPr>
          <p:cNvPr id="27" name="Text 25"/>
          <p:cNvSpPr/>
          <p:nvPr/>
        </p:nvSpPr>
        <p:spPr>
          <a:xfrm>
            <a:off x="5742432" y="4187952"/>
            <a:ext cx="1097280" cy="457200"/>
          </a:xfrm>
          <a:prstGeom prst="rect">
            <a:avLst/>
          </a:prstGeom>
          <a:noFill/>
          <a:ln/>
        </p:spPr>
        <p:txBody>
          <a:bodyPr wrap="square" lIns="0" tIns="0" rIns="0" bIns="0" rtlCol="0" anchor="ctr"/>
          <a:lstStyle/>
          <a:p>
            <a:pPr marL="0" indent="0">
              <a:buNone/>
            </a:pPr>
            <a:r>
              <a:rPr lang="en-US" sz="950" b="1" dirty="0">
                <a:solidFill>
                  <a:srgbClr val="534AB7"/>
                </a:solidFill>
                <a:latin typeface="Calibri" pitchFamily="34" charset="0"/>
                <a:ea typeface="Calibri" pitchFamily="34" charset="-122"/>
                <a:cs typeface="Calibri" pitchFamily="34" charset="-120"/>
              </a:rPr>
              <a:t>Reglas del agente</a:t>
            </a:r>
            <a:endParaRPr lang="en-US" sz="950" dirty="0"/>
          </a:p>
        </p:txBody>
      </p:sp>
      <p:sp>
        <p:nvSpPr>
          <p:cNvPr id="28" name="Text 26"/>
          <p:cNvSpPr/>
          <p:nvPr/>
        </p:nvSpPr>
        <p:spPr>
          <a:xfrm>
            <a:off x="6876288" y="4187952"/>
            <a:ext cx="1755648" cy="457200"/>
          </a:xfrm>
          <a:prstGeom prst="rect">
            <a:avLst/>
          </a:prstGeom>
          <a:noFill/>
          <a:ln/>
        </p:spPr>
        <p:txBody>
          <a:bodyPr wrap="square" lIns="0" tIns="0" rIns="0" bIns="0" rtlCol="0" anchor="ctr"/>
          <a:lstStyle/>
          <a:p>
            <a:pPr marL="0" indent="0">
              <a:buNone/>
            </a:pPr>
            <a:r>
              <a:rPr lang="en-US" sz="900" dirty="0">
                <a:solidFill>
                  <a:srgbClr val="5F5E5A"/>
                </a:solidFill>
                <a:latin typeface="Calibri" pitchFamily="34" charset="0"/>
                <a:ea typeface="Calibri" pitchFamily="34" charset="-122"/>
                <a:cs typeface="Calibri" pitchFamily="34" charset="-120"/>
              </a:rPr>
              <a:t>Plan previo, guardar en outputs/, reportar errores</a:t>
            </a:r>
            <a:endParaRPr lang="en-US" sz="900" dirty="0"/>
          </a:p>
        </p:txBody>
      </p:sp>
      <p:sp>
        <p:nvSpPr>
          <p:cNvPr id="29" name="Shape 27"/>
          <p:cNvSpPr/>
          <p:nvPr/>
        </p:nvSpPr>
        <p:spPr>
          <a:xfrm>
            <a:off x="5577840" y="4800600"/>
            <a:ext cx="3200400" cy="566928"/>
          </a:xfrm>
          <a:prstGeom prst="roundRect">
            <a:avLst>
              <a:gd name="adj" fmla="val 12903"/>
            </a:avLst>
          </a:prstGeom>
          <a:solidFill>
            <a:srgbClr val="E1F5EE"/>
          </a:solidFill>
          <a:ln w="6350">
            <a:solidFill>
              <a:srgbClr val="1D9E75"/>
            </a:solidFill>
            <a:prstDash val="solid"/>
          </a:ln>
        </p:spPr>
        <p:txBody>
          <a:bodyPr/>
          <a:lstStyle/>
          <a:p>
            <a:endParaRPr lang="es-ES_tradnl"/>
          </a:p>
        </p:txBody>
      </p:sp>
      <p:sp>
        <p:nvSpPr>
          <p:cNvPr id="30" name="Text 28"/>
          <p:cNvSpPr/>
          <p:nvPr/>
        </p:nvSpPr>
        <p:spPr>
          <a:xfrm>
            <a:off x="5742432" y="4892040"/>
            <a:ext cx="2880360" cy="384048"/>
          </a:xfrm>
          <a:prstGeom prst="rect">
            <a:avLst/>
          </a:prstGeom>
          <a:noFill/>
          <a:ln/>
        </p:spPr>
        <p:txBody>
          <a:bodyPr wrap="square" lIns="0" tIns="0" rIns="0" bIns="0" rtlCol="0" anchor="ctr"/>
          <a:lstStyle/>
          <a:p>
            <a:pPr marL="0" indent="0">
              <a:buNone/>
            </a:pPr>
            <a:r>
              <a:rPr lang="en-US" sz="1000" b="1" dirty="0">
                <a:solidFill>
                  <a:srgbClr val="0F6E56"/>
                </a:solidFill>
                <a:latin typeface="Calibri" pitchFamily="34" charset="0"/>
                <a:ea typeface="Calibri" pitchFamily="34" charset="-122"/>
                <a:cs typeface="Calibri" pitchFamily="34" charset="-120"/>
              </a:rPr>
              <a:t>Demo: con y sin CLAUDE.md sobre la misma pregunta →</a:t>
            </a:r>
            <a:endParaRPr lang="en-US" sz="1000" dirty="0"/>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29">
    <p:bg>
      <p:bgPr>
        <a:solidFill>
          <a:srgbClr val="F8F8F6"/>
        </a:solidFill>
        <a:effectLst/>
      </p:bgPr>
    </p:bg>
    <p:spTree>
      <p:nvGrpSpPr>
        <p:cNvPr id="1" name=""/>
        <p:cNvGrpSpPr/>
        <p:nvPr/>
      </p:nvGrpSpPr>
      <p:grpSpPr>
        <a:xfrm>
          <a:off x="0" y="0"/>
          <a:ext cx="0" cy="0"/>
          <a:chOff x="0" y="0"/>
          <a:chExt cx="0" cy="0"/>
        </a:xfrm>
      </p:grpSpPr>
      <p:sp>
        <p:nvSpPr>
          <p:cNvPr id="2" name="Text 0"/>
          <p:cNvSpPr/>
          <p:nvPr/>
        </p:nvSpPr>
        <p:spPr>
          <a:xfrm>
            <a:off x="457200" y="256032"/>
            <a:ext cx="8229600" cy="566928"/>
          </a:xfrm>
          <a:prstGeom prst="rect">
            <a:avLst/>
          </a:prstGeom>
          <a:noFill/>
          <a:ln/>
        </p:spPr>
        <p:txBody>
          <a:bodyPr wrap="square" lIns="0" tIns="0" rIns="0" bIns="0" rtlCol="0" anchor="ctr"/>
          <a:lstStyle/>
          <a:p>
            <a:pPr marL="0" indent="0">
              <a:buNone/>
            </a:pPr>
            <a:r>
              <a:rPr lang="en-US" sz="2700" b="1" dirty="0">
                <a:solidFill>
                  <a:srgbClr val="2C2C2A"/>
                </a:solidFill>
                <a:latin typeface="Cambria" pitchFamily="34" charset="0"/>
                <a:ea typeface="Cambria" pitchFamily="34" charset="-122"/>
                <a:cs typeface="Cambria" pitchFamily="34" charset="-120"/>
              </a:rPr>
              <a:t>¿Qué es una skill en Claude Code?</a:t>
            </a:r>
            <a:endParaRPr lang="en-US" sz="2700" dirty="0"/>
          </a:p>
        </p:txBody>
      </p:sp>
      <p:sp>
        <p:nvSpPr>
          <p:cNvPr id="3" name="Text 1"/>
          <p:cNvSpPr/>
          <p:nvPr/>
        </p:nvSpPr>
        <p:spPr>
          <a:xfrm>
            <a:off x="457200" y="822960"/>
            <a:ext cx="8229600" cy="320040"/>
          </a:xfrm>
          <a:prstGeom prst="rect">
            <a:avLst/>
          </a:prstGeom>
          <a:noFill/>
          <a:ln/>
        </p:spPr>
        <p:txBody>
          <a:bodyPr wrap="square" lIns="0" tIns="0" rIns="0" bIns="0" rtlCol="0" anchor="ctr"/>
          <a:lstStyle/>
          <a:p>
            <a:pPr marL="0" indent="0">
              <a:buNone/>
            </a:pPr>
            <a:r>
              <a:rPr lang="en-US" sz="1300" i="1" dirty="0">
                <a:solidFill>
                  <a:srgbClr val="5F5E5A"/>
                </a:solidFill>
                <a:latin typeface="Calibri" pitchFamily="34" charset="0"/>
                <a:ea typeface="Calibri" pitchFamily="34" charset="-122"/>
                <a:cs typeface="Calibri" pitchFamily="34" charset="-120"/>
              </a:rPr>
              <a:t>Instrucciones especializadas que el agente activa para tareas concretas</a:t>
            </a:r>
            <a:endParaRPr lang="en-US" sz="1300" dirty="0"/>
          </a:p>
        </p:txBody>
      </p:sp>
      <p:sp>
        <p:nvSpPr>
          <p:cNvPr id="4" name="Shape 2"/>
          <p:cNvSpPr/>
          <p:nvPr/>
        </p:nvSpPr>
        <p:spPr>
          <a:xfrm>
            <a:off x="365760" y="1261872"/>
            <a:ext cx="8412480" cy="804672"/>
          </a:xfrm>
          <a:prstGeom prst="roundRect">
            <a:avLst>
              <a:gd name="adj" fmla="val 11364"/>
            </a:avLst>
          </a:prstGeom>
          <a:solidFill>
            <a:srgbClr val="EEEDFE"/>
          </a:solidFill>
          <a:ln w="7620">
            <a:solidFill>
              <a:srgbClr val="534AB7"/>
            </a:solidFill>
            <a:prstDash val="solid"/>
          </a:ln>
        </p:spPr>
        <p:txBody>
          <a:bodyPr/>
          <a:lstStyle/>
          <a:p>
            <a:endParaRPr lang="es-ES_tradnl"/>
          </a:p>
        </p:txBody>
      </p:sp>
      <p:sp>
        <p:nvSpPr>
          <p:cNvPr id="5" name="Text 3"/>
          <p:cNvSpPr/>
          <p:nvPr/>
        </p:nvSpPr>
        <p:spPr>
          <a:xfrm>
            <a:off x="548640" y="1335024"/>
            <a:ext cx="8046720" cy="658368"/>
          </a:xfrm>
          <a:prstGeom prst="rect">
            <a:avLst/>
          </a:prstGeom>
          <a:noFill/>
          <a:ln/>
        </p:spPr>
        <p:txBody>
          <a:bodyPr wrap="square" lIns="0" tIns="0" rIns="0" bIns="0" rtlCol="0" anchor="ctr"/>
          <a:lstStyle/>
          <a:p>
            <a:pPr marL="0" indent="0">
              <a:buNone/>
            </a:pPr>
            <a:r>
              <a:rPr lang="en-US" sz="1150" dirty="0">
                <a:solidFill>
                  <a:srgbClr val="534AB7"/>
                </a:solidFill>
                <a:latin typeface="Calibri" pitchFamily="34" charset="0"/>
                <a:ea typeface="Calibri" pitchFamily="34" charset="-122"/>
                <a:cs typeface="Calibri" pitchFamily="34" charset="-120"/>
              </a:rPr>
              <a:t>Una skill es un archivo .md con instrucciones para una tarea específica. A diferencia del CLAUDE.md — que se lee en cada sesión — una skill se activa solo cuando el agente detecta que la tarea coincide con su 'trigger'. Puedes tener muchas skills pero el agente carga solo la que necesita en ese momento.</a:t>
            </a:r>
            <a:endParaRPr lang="en-US" sz="1150" dirty="0"/>
          </a:p>
        </p:txBody>
      </p:sp>
      <p:sp>
        <p:nvSpPr>
          <p:cNvPr id="6" name="Shape 4"/>
          <p:cNvSpPr/>
          <p:nvPr/>
        </p:nvSpPr>
        <p:spPr>
          <a:xfrm>
            <a:off x="320040" y="2212848"/>
            <a:ext cx="4206240" cy="1444752"/>
          </a:xfrm>
          <a:prstGeom prst="roundRect">
            <a:avLst>
              <a:gd name="adj" fmla="val 6329"/>
            </a:avLst>
          </a:prstGeom>
          <a:solidFill>
            <a:srgbClr val="FFFFFF"/>
          </a:solidFill>
          <a:ln w="10160">
            <a:solidFill>
              <a:srgbClr val="534AB7"/>
            </a:solidFill>
            <a:prstDash val="solid"/>
          </a:ln>
          <a:effectLst>
            <a:outerShdw blurRad="88900" dist="25400" dir="2700000" algn="bl" rotWithShape="0">
              <a:srgbClr val="000000">
                <a:alpha val="11000"/>
              </a:srgbClr>
            </a:outerShdw>
          </a:effectLst>
        </p:spPr>
        <p:txBody>
          <a:bodyPr/>
          <a:lstStyle/>
          <a:p>
            <a:endParaRPr lang="es-ES_tradnl"/>
          </a:p>
        </p:txBody>
      </p:sp>
      <p:sp>
        <p:nvSpPr>
          <p:cNvPr id="7" name="Text 5"/>
          <p:cNvSpPr/>
          <p:nvPr/>
        </p:nvSpPr>
        <p:spPr>
          <a:xfrm>
            <a:off x="484632" y="2304288"/>
            <a:ext cx="3200400" cy="347472"/>
          </a:xfrm>
          <a:prstGeom prst="rect">
            <a:avLst/>
          </a:prstGeom>
          <a:noFill/>
          <a:ln/>
        </p:spPr>
        <p:txBody>
          <a:bodyPr wrap="square" lIns="0" tIns="0" rIns="0" bIns="0" rtlCol="0" anchor="ctr"/>
          <a:lstStyle/>
          <a:p>
            <a:pPr marL="0" indent="0">
              <a:buNone/>
            </a:pPr>
            <a:r>
              <a:rPr lang="en-US" sz="1100" b="1" dirty="0">
                <a:solidFill>
                  <a:srgbClr val="534AB7"/>
                </a:solidFill>
                <a:latin typeface="Calibri" pitchFamily="34" charset="0"/>
                <a:ea typeface="Calibri" pitchFamily="34" charset="-122"/>
                <a:cs typeface="Calibri" pitchFamily="34" charset="-120"/>
              </a:rPr>
              <a:t>📐  Skill de análisis</a:t>
            </a:r>
            <a:endParaRPr lang="en-US" sz="1100" dirty="0"/>
          </a:p>
        </p:txBody>
      </p:sp>
      <p:sp>
        <p:nvSpPr>
          <p:cNvPr id="8" name="Text 6"/>
          <p:cNvSpPr/>
          <p:nvPr/>
        </p:nvSpPr>
        <p:spPr>
          <a:xfrm>
            <a:off x="484632" y="2670048"/>
            <a:ext cx="3858768" cy="256032"/>
          </a:xfrm>
          <a:prstGeom prst="rect">
            <a:avLst/>
          </a:prstGeom>
          <a:noFill/>
          <a:ln/>
        </p:spPr>
        <p:txBody>
          <a:bodyPr wrap="square" lIns="0" tIns="0" rIns="0" bIns="0" rtlCol="0" anchor="ctr"/>
          <a:lstStyle/>
          <a:p>
            <a:pPr marL="0" indent="0">
              <a:buNone/>
            </a:pPr>
            <a:r>
              <a:rPr lang="en-US" sz="900" dirty="0">
                <a:solidFill>
                  <a:srgbClr val="888780"/>
                </a:solidFill>
                <a:latin typeface="Courier New" pitchFamily="34" charset="0"/>
                <a:ea typeface="Courier New" pitchFamily="34" charset="-122"/>
                <a:cs typeface="Courier New" pitchFamily="34" charset="-120"/>
              </a:rPr>
              <a:t>Trigger: 'análisis de diversidad'</a:t>
            </a:r>
            <a:endParaRPr lang="en-US" sz="900" dirty="0"/>
          </a:p>
        </p:txBody>
      </p:sp>
      <p:sp>
        <p:nvSpPr>
          <p:cNvPr id="9" name="Text 7"/>
          <p:cNvSpPr/>
          <p:nvPr/>
        </p:nvSpPr>
        <p:spPr>
          <a:xfrm>
            <a:off x="484632" y="2962656"/>
            <a:ext cx="3858768" cy="621792"/>
          </a:xfrm>
          <a:prstGeom prst="rect">
            <a:avLst/>
          </a:prstGeom>
          <a:noFill/>
          <a:ln/>
        </p:spPr>
        <p:txBody>
          <a:bodyPr wrap="square" lIns="0" tIns="0" rIns="0" bIns="0" rtlCol="0" anchor="ctr"/>
          <a:lstStyle/>
          <a:p>
            <a:pPr marL="0" indent="0">
              <a:buNone/>
            </a:pPr>
            <a:r>
              <a:rPr lang="en-US" sz="950" dirty="0">
                <a:solidFill>
                  <a:srgbClr val="5F5E5A"/>
                </a:solidFill>
                <a:latin typeface="Calibri" pitchFamily="34" charset="0"/>
                <a:ea typeface="Calibri" pitchFamily="34" charset="-122"/>
                <a:cs typeface="Calibri" pitchFamily="34" charset="-120"/>
              </a:rPr>
              <a:t>Pasos exactos para un tipo de análisis: qué calcular primero, qué verificar, qué índices reportar. Garantiza que siempre uses la misma metodología en todo el proyecto.</a:t>
            </a:r>
            <a:endParaRPr lang="en-US" sz="950" dirty="0"/>
          </a:p>
        </p:txBody>
      </p:sp>
      <p:sp>
        <p:nvSpPr>
          <p:cNvPr id="10" name="Shape 8"/>
          <p:cNvSpPr/>
          <p:nvPr/>
        </p:nvSpPr>
        <p:spPr>
          <a:xfrm>
            <a:off x="4709160" y="2212848"/>
            <a:ext cx="4206240" cy="1444752"/>
          </a:xfrm>
          <a:prstGeom prst="roundRect">
            <a:avLst>
              <a:gd name="adj" fmla="val 6329"/>
            </a:avLst>
          </a:prstGeom>
          <a:solidFill>
            <a:srgbClr val="FFFFFF"/>
          </a:solidFill>
          <a:ln w="10160">
            <a:solidFill>
              <a:srgbClr val="1D9E75"/>
            </a:solidFill>
            <a:prstDash val="solid"/>
          </a:ln>
          <a:effectLst>
            <a:outerShdw blurRad="88900" dist="25400" dir="2700000" algn="bl" rotWithShape="0">
              <a:srgbClr val="000000">
                <a:alpha val="11000"/>
              </a:srgbClr>
            </a:outerShdw>
          </a:effectLst>
        </p:spPr>
        <p:txBody>
          <a:bodyPr/>
          <a:lstStyle/>
          <a:p>
            <a:endParaRPr lang="es-ES_tradnl"/>
          </a:p>
        </p:txBody>
      </p:sp>
      <p:sp>
        <p:nvSpPr>
          <p:cNvPr id="11" name="Text 9"/>
          <p:cNvSpPr/>
          <p:nvPr/>
        </p:nvSpPr>
        <p:spPr>
          <a:xfrm>
            <a:off x="4873752" y="2304288"/>
            <a:ext cx="3200400" cy="347472"/>
          </a:xfrm>
          <a:prstGeom prst="rect">
            <a:avLst/>
          </a:prstGeom>
          <a:noFill/>
          <a:ln/>
        </p:spPr>
        <p:txBody>
          <a:bodyPr wrap="square" lIns="0" tIns="0" rIns="0" bIns="0" rtlCol="0" anchor="ctr"/>
          <a:lstStyle/>
          <a:p>
            <a:pPr marL="0" indent="0">
              <a:buNone/>
            </a:pPr>
            <a:r>
              <a:rPr lang="en-US" sz="1100" b="1" dirty="0">
                <a:solidFill>
                  <a:srgbClr val="1D9E75"/>
                </a:solidFill>
                <a:latin typeface="Calibri" pitchFamily="34" charset="0"/>
                <a:ea typeface="Calibri" pitchFamily="34" charset="-122"/>
                <a:cs typeface="Calibri" pitchFamily="34" charset="-120"/>
              </a:rPr>
              <a:t>🎨  Skill de visualización</a:t>
            </a:r>
            <a:endParaRPr lang="en-US" sz="1100" dirty="0"/>
          </a:p>
        </p:txBody>
      </p:sp>
      <p:sp>
        <p:nvSpPr>
          <p:cNvPr id="12" name="Text 10"/>
          <p:cNvSpPr/>
          <p:nvPr/>
        </p:nvSpPr>
        <p:spPr>
          <a:xfrm>
            <a:off x="4873752" y="2670048"/>
            <a:ext cx="3858768" cy="256032"/>
          </a:xfrm>
          <a:prstGeom prst="rect">
            <a:avLst/>
          </a:prstGeom>
          <a:noFill/>
          <a:ln/>
        </p:spPr>
        <p:txBody>
          <a:bodyPr wrap="square" lIns="0" tIns="0" rIns="0" bIns="0" rtlCol="0" anchor="ctr"/>
          <a:lstStyle/>
          <a:p>
            <a:pPr marL="0" indent="0">
              <a:buNone/>
            </a:pPr>
            <a:r>
              <a:rPr lang="en-US" sz="900" dirty="0">
                <a:solidFill>
                  <a:srgbClr val="888780"/>
                </a:solidFill>
                <a:latin typeface="Courier New" pitchFamily="34" charset="0"/>
                <a:ea typeface="Courier New" pitchFamily="34" charset="-122"/>
                <a:cs typeface="Courier New" pitchFamily="34" charset="-120"/>
              </a:rPr>
              <a:t>Trigger: 'genera una figura'</a:t>
            </a:r>
            <a:endParaRPr lang="en-US" sz="900" dirty="0"/>
          </a:p>
        </p:txBody>
      </p:sp>
      <p:sp>
        <p:nvSpPr>
          <p:cNvPr id="13" name="Text 11"/>
          <p:cNvSpPr/>
          <p:nvPr/>
        </p:nvSpPr>
        <p:spPr>
          <a:xfrm>
            <a:off x="4873752" y="2962656"/>
            <a:ext cx="3858768" cy="621792"/>
          </a:xfrm>
          <a:prstGeom prst="rect">
            <a:avLst/>
          </a:prstGeom>
          <a:noFill/>
          <a:ln/>
        </p:spPr>
        <p:txBody>
          <a:bodyPr wrap="square" lIns="0" tIns="0" rIns="0" bIns="0" rtlCol="0" anchor="ctr"/>
          <a:lstStyle/>
          <a:p>
            <a:pPr marL="0" indent="0">
              <a:buNone/>
            </a:pPr>
            <a:r>
              <a:rPr lang="en-US" sz="950" dirty="0">
                <a:solidFill>
                  <a:srgbClr val="5F5E5A"/>
                </a:solidFill>
                <a:latin typeface="Calibri" pitchFamily="34" charset="0"/>
                <a:ea typeface="Calibri" pitchFamily="34" charset="-122"/>
                <a:cs typeface="Calibri" pitchFamily="34" charset="-120"/>
              </a:rPr>
              <a:t>Estándares de figuras: formato PNG/PDF, resolución 300 dpi, paleta viridis, carpeta de destino outputs/. Produce figuras consistentes sin repetir las instrucciones cada vez.</a:t>
            </a:r>
            <a:endParaRPr lang="en-US" sz="950" dirty="0"/>
          </a:p>
        </p:txBody>
      </p:sp>
      <p:sp>
        <p:nvSpPr>
          <p:cNvPr id="14" name="Shape 12"/>
          <p:cNvSpPr/>
          <p:nvPr/>
        </p:nvSpPr>
        <p:spPr>
          <a:xfrm>
            <a:off x="320040" y="3785616"/>
            <a:ext cx="4206240" cy="1444752"/>
          </a:xfrm>
          <a:prstGeom prst="roundRect">
            <a:avLst>
              <a:gd name="adj" fmla="val 6329"/>
            </a:avLst>
          </a:prstGeom>
          <a:solidFill>
            <a:srgbClr val="FFFFFF"/>
          </a:solidFill>
          <a:ln w="10160">
            <a:solidFill>
              <a:srgbClr val="C97B2A"/>
            </a:solidFill>
            <a:prstDash val="solid"/>
          </a:ln>
          <a:effectLst>
            <a:outerShdw blurRad="88900" dist="25400" dir="2700000" algn="bl" rotWithShape="0">
              <a:srgbClr val="000000">
                <a:alpha val="11000"/>
              </a:srgbClr>
            </a:outerShdw>
          </a:effectLst>
        </p:spPr>
        <p:txBody>
          <a:bodyPr/>
          <a:lstStyle/>
          <a:p>
            <a:endParaRPr lang="es-ES_tradnl"/>
          </a:p>
        </p:txBody>
      </p:sp>
      <p:sp>
        <p:nvSpPr>
          <p:cNvPr id="15" name="Text 13"/>
          <p:cNvSpPr/>
          <p:nvPr/>
        </p:nvSpPr>
        <p:spPr>
          <a:xfrm>
            <a:off x="484632" y="3877056"/>
            <a:ext cx="3200400" cy="347472"/>
          </a:xfrm>
          <a:prstGeom prst="rect">
            <a:avLst/>
          </a:prstGeom>
          <a:noFill/>
          <a:ln/>
        </p:spPr>
        <p:txBody>
          <a:bodyPr wrap="square" lIns="0" tIns="0" rIns="0" bIns="0" rtlCol="0" anchor="ctr"/>
          <a:lstStyle/>
          <a:p>
            <a:pPr marL="0" indent="0">
              <a:buNone/>
            </a:pPr>
            <a:r>
              <a:rPr lang="en-US" sz="1100" b="1" dirty="0">
                <a:solidFill>
                  <a:srgbClr val="C97B2A"/>
                </a:solidFill>
                <a:latin typeface="Calibri" pitchFamily="34" charset="0"/>
                <a:ea typeface="Calibri" pitchFamily="34" charset="-122"/>
                <a:cs typeface="Calibri" pitchFamily="34" charset="-120"/>
              </a:rPr>
              <a:t>🔍  Skill de revisión</a:t>
            </a:r>
            <a:endParaRPr lang="en-US" sz="1100" dirty="0"/>
          </a:p>
        </p:txBody>
      </p:sp>
      <p:sp>
        <p:nvSpPr>
          <p:cNvPr id="16" name="Text 14"/>
          <p:cNvSpPr/>
          <p:nvPr/>
        </p:nvSpPr>
        <p:spPr>
          <a:xfrm>
            <a:off x="484632" y="4242816"/>
            <a:ext cx="3858768" cy="256032"/>
          </a:xfrm>
          <a:prstGeom prst="rect">
            <a:avLst/>
          </a:prstGeom>
          <a:noFill/>
          <a:ln/>
        </p:spPr>
        <p:txBody>
          <a:bodyPr wrap="square" lIns="0" tIns="0" rIns="0" bIns="0" rtlCol="0" anchor="ctr"/>
          <a:lstStyle/>
          <a:p>
            <a:pPr marL="0" indent="0">
              <a:buNone/>
            </a:pPr>
            <a:r>
              <a:rPr lang="en-US" sz="900" dirty="0">
                <a:solidFill>
                  <a:srgbClr val="888780"/>
                </a:solidFill>
                <a:latin typeface="Courier New" pitchFamily="34" charset="0"/>
                <a:ea typeface="Courier New" pitchFamily="34" charset="-122"/>
                <a:cs typeface="Courier New" pitchFamily="34" charset="-120"/>
              </a:rPr>
              <a:t>Trigger: 'revisa estos resultados'</a:t>
            </a:r>
            <a:endParaRPr lang="en-US" sz="900" dirty="0"/>
          </a:p>
        </p:txBody>
      </p:sp>
      <p:sp>
        <p:nvSpPr>
          <p:cNvPr id="17" name="Text 15"/>
          <p:cNvSpPr/>
          <p:nvPr/>
        </p:nvSpPr>
        <p:spPr>
          <a:xfrm>
            <a:off x="484632" y="4535424"/>
            <a:ext cx="3858768" cy="621792"/>
          </a:xfrm>
          <a:prstGeom prst="rect">
            <a:avLst/>
          </a:prstGeom>
          <a:noFill/>
          <a:ln/>
        </p:spPr>
        <p:txBody>
          <a:bodyPr wrap="square" lIns="0" tIns="0" rIns="0" bIns="0" rtlCol="0" anchor="ctr"/>
          <a:lstStyle/>
          <a:p>
            <a:pPr marL="0" indent="0">
              <a:buNone/>
            </a:pPr>
            <a:r>
              <a:rPr lang="en-US" sz="950" dirty="0">
                <a:solidFill>
                  <a:srgbClr val="5F5E5A"/>
                </a:solidFill>
                <a:latin typeface="Calibri" pitchFamily="34" charset="0"/>
                <a:ea typeface="Calibri" pitchFamily="34" charset="-122"/>
                <a:cs typeface="Calibri" pitchFamily="34" charset="-120"/>
              </a:rPr>
              <a:t>Preguntas de validación automáticas: ¿tiene sentido biológico? ¿el R² es razonable? ¿coincide con expected_outputs? El agente la activa antes de terminar el análisis.</a:t>
            </a:r>
            <a:endParaRPr lang="en-US" sz="950" dirty="0"/>
          </a:p>
        </p:txBody>
      </p:sp>
      <p:sp>
        <p:nvSpPr>
          <p:cNvPr id="18" name="Shape 16"/>
          <p:cNvSpPr/>
          <p:nvPr/>
        </p:nvSpPr>
        <p:spPr>
          <a:xfrm>
            <a:off x="4709160" y="3785616"/>
            <a:ext cx="4206240" cy="1444752"/>
          </a:xfrm>
          <a:prstGeom prst="roundRect">
            <a:avLst>
              <a:gd name="adj" fmla="val 6329"/>
            </a:avLst>
          </a:prstGeom>
          <a:solidFill>
            <a:srgbClr val="FFFFFF"/>
          </a:solidFill>
          <a:ln w="10160">
            <a:solidFill>
              <a:srgbClr val="534AB7"/>
            </a:solidFill>
            <a:prstDash val="solid"/>
          </a:ln>
          <a:effectLst>
            <a:outerShdw blurRad="88900" dist="25400" dir="2700000" algn="bl" rotWithShape="0">
              <a:srgbClr val="000000">
                <a:alpha val="11000"/>
              </a:srgbClr>
            </a:outerShdw>
          </a:effectLst>
        </p:spPr>
        <p:txBody>
          <a:bodyPr/>
          <a:lstStyle/>
          <a:p>
            <a:endParaRPr lang="es-ES_tradnl"/>
          </a:p>
        </p:txBody>
      </p:sp>
      <p:sp>
        <p:nvSpPr>
          <p:cNvPr id="19" name="Text 17"/>
          <p:cNvSpPr/>
          <p:nvPr/>
        </p:nvSpPr>
        <p:spPr>
          <a:xfrm>
            <a:off x="4873752" y="3877056"/>
            <a:ext cx="3200400" cy="347472"/>
          </a:xfrm>
          <a:prstGeom prst="rect">
            <a:avLst/>
          </a:prstGeom>
          <a:noFill/>
          <a:ln/>
        </p:spPr>
        <p:txBody>
          <a:bodyPr wrap="square" lIns="0" tIns="0" rIns="0" bIns="0" rtlCol="0" anchor="ctr"/>
          <a:lstStyle/>
          <a:p>
            <a:pPr marL="0" indent="0">
              <a:buNone/>
            </a:pPr>
            <a:r>
              <a:rPr lang="en-US" sz="1100" b="1" dirty="0">
                <a:solidFill>
                  <a:srgbClr val="534AB7"/>
                </a:solidFill>
                <a:latin typeface="Calibri" pitchFamily="34" charset="0"/>
                <a:ea typeface="Calibri" pitchFamily="34" charset="-122"/>
                <a:cs typeface="Calibri" pitchFamily="34" charset="-120"/>
              </a:rPr>
              <a:t>🔗  Skill de pipeline</a:t>
            </a:r>
            <a:endParaRPr lang="en-US" sz="1100" dirty="0"/>
          </a:p>
        </p:txBody>
      </p:sp>
      <p:sp>
        <p:nvSpPr>
          <p:cNvPr id="20" name="Text 18"/>
          <p:cNvSpPr/>
          <p:nvPr/>
        </p:nvSpPr>
        <p:spPr>
          <a:xfrm>
            <a:off x="4873752" y="4242816"/>
            <a:ext cx="3858768" cy="256032"/>
          </a:xfrm>
          <a:prstGeom prst="rect">
            <a:avLst/>
          </a:prstGeom>
          <a:noFill/>
          <a:ln/>
        </p:spPr>
        <p:txBody>
          <a:bodyPr wrap="square" lIns="0" tIns="0" rIns="0" bIns="0" rtlCol="0" anchor="ctr"/>
          <a:lstStyle/>
          <a:p>
            <a:pPr marL="0" indent="0">
              <a:buNone/>
            </a:pPr>
            <a:r>
              <a:rPr lang="en-US" sz="900" dirty="0">
                <a:solidFill>
                  <a:srgbClr val="888780"/>
                </a:solidFill>
                <a:latin typeface="Courier New" pitchFamily="34" charset="0"/>
                <a:ea typeface="Courier New" pitchFamily="34" charset="-122"/>
                <a:cs typeface="Courier New" pitchFamily="34" charset="-120"/>
              </a:rPr>
              <a:t>Trigger: 'corre el pipeline completo'</a:t>
            </a:r>
            <a:endParaRPr lang="en-US" sz="900" dirty="0"/>
          </a:p>
        </p:txBody>
      </p:sp>
      <p:sp>
        <p:nvSpPr>
          <p:cNvPr id="21" name="Text 19"/>
          <p:cNvSpPr/>
          <p:nvPr/>
        </p:nvSpPr>
        <p:spPr>
          <a:xfrm>
            <a:off x="4873752" y="4535424"/>
            <a:ext cx="3858768" cy="621792"/>
          </a:xfrm>
          <a:prstGeom prst="rect">
            <a:avLst/>
          </a:prstGeom>
          <a:noFill/>
          <a:ln/>
        </p:spPr>
        <p:txBody>
          <a:bodyPr wrap="square" lIns="0" tIns="0" rIns="0" bIns="0" rtlCol="0" anchor="ctr"/>
          <a:lstStyle/>
          <a:p>
            <a:pPr marL="0" indent="0">
              <a:buNone/>
            </a:pPr>
            <a:r>
              <a:rPr lang="en-US" sz="950" dirty="0">
                <a:solidFill>
                  <a:srgbClr val="5F5E5A"/>
                </a:solidFill>
                <a:latin typeface="Calibri" pitchFamily="34" charset="0"/>
                <a:ea typeface="Calibri" pitchFamily="34" charset="-122"/>
                <a:cs typeface="Calibri" pitchFamily="34" charset="-120"/>
              </a:rPr>
              <a:t>Flujo de múltiples pasos encadenados: carga → limpieza → análisis → figura → exportación. Se activa con una sola instrucción y ejecuta todo el flujo en orden.</a:t>
            </a:r>
            <a:endParaRPr lang="en-US" sz="950" dirty="0"/>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0">
    <p:bg>
      <p:bgPr>
        <a:solidFill>
          <a:srgbClr val="F8F8F6"/>
        </a:solidFill>
        <a:effectLst/>
      </p:bgPr>
    </p:bg>
    <p:spTree>
      <p:nvGrpSpPr>
        <p:cNvPr id="1" name=""/>
        <p:cNvGrpSpPr/>
        <p:nvPr/>
      </p:nvGrpSpPr>
      <p:grpSpPr>
        <a:xfrm>
          <a:off x="0" y="0"/>
          <a:ext cx="0" cy="0"/>
          <a:chOff x="0" y="0"/>
          <a:chExt cx="0" cy="0"/>
        </a:xfrm>
      </p:grpSpPr>
      <p:sp>
        <p:nvSpPr>
          <p:cNvPr id="2" name="Text 0"/>
          <p:cNvSpPr/>
          <p:nvPr/>
        </p:nvSpPr>
        <p:spPr>
          <a:xfrm>
            <a:off x="457200" y="256032"/>
            <a:ext cx="8229600" cy="566928"/>
          </a:xfrm>
          <a:prstGeom prst="rect">
            <a:avLst/>
          </a:prstGeom>
          <a:noFill/>
          <a:ln/>
        </p:spPr>
        <p:txBody>
          <a:bodyPr wrap="square" lIns="0" tIns="0" rIns="0" bIns="0" rtlCol="0" anchor="ctr"/>
          <a:lstStyle/>
          <a:p>
            <a:pPr marL="0" indent="0">
              <a:buNone/>
            </a:pPr>
            <a:r>
              <a:rPr lang="en-US" sz="2700" b="1" dirty="0">
                <a:solidFill>
                  <a:srgbClr val="2C2C2A"/>
                </a:solidFill>
                <a:latin typeface="Cambria" pitchFamily="34" charset="0"/>
                <a:ea typeface="Cambria" pitchFamily="34" charset="-122"/>
                <a:cs typeface="Cambria" pitchFamily="34" charset="-120"/>
              </a:rPr>
              <a:t>Skills: instrucciones modulares reutilizables</a:t>
            </a:r>
            <a:endParaRPr lang="en-US" sz="2700" dirty="0"/>
          </a:p>
        </p:txBody>
      </p:sp>
      <p:sp>
        <p:nvSpPr>
          <p:cNvPr id="3" name="Text 1"/>
          <p:cNvSpPr/>
          <p:nvPr/>
        </p:nvSpPr>
        <p:spPr>
          <a:xfrm>
            <a:off x="457200" y="822960"/>
            <a:ext cx="8229600" cy="320040"/>
          </a:xfrm>
          <a:prstGeom prst="rect">
            <a:avLst/>
          </a:prstGeom>
          <a:noFill/>
          <a:ln/>
        </p:spPr>
        <p:txBody>
          <a:bodyPr wrap="square" lIns="0" tIns="0" rIns="0" bIns="0" rtlCol="0" anchor="ctr"/>
          <a:lstStyle/>
          <a:p>
            <a:pPr marL="0" indent="0">
              <a:buNone/>
            </a:pPr>
            <a:r>
              <a:rPr lang="en-US" sz="1300" i="1" dirty="0">
                <a:solidFill>
                  <a:srgbClr val="5F5E5A"/>
                </a:solidFill>
                <a:latin typeface="Calibri" pitchFamily="34" charset="0"/>
                <a:ea typeface="Calibri" pitchFamily="34" charset="-122"/>
                <a:cs typeface="Calibri" pitchFamily="34" charset="-120"/>
              </a:rPr>
              <a:t>Cómo se diferencian de un CLAUDE.md normal</a:t>
            </a:r>
            <a:endParaRPr lang="en-US" sz="1300" dirty="0"/>
          </a:p>
        </p:txBody>
      </p:sp>
      <p:sp>
        <p:nvSpPr>
          <p:cNvPr id="4" name="Shape 2"/>
          <p:cNvSpPr/>
          <p:nvPr/>
        </p:nvSpPr>
        <p:spPr>
          <a:xfrm>
            <a:off x="365760" y="1261872"/>
            <a:ext cx="8412480" cy="594360"/>
          </a:xfrm>
          <a:prstGeom prst="roundRect">
            <a:avLst>
              <a:gd name="adj" fmla="val 12308"/>
            </a:avLst>
          </a:prstGeom>
          <a:solidFill>
            <a:srgbClr val="EEEDFE"/>
          </a:solidFill>
          <a:ln w="6350">
            <a:solidFill>
              <a:srgbClr val="534AB7"/>
            </a:solidFill>
            <a:prstDash val="solid"/>
          </a:ln>
        </p:spPr>
        <p:txBody>
          <a:bodyPr/>
          <a:lstStyle/>
          <a:p>
            <a:endParaRPr lang="es-ES_tradnl"/>
          </a:p>
        </p:txBody>
      </p:sp>
      <p:sp>
        <p:nvSpPr>
          <p:cNvPr id="5" name="Text 3"/>
          <p:cNvSpPr/>
          <p:nvPr/>
        </p:nvSpPr>
        <p:spPr>
          <a:xfrm>
            <a:off x="548640" y="1335024"/>
            <a:ext cx="8046720" cy="438912"/>
          </a:xfrm>
          <a:prstGeom prst="rect">
            <a:avLst/>
          </a:prstGeom>
          <a:noFill/>
          <a:ln/>
        </p:spPr>
        <p:txBody>
          <a:bodyPr wrap="square" lIns="0" tIns="0" rIns="0" bIns="0" rtlCol="0" anchor="ctr"/>
          <a:lstStyle/>
          <a:p>
            <a:pPr marL="0" indent="0">
              <a:buNone/>
            </a:pPr>
            <a:r>
              <a:rPr lang="en-US" sz="1100" i="1" dirty="0">
                <a:solidFill>
                  <a:srgbClr val="534AB7"/>
                </a:solidFill>
                <a:latin typeface="Calibri" pitchFamily="34" charset="0"/>
                <a:ea typeface="Calibri" pitchFamily="34" charset="-122"/>
                <a:cs typeface="Calibri" pitchFamily="34" charset="-120"/>
              </a:rPr>
              <a:t>CLAUDE.md = contexto permanente del proyecto.  Skill .md = instrucción modular activada para una tarea específica. La diferencia está en la estructura del archivo.</a:t>
            </a:r>
            <a:endParaRPr lang="en-US" sz="1100" dirty="0"/>
          </a:p>
        </p:txBody>
      </p:sp>
      <p:sp>
        <p:nvSpPr>
          <p:cNvPr id="6" name="Shape 4"/>
          <p:cNvSpPr/>
          <p:nvPr/>
        </p:nvSpPr>
        <p:spPr>
          <a:xfrm>
            <a:off x="365760" y="1965960"/>
            <a:ext cx="4114800" cy="3383280"/>
          </a:xfrm>
          <a:prstGeom prst="roundRect">
            <a:avLst>
              <a:gd name="adj" fmla="val 2703"/>
            </a:avLst>
          </a:prstGeom>
          <a:solidFill>
            <a:srgbClr val="FFFFFF"/>
          </a:solidFill>
          <a:ln w="6350">
            <a:solidFill>
              <a:srgbClr val="D3D1C7"/>
            </a:solidFill>
            <a:prstDash val="solid"/>
          </a:ln>
          <a:effectLst>
            <a:outerShdw blurRad="88900" dist="25400" dir="2700000" algn="bl" rotWithShape="0">
              <a:srgbClr val="000000">
                <a:alpha val="11000"/>
              </a:srgbClr>
            </a:outerShdw>
          </a:effectLst>
        </p:spPr>
        <p:txBody>
          <a:bodyPr/>
          <a:lstStyle/>
          <a:p>
            <a:endParaRPr lang="es-ES_tradnl"/>
          </a:p>
        </p:txBody>
      </p:sp>
      <p:sp>
        <p:nvSpPr>
          <p:cNvPr id="7" name="Text 5"/>
          <p:cNvSpPr/>
          <p:nvPr/>
        </p:nvSpPr>
        <p:spPr>
          <a:xfrm>
            <a:off x="530352" y="2057400"/>
            <a:ext cx="3749040" cy="347472"/>
          </a:xfrm>
          <a:prstGeom prst="rect">
            <a:avLst/>
          </a:prstGeom>
          <a:noFill/>
          <a:ln/>
        </p:spPr>
        <p:txBody>
          <a:bodyPr wrap="square" lIns="0" tIns="0" rIns="0" bIns="0" rtlCol="0" anchor="ctr"/>
          <a:lstStyle/>
          <a:p>
            <a:pPr marL="0" indent="0">
              <a:buNone/>
            </a:pPr>
            <a:r>
              <a:rPr lang="en-US" sz="1050" b="1" dirty="0">
                <a:solidFill>
                  <a:srgbClr val="5F5E5A"/>
                </a:solidFill>
                <a:latin typeface="Calibri" pitchFamily="34" charset="0"/>
                <a:ea typeface="Calibri" pitchFamily="34" charset="-122"/>
                <a:cs typeface="Calibri" pitchFamily="34" charset="-120"/>
              </a:rPr>
              <a:t>📄  CLAUDE.md (contexto del proyecto)</a:t>
            </a:r>
            <a:endParaRPr lang="en-US" sz="1050" dirty="0"/>
          </a:p>
        </p:txBody>
      </p:sp>
      <p:sp>
        <p:nvSpPr>
          <p:cNvPr id="8" name="Shape 6"/>
          <p:cNvSpPr/>
          <p:nvPr/>
        </p:nvSpPr>
        <p:spPr>
          <a:xfrm>
            <a:off x="502920" y="2468880"/>
            <a:ext cx="3794760" cy="2651760"/>
          </a:xfrm>
          <a:prstGeom prst="roundRect">
            <a:avLst>
              <a:gd name="adj" fmla="val 3448"/>
            </a:avLst>
          </a:prstGeom>
          <a:solidFill>
            <a:srgbClr val="1E1E2E"/>
          </a:solidFill>
          <a:ln w="6350">
            <a:solidFill>
              <a:srgbClr val="2A2A4A"/>
            </a:solidFill>
            <a:prstDash val="solid"/>
          </a:ln>
        </p:spPr>
        <p:txBody>
          <a:bodyPr/>
          <a:lstStyle/>
          <a:p>
            <a:endParaRPr lang="es-ES_tradnl"/>
          </a:p>
        </p:txBody>
      </p:sp>
      <p:sp>
        <p:nvSpPr>
          <p:cNvPr id="9" name="Text 7"/>
          <p:cNvSpPr/>
          <p:nvPr/>
        </p:nvSpPr>
        <p:spPr>
          <a:xfrm>
            <a:off x="667512" y="2596896"/>
            <a:ext cx="3474720" cy="256032"/>
          </a:xfrm>
          <a:prstGeom prst="rect">
            <a:avLst/>
          </a:prstGeom>
          <a:noFill/>
          <a:ln/>
        </p:spPr>
        <p:txBody>
          <a:bodyPr wrap="square" lIns="0" tIns="0" rIns="0" bIns="0" rtlCol="0" anchor="ctr"/>
          <a:lstStyle/>
          <a:p>
            <a:pPr marL="0" indent="0">
              <a:buNone/>
            </a:pPr>
            <a:r>
              <a:rPr lang="en-US" sz="950" dirty="0">
                <a:solidFill>
                  <a:srgbClr val="F9C74F"/>
                </a:solidFill>
                <a:latin typeface="Courier New" pitchFamily="34" charset="0"/>
                <a:ea typeface="Courier New" pitchFamily="34" charset="-122"/>
                <a:cs typeface="Courier New" pitchFamily="34" charset="-120"/>
              </a:rPr>
              <a:t>## Quien soy</a:t>
            </a:r>
            <a:endParaRPr lang="en-US" sz="950" dirty="0"/>
          </a:p>
        </p:txBody>
      </p:sp>
      <p:sp>
        <p:nvSpPr>
          <p:cNvPr id="10" name="Text 8"/>
          <p:cNvSpPr/>
          <p:nvPr/>
        </p:nvSpPr>
        <p:spPr>
          <a:xfrm>
            <a:off x="667512" y="2871216"/>
            <a:ext cx="3474720" cy="256032"/>
          </a:xfrm>
          <a:prstGeom prst="rect">
            <a:avLst/>
          </a:prstGeom>
          <a:noFill/>
          <a:ln/>
        </p:spPr>
        <p:txBody>
          <a:bodyPr wrap="square" lIns="0" tIns="0" rIns="0" bIns="0" rtlCol="0" anchor="ctr"/>
          <a:lstStyle/>
          <a:p>
            <a:pPr marL="0" indent="0">
              <a:buNone/>
            </a:pPr>
            <a:r>
              <a:rPr lang="en-US" sz="950" dirty="0">
                <a:solidFill>
                  <a:srgbClr val="FFFFFF"/>
                </a:solidFill>
                <a:latin typeface="Courier New" pitchFamily="34" charset="0"/>
                <a:ea typeface="Courier New" pitchFamily="34" charset="-122"/>
                <a:cs typeface="Courier New" pitchFamily="34" charset="-120"/>
              </a:rPr>
              <a:t>Soy ecóloga microbiana...</a:t>
            </a:r>
            <a:endParaRPr lang="en-US" sz="950" dirty="0"/>
          </a:p>
        </p:txBody>
      </p:sp>
      <p:sp>
        <p:nvSpPr>
          <p:cNvPr id="11" name="Text 9"/>
          <p:cNvSpPr/>
          <p:nvPr/>
        </p:nvSpPr>
        <p:spPr>
          <a:xfrm>
            <a:off x="667512" y="3145536"/>
            <a:ext cx="3474720" cy="256032"/>
          </a:xfrm>
          <a:prstGeom prst="rect">
            <a:avLst/>
          </a:prstGeom>
          <a:noFill/>
          <a:ln/>
        </p:spPr>
        <p:txBody>
          <a:bodyPr wrap="square" lIns="0" tIns="0" rIns="0" bIns="0" rtlCol="0" anchor="ctr"/>
          <a:lstStyle/>
          <a:p>
            <a:pPr marL="0" indent="0">
              <a:buNone/>
            </a:pPr>
            <a:endParaRPr lang="en-US" sz="950" dirty="0"/>
          </a:p>
        </p:txBody>
      </p:sp>
      <p:sp>
        <p:nvSpPr>
          <p:cNvPr id="12" name="Text 10"/>
          <p:cNvSpPr/>
          <p:nvPr/>
        </p:nvSpPr>
        <p:spPr>
          <a:xfrm>
            <a:off x="667512" y="3419856"/>
            <a:ext cx="3474720" cy="256032"/>
          </a:xfrm>
          <a:prstGeom prst="rect">
            <a:avLst/>
          </a:prstGeom>
          <a:noFill/>
          <a:ln/>
        </p:spPr>
        <p:txBody>
          <a:bodyPr wrap="square" lIns="0" tIns="0" rIns="0" bIns="0" rtlCol="0" anchor="ctr"/>
          <a:lstStyle/>
          <a:p>
            <a:pPr marL="0" indent="0">
              <a:buNone/>
            </a:pPr>
            <a:r>
              <a:rPr lang="en-US" sz="950" dirty="0">
                <a:solidFill>
                  <a:srgbClr val="F9C74F"/>
                </a:solidFill>
                <a:latin typeface="Courier New" pitchFamily="34" charset="0"/>
                <a:ea typeface="Courier New" pitchFamily="34" charset="-122"/>
                <a:cs typeface="Courier New" pitchFamily="34" charset="-120"/>
              </a:rPr>
              <a:t>## Los datos</a:t>
            </a:r>
            <a:endParaRPr lang="en-US" sz="950" dirty="0"/>
          </a:p>
        </p:txBody>
      </p:sp>
      <p:sp>
        <p:nvSpPr>
          <p:cNvPr id="13" name="Text 11"/>
          <p:cNvSpPr/>
          <p:nvPr/>
        </p:nvSpPr>
        <p:spPr>
          <a:xfrm>
            <a:off x="667512" y="3694176"/>
            <a:ext cx="3474720" cy="256032"/>
          </a:xfrm>
          <a:prstGeom prst="rect">
            <a:avLst/>
          </a:prstGeom>
          <a:noFill/>
          <a:ln/>
        </p:spPr>
        <p:txBody>
          <a:bodyPr wrap="square" lIns="0" tIns="0" rIns="0" bIns="0" rtlCol="0" anchor="ctr"/>
          <a:lstStyle/>
          <a:p>
            <a:pPr marL="0" indent="0">
              <a:buNone/>
            </a:pPr>
            <a:r>
              <a:rPr lang="en-US" sz="950" dirty="0">
                <a:solidFill>
                  <a:srgbClr val="5EEAD4"/>
                </a:solidFill>
                <a:latin typeface="Courier New" pitchFamily="34" charset="0"/>
                <a:ea typeface="Courier New" pitchFamily="34" charset="-122"/>
                <a:cs typeface="Courier New" pitchFamily="34" charset="-120"/>
              </a:rPr>
              <a:t>data/abundancias.tsv</a:t>
            </a:r>
            <a:endParaRPr lang="en-US" sz="950" dirty="0"/>
          </a:p>
        </p:txBody>
      </p:sp>
      <p:sp>
        <p:nvSpPr>
          <p:cNvPr id="14" name="Text 12"/>
          <p:cNvSpPr/>
          <p:nvPr/>
        </p:nvSpPr>
        <p:spPr>
          <a:xfrm>
            <a:off x="667512" y="3968496"/>
            <a:ext cx="3474720" cy="256032"/>
          </a:xfrm>
          <a:prstGeom prst="rect">
            <a:avLst/>
          </a:prstGeom>
          <a:noFill/>
          <a:ln/>
        </p:spPr>
        <p:txBody>
          <a:bodyPr wrap="square" lIns="0" tIns="0" rIns="0" bIns="0" rtlCol="0" anchor="ctr"/>
          <a:lstStyle/>
          <a:p>
            <a:pPr marL="0" indent="0">
              <a:buNone/>
            </a:pPr>
            <a:endParaRPr lang="en-US" sz="950" dirty="0"/>
          </a:p>
        </p:txBody>
      </p:sp>
      <p:sp>
        <p:nvSpPr>
          <p:cNvPr id="15" name="Text 13"/>
          <p:cNvSpPr/>
          <p:nvPr/>
        </p:nvSpPr>
        <p:spPr>
          <a:xfrm>
            <a:off x="667512" y="4242816"/>
            <a:ext cx="3474720" cy="256032"/>
          </a:xfrm>
          <a:prstGeom prst="rect">
            <a:avLst/>
          </a:prstGeom>
          <a:noFill/>
          <a:ln/>
        </p:spPr>
        <p:txBody>
          <a:bodyPr wrap="square" lIns="0" tIns="0" rIns="0" bIns="0" rtlCol="0" anchor="ctr"/>
          <a:lstStyle/>
          <a:p>
            <a:pPr marL="0" indent="0">
              <a:buNone/>
            </a:pPr>
            <a:r>
              <a:rPr lang="en-US" sz="950" dirty="0">
                <a:solidFill>
                  <a:srgbClr val="F9C74F"/>
                </a:solidFill>
                <a:latin typeface="Courier New" pitchFamily="34" charset="0"/>
                <a:ea typeface="Courier New" pitchFamily="34" charset="-122"/>
                <a:cs typeface="Courier New" pitchFamily="34" charset="-120"/>
              </a:rPr>
              <a:t>## Reglas</a:t>
            </a:r>
            <a:endParaRPr lang="en-US" sz="950" dirty="0"/>
          </a:p>
        </p:txBody>
      </p:sp>
      <p:sp>
        <p:nvSpPr>
          <p:cNvPr id="16" name="Text 14"/>
          <p:cNvSpPr/>
          <p:nvPr/>
        </p:nvSpPr>
        <p:spPr>
          <a:xfrm>
            <a:off x="667512" y="4517136"/>
            <a:ext cx="3474720" cy="256032"/>
          </a:xfrm>
          <a:prstGeom prst="rect">
            <a:avLst/>
          </a:prstGeom>
          <a:noFill/>
          <a:ln/>
        </p:spPr>
        <p:txBody>
          <a:bodyPr wrap="square" lIns="0" tIns="0" rIns="0" bIns="0" rtlCol="0" anchor="ctr"/>
          <a:lstStyle/>
          <a:p>
            <a:pPr marL="0" indent="0">
              <a:buNone/>
            </a:pPr>
            <a:r>
              <a:rPr lang="en-US" sz="950" dirty="0">
                <a:solidFill>
                  <a:srgbClr val="A78BFA"/>
                </a:solidFill>
                <a:latin typeface="Courier New" pitchFamily="34" charset="0"/>
                <a:ea typeface="Courier New" pitchFamily="34" charset="-122"/>
                <a:cs typeface="Courier New" pitchFamily="34" charset="-120"/>
              </a:rPr>
              <a:t>Plan antes de ejecutar.</a:t>
            </a:r>
            <a:endParaRPr lang="en-US" sz="950" dirty="0"/>
          </a:p>
        </p:txBody>
      </p:sp>
      <p:sp>
        <p:nvSpPr>
          <p:cNvPr id="17" name="Text 15"/>
          <p:cNvSpPr/>
          <p:nvPr/>
        </p:nvSpPr>
        <p:spPr>
          <a:xfrm>
            <a:off x="667512" y="4791456"/>
            <a:ext cx="3474720" cy="256032"/>
          </a:xfrm>
          <a:prstGeom prst="rect">
            <a:avLst/>
          </a:prstGeom>
          <a:noFill/>
          <a:ln/>
        </p:spPr>
        <p:txBody>
          <a:bodyPr wrap="square" lIns="0" tIns="0" rIns="0" bIns="0" rtlCol="0" anchor="ctr"/>
          <a:lstStyle/>
          <a:p>
            <a:pPr marL="0" indent="0">
              <a:buNone/>
            </a:pPr>
            <a:r>
              <a:rPr lang="en-US" sz="950" dirty="0">
                <a:solidFill>
                  <a:srgbClr val="888780"/>
                </a:solidFill>
                <a:latin typeface="Courier New" pitchFamily="34" charset="0"/>
                <a:ea typeface="Courier New" pitchFamily="34" charset="-122"/>
                <a:cs typeface="Courier New" pitchFamily="34" charset="-120"/>
              </a:rPr>
              <a:t>(prose libre, sin frontmatter)</a:t>
            </a:r>
            <a:endParaRPr lang="en-US" sz="950" dirty="0"/>
          </a:p>
        </p:txBody>
      </p:sp>
      <p:sp>
        <p:nvSpPr>
          <p:cNvPr id="18" name="Shape 16"/>
          <p:cNvSpPr/>
          <p:nvPr/>
        </p:nvSpPr>
        <p:spPr>
          <a:xfrm>
            <a:off x="4663440" y="1965960"/>
            <a:ext cx="4114800" cy="3383280"/>
          </a:xfrm>
          <a:prstGeom prst="roundRect">
            <a:avLst>
              <a:gd name="adj" fmla="val 2703"/>
            </a:avLst>
          </a:prstGeom>
          <a:solidFill>
            <a:srgbClr val="FFFFFF"/>
          </a:solidFill>
          <a:ln w="15240">
            <a:solidFill>
              <a:srgbClr val="534AB7"/>
            </a:solidFill>
            <a:prstDash val="solid"/>
          </a:ln>
          <a:effectLst>
            <a:outerShdw blurRad="88900" dist="25400" dir="2700000" algn="bl" rotWithShape="0">
              <a:srgbClr val="000000">
                <a:alpha val="11000"/>
              </a:srgbClr>
            </a:outerShdw>
          </a:effectLst>
        </p:spPr>
        <p:txBody>
          <a:bodyPr/>
          <a:lstStyle/>
          <a:p>
            <a:endParaRPr lang="es-ES_tradnl"/>
          </a:p>
        </p:txBody>
      </p:sp>
      <p:sp>
        <p:nvSpPr>
          <p:cNvPr id="19" name="Text 17"/>
          <p:cNvSpPr/>
          <p:nvPr/>
        </p:nvSpPr>
        <p:spPr>
          <a:xfrm>
            <a:off x="4828032" y="2057400"/>
            <a:ext cx="3749040" cy="347472"/>
          </a:xfrm>
          <a:prstGeom prst="rect">
            <a:avLst/>
          </a:prstGeom>
          <a:noFill/>
          <a:ln/>
        </p:spPr>
        <p:txBody>
          <a:bodyPr wrap="square" lIns="0" tIns="0" rIns="0" bIns="0" rtlCol="0" anchor="ctr"/>
          <a:lstStyle/>
          <a:p>
            <a:pPr marL="0" indent="0">
              <a:buNone/>
            </a:pPr>
            <a:r>
              <a:rPr lang="en-US" sz="1050" b="1" dirty="0">
                <a:solidFill>
                  <a:srgbClr val="534AB7"/>
                </a:solidFill>
                <a:latin typeface="Calibri" pitchFamily="34" charset="0"/>
                <a:ea typeface="Calibri" pitchFamily="34" charset="-122"/>
                <a:cs typeface="Calibri" pitchFamily="34" charset="-120"/>
              </a:rPr>
              <a:t>🔧  skill-diversidad.md (skill específico)</a:t>
            </a:r>
            <a:endParaRPr lang="en-US" sz="1050" dirty="0"/>
          </a:p>
        </p:txBody>
      </p:sp>
      <p:sp>
        <p:nvSpPr>
          <p:cNvPr id="20" name="Shape 18"/>
          <p:cNvSpPr/>
          <p:nvPr/>
        </p:nvSpPr>
        <p:spPr>
          <a:xfrm>
            <a:off x="4800600" y="2468880"/>
            <a:ext cx="3794760" cy="2651760"/>
          </a:xfrm>
          <a:prstGeom prst="roundRect">
            <a:avLst>
              <a:gd name="adj" fmla="val 3448"/>
            </a:avLst>
          </a:prstGeom>
          <a:solidFill>
            <a:srgbClr val="1E1E2E"/>
          </a:solidFill>
          <a:ln w="6350">
            <a:solidFill>
              <a:srgbClr val="2A2A4A"/>
            </a:solidFill>
            <a:prstDash val="solid"/>
          </a:ln>
        </p:spPr>
        <p:txBody>
          <a:bodyPr/>
          <a:lstStyle/>
          <a:p>
            <a:endParaRPr lang="es-ES_tradnl"/>
          </a:p>
        </p:txBody>
      </p:sp>
      <p:sp>
        <p:nvSpPr>
          <p:cNvPr id="21" name="Text 19"/>
          <p:cNvSpPr/>
          <p:nvPr/>
        </p:nvSpPr>
        <p:spPr>
          <a:xfrm>
            <a:off x="4965192" y="2596896"/>
            <a:ext cx="3474720" cy="256032"/>
          </a:xfrm>
          <a:prstGeom prst="rect">
            <a:avLst/>
          </a:prstGeom>
          <a:noFill/>
          <a:ln/>
        </p:spPr>
        <p:txBody>
          <a:bodyPr wrap="square" lIns="0" tIns="0" rIns="0" bIns="0" rtlCol="0" anchor="ctr"/>
          <a:lstStyle/>
          <a:p>
            <a:pPr marL="0" indent="0">
              <a:buNone/>
            </a:pPr>
            <a:r>
              <a:rPr lang="en-US" sz="950" dirty="0">
                <a:solidFill>
                  <a:srgbClr val="888780"/>
                </a:solidFill>
                <a:latin typeface="Courier New" pitchFamily="34" charset="0"/>
                <a:ea typeface="Courier New" pitchFamily="34" charset="-122"/>
                <a:cs typeface="Courier New" pitchFamily="34" charset="-120"/>
              </a:rPr>
              <a:t>---</a:t>
            </a:r>
            <a:endParaRPr lang="en-US" sz="950" dirty="0"/>
          </a:p>
        </p:txBody>
      </p:sp>
      <p:sp>
        <p:nvSpPr>
          <p:cNvPr id="22" name="Text 20"/>
          <p:cNvSpPr/>
          <p:nvPr/>
        </p:nvSpPr>
        <p:spPr>
          <a:xfrm>
            <a:off x="4965192" y="2871216"/>
            <a:ext cx="3474720" cy="256032"/>
          </a:xfrm>
          <a:prstGeom prst="rect">
            <a:avLst/>
          </a:prstGeom>
          <a:noFill/>
          <a:ln/>
        </p:spPr>
        <p:txBody>
          <a:bodyPr wrap="square" lIns="0" tIns="0" rIns="0" bIns="0" rtlCol="0" anchor="ctr"/>
          <a:lstStyle/>
          <a:p>
            <a:pPr marL="0" indent="0">
              <a:buNone/>
            </a:pPr>
            <a:r>
              <a:rPr lang="en-US" sz="950" dirty="0">
                <a:solidFill>
                  <a:srgbClr val="F9C74F"/>
                </a:solidFill>
                <a:latin typeface="Courier New" pitchFamily="34" charset="0"/>
                <a:ea typeface="Courier New" pitchFamily="34" charset="-122"/>
                <a:cs typeface="Courier New" pitchFamily="34" charset="-120"/>
              </a:rPr>
              <a:t>name: Análisis de diversidad</a:t>
            </a:r>
            <a:endParaRPr lang="en-US" sz="950" dirty="0"/>
          </a:p>
        </p:txBody>
      </p:sp>
      <p:sp>
        <p:nvSpPr>
          <p:cNvPr id="23" name="Text 21"/>
          <p:cNvSpPr/>
          <p:nvPr/>
        </p:nvSpPr>
        <p:spPr>
          <a:xfrm>
            <a:off x="4965192" y="3145536"/>
            <a:ext cx="3474720" cy="256032"/>
          </a:xfrm>
          <a:prstGeom prst="rect">
            <a:avLst/>
          </a:prstGeom>
          <a:noFill/>
          <a:ln/>
        </p:spPr>
        <p:txBody>
          <a:bodyPr wrap="square" lIns="0" tIns="0" rIns="0" bIns="0" rtlCol="0" anchor="ctr"/>
          <a:lstStyle/>
          <a:p>
            <a:pPr marL="0" indent="0">
              <a:buNone/>
            </a:pPr>
            <a:r>
              <a:rPr lang="en-US" sz="950" dirty="0">
                <a:solidFill>
                  <a:srgbClr val="A78BFA"/>
                </a:solidFill>
                <a:latin typeface="Courier New" pitchFamily="34" charset="0"/>
                <a:ea typeface="Courier New" pitchFamily="34" charset="-122"/>
                <a:cs typeface="Courier New" pitchFamily="34" charset="-120"/>
              </a:rPr>
              <a:t>trigger: análisis diversidad</a:t>
            </a:r>
            <a:endParaRPr lang="en-US" sz="950" dirty="0"/>
          </a:p>
        </p:txBody>
      </p:sp>
      <p:sp>
        <p:nvSpPr>
          <p:cNvPr id="24" name="Text 22"/>
          <p:cNvSpPr/>
          <p:nvPr/>
        </p:nvSpPr>
        <p:spPr>
          <a:xfrm>
            <a:off x="4965192" y="3419856"/>
            <a:ext cx="3474720" cy="256032"/>
          </a:xfrm>
          <a:prstGeom prst="rect">
            <a:avLst/>
          </a:prstGeom>
          <a:noFill/>
          <a:ln/>
        </p:spPr>
        <p:txBody>
          <a:bodyPr wrap="square" lIns="0" tIns="0" rIns="0" bIns="0" rtlCol="0" anchor="ctr"/>
          <a:lstStyle/>
          <a:p>
            <a:pPr marL="0" indent="0">
              <a:buNone/>
            </a:pPr>
            <a:r>
              <a:rPr lang="en-US" sz="950" dirty="0">
                <a:solidFill>
                  <a:srgbClr val="888780"/>
                </a:solidFill>
                <a:latin typeface="Courier New" pitchFamily="34" charset="0"/>
                <a:ea typeface="Courier New" pitchFamily="34" charset="-122"/>
                <a:cs typeface="Courier New" pitchFamily="34" charset="-120"/>
              </a:rPr>
              <a:t>---</a:t>
            </a:r>
            <a:endParaRPr lang="en-US" sz="950" dirty="0"/>
          </a:p>
        </p:txBody>
      </p:sp>
      <p:sp>
        <p:nvSpPr>
          <p:cNvPr id="25" name="Text 23"/>
          <p:cNvSpPr/>
          <p:nvPr/>
        </p:nvSpPr>
        <p:spPr>
          <a:xfrm>
            <a:off x="4965192" y="3694176"/>
            <a:ext cx="3474720" cy="256032"/>
          </a:xfrm>
          <a:prstGeom prst="rect">
            <a:avLst/>
          </a:prstGeom>
          <a:noFill/>
          <a:ln/>
        </p:spPr>
        <p:txBody>
          <a:bodyPr wrap="square" lIns="0" tIns="0" rIns="0" bIns="0" rtlCol="0" anchor="ctr"/>
          <a:lstStyle/>
          <a:p>
            <a:pPr marL="0" indent="0">
              <a:buNone/>
            </a:pPr>
            <a:r>
              <a:rPr lang="en-US" sz="950" dirty="0">
                <a:solidFill>
                  <a:srgbClr val="F9C74F"/>
                </a:solidFill>
                <a:latin typeface="Courier New" pitchFamily="34" charset="0"/>
                <a:ea typeface="Courier New" pitchFamily="34" charset="-122"/>
                <a:cs typeface="Courier New" pitchFamily="34" charset="-120"/>
              </a:rPr>
              <a:t>## Pasos</a:t>
            </a:r>
            <a:endParaRPr lang="en-US" sz="950" dirty="0"/>
          </a:p>
        </p:txBody>
      </p:sp>
      <p:sp>
        <p:nvSpPr>
          <p:cNvPr id="26" name="Text 24"/>
          <p:cNvSpPr/>
          <p:nvPr/>
        </p:nvSpPr>
        <p:spPr>
          <a:xfrm>
            <a:off x="4965192" y="3968496"/>
            <a:ext cx="3474720" cy="256032"/>
          </a:xfrm>
          <a:prstGeom prst="rect">
            <a:avLst/>
          </a:prstGeom>
          <a:noFill/>
          <a:ln/>
        </p:spPr>
        <p:txBody>
          <a:bodyPr wrap="square" lIns="0" tIns="0" rIns="0" bIns="0" rtlCol="0" anchor="ctr"/>
          <a:lstStyle/>
          <a:p>
            <a:pPr marL="0" indent="0">
              <a:buNone/>
            </a:pPr>
            <a:r>
              <a:rPr lang="en-US" sz="950" dirty="0">
                <a:solidFill>
                  <a:srgbClr val="FFFFFF"/>
                </a:solidFill>
                <a:latin typeface="Courier New" pitchFamily="34" charset="0"/>
                <a:ea typeface="Courier New" pitchFamily="34" charset="-122"/>
                <a:cs typeface="Courier New" pitchFamily="34" charset="-120"/>
              </a:rPr>
              <a:t>1. Resumen estadístico primero</a:t>
            </a:r>
            <a:endParaRPr lang="en-US" sz="950" dirty="0"/>
          </a:p>
        </p:txBody>
      </p:sp>
      <p:sp>
        <p:nvSpPr>
          <p:cNvPr id="27" name="Text 25"/>
          <p:cNvSpPr/>
          <p:nvPr/>
        </p:nvSpPr>
        <p:spPr>
          <a:xfrm>
            <a:off x="4965192" y="4242816"/>
            <a:ext cx="3474720" cy="256032"/>
          </a:xfrm>
          <a:prstGeom prst="rect">
            <a:avLst/>
          </a:prstGeom>
          <a:noFill/>
          <a:ln/>
        </p:spPr>
        <p:txBody>
          <a:bodyPr wrap="square" lIns="0" tIns="0" rIns="0" bIns="0" rtlCol="0" anchor="ctr"/>
          <a:lstStyle/>
          <a:p>
            <a:pPr marL="0" indent="0">
              <a:buNone/>
            </a:pPr>
            <a:r>
              <a:rPr lang="en-US" sz="950" dirty="0">
                <a:solidFill>
                  <a:srgbClr val="FFFFFF"/>
                </a:solidFill>
                <a:latin typeface="Courier New" pitchFamily="34" charset="0"/>
                <a:ea typeface="Courier New" pitchFamily="34" charset="-122"/>
                <a:cs typeface="Courier New" pitchFamily="34" charset="-120"/>
              </a:rPr>
              <a:t>2. Boxplot antes de regresión</a:t>
            </a:r>
            <a:endParaRPr lang="en-US" sz="950" dirty="0"/>
          </a:p>
        </p:txBody>
      </p:sp>
      <p:sp>
        <p:nvSpPr>
          <p:cNvPr id="28" name="Text 26"/>
          <p:cNvSpPr/>
          <p:nvPr/>
        </p:nvSpPr>
        <p:spPr>
          <a:xfrm>
            <a:off x="4965192" y="4517136"/>
            <a:ext cx="3474720" cy="256032"/>
          </a:xfrm>
          <a:prstGeom prst="rect">
            <a:avLst/>
          </a:prstGeom>
          <a:noFill/>
          <a:ln/>
        </p:spPr>
        <p:txBody>
          <a:bodyPr wrap="square" lIns="0" tIns="0" rIns="0" bIns="0" rtlCol="0" anchor="ctr"/>
          <a:lstStyle/>
          <a:p>
            <a:pPr marL="0" indent="0">
              <a:buNone/>
            </a:pPr>
            <a:r>
              <a:rPr lang="en-US" sz="950" dirty="0">
                <a:solidFill>
                  <a:srgbClr val="F9C74F"/>
                </a:solidFill>
                <a:latin typeface="Courier New" pitchFamily="34" charset="0"/>
                <a:ea typeface="Courier New" pitchFamily="34" charset="-122"/>
                <a:cs typeface="Courier New" pitchFamily="34" charset="-120"/>
              </a:rPr>
              <a:t>## Output esperado</a:t>
            </a:r>
            <a:endParaRPr lang="en-US" sz="950" dirty="0"/>
          </a:p>
        </p:txBody>
      </p:sp>
      <p:sp>
        <p:nvSpPr>
          <p:cNvPr id="29" name="Text 27"/>
          <p:cNvSpPr/>
          <p:nvPr/>
        </p:nvSpPr>
        <p:spPr>
          <a:xfrm>
            <a:off x="4965192" y="4791456"/>
            <a:ext cx="3474720" cy="256032"/>
          </a:xfrm>
          <a:prstGeom prst="rect">
            <a:avLst/>
          </a:prstGeom>
          <a:noFill/>
          <a:ln/>
        </p:spPr>
        <p:txBody>
          <a:bodyPr wrap="square" lIns="0" tIns="0" rIns="0" bIns="0" rtlCol="0" anchor="ctr"/>
          <a:lstStyle/>
          <a:p>
            <a:pPr marL="0" indent="0">
              <a:buNone/>
            </a:pPr>
            <a:r>
              <a:rPr lang="en-US" sz="950" dirty="0">
                <a:solidFill>
                  <a:srgbClr val="5EEAD4"/>
                </a:solidFill>
                <a:latin typeface="Courier New" pitchFamily="34" charset="0"/>
                <a:ea typeface="Courier New" pitchFamily="34" charset="-122"/>
                <a:cs typeface="Courier New" pitchFamily="34" charset="-120"/>
              </a:rPr>
              <a:t>Tabla índices + figura PNG 300dpi</a:t>
            </a:r>
            <a:endParaRPr lang="en-US" sz="950" dirty="0"/>
          </a:p>
        </p:txBody>
      </p:sp>
      <p:sp>
        <p:nvSpPr>
          <p:cNvPr id="30" name="Shape 28"/>
          <p:cNvSpPr/>
          <p:nvPr/>
        </p:nvSpPr>
        <p:spPr>
          <a:xfrm>
            <a:off x="365760" y="5468112"/>
            <a:ext cx="8412480" cy="566928"/>
          </a:xfrm>
          <a:prstGeom prst="roundRect">
            <a:avLst>
              <a:gd name="adj" fmla="val 12903"/>
            </a:avLst>
          </a:prstGeom>
          <a:solidFill>
            <a:srgbClr val="FAEEDA"/>
          </a:solidFill>
          <a:ln w="6350">
            <a:solidFill>
              <a:srgbClr val="C97B2A"/>
            </a:solidFill>
            <a:prstDash val="solid"/>
          </a:ln>
        </p:spPr>
        <p:txBody>
          <a:bodyPr/>
          <a:lstStyle/>
          <a:p>
            <a:endParaRPr lang="es-ES_tradnl"/>
          </a:p>
        </p:txBody>
      </p:sp>
      <p:sp>
        <p:nvSpPr>
          <p:cNvPr id="31" name="Text 29"/>
          <p:cNvSpPr/>
          <p:nvPr/>
        </p:nvSpPr>
        <p:spPr>
          <a:xfrm>
            <a:off x="548640" y="5541264"/>
            <a:ext cx="8046720" cy="420624"/>
          </a:xfrm>
          <a:prstGeom prst="rect">
            <a:avLst/>
          </a:prstGeom>
          <a:noFill/>
          <a:ln/>
        </p:spPr>
        <p:txBody>
          <a:bodyPr wrap="square" lIns="0" tIns="0" rIns="0" bIns="0" rtlCol="0" anchor="ctr"/>
          <a:lstStyle/>
          <a:p>
            <a:pPr marL="0" indent="0">
              <a:buNone/>
            </a:pPr>
            <a:r>
              <a:rPr lang="en-US" sz="1050" dirty="0">
                <a:solidFill>
                  <a:srgbClr val="C97B2A"/>
                </a:solidFill>
                <a:latin typeface="Calibri" pitchFamily="34" charset="0"/>
                <a:ea typeface="Calibri" pitchFamily="34" charset="-122"/>
                <a:cs typeface="Calibri" pitchFamily="34" charset="-120"/>
              </a:rPr>
              <a:t>La diferencia clave: el skill .md tiene frontmatter YAML (name + trigger) que le dice al agente CUÁNDO activarse. El CLAUDE.md no tiene eso — se lee siempre.</a:t>
            </a:r>
            <a:endParaRPr lang="en-US" sz="1050" dirty="0"/>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31">
    <p:bg>
      <p:bgPr>
        <a:solidFill>
          <a:srgbClr val="F8F8F6"/>
        </a:solidFill>
        <a:effectLst/>
      </p:bgPr>
    </p:bg>
    <p:spTree>
      <p:nvGrpSpPr>
        <p:cNvPr id="1" name=""/>
        <p:cNvGrpSpPr/>
        <p:nvPr/>
      </p:nvGrpSpPr>
      <p:grpSpPr>
        <a:xfrm>
          <a:off x="0" y="0"/>
          <a:ext cx="0" cy="0"/>
          <a:chOff x="0" y="0"/>
          <a:chExt cx="0" cy="0"/>
        </a:xfrm>
      </p:grpSpPr>
      <p:sp>
        <p:nvSpPr>
          <p:cNvPr id="2" name="Text 0"/>
          <p:cNvSpPr/>
          <p:nvPr/>
        </p:nvSpPr>
        <p:spPr>
          <a:xfrm>
            <a:off x="457200" y="256032"/>
            <a:ext cx="8229600" cy="566928"/>
          </a:xfrm>
          <a:prstGeom prst="rect">
            <a:avLst/>
          </a:prstGeom>
          <a:noFill/>
          <a:ln/>
        </p:spPr>
        <p:txBody>
          <a:bodyPr wrap="square" lIns="0" tIns="0" rIns="0" bIns="0" rtlCol="0" anchor="ctr"/>
          <a:lstStyle/>
          <a:p>
            <a:pPr marL="0" indent="0">
              <a:buNone/>
            </a:pPr>
            <a:r>
              <a:rPr lang="en-US" sz="2700" b="1" dirty="0">
                <a:solidFill>
                  <a:srgbClr val="2C2C2A"/>
                </a:solidFill>
                <a:latin typeface="Cambria" pitchFamily="34" charset="0"/>
                <a:ea typeface="Cambria" pitchFamily="34" charset="-122"/>
                <a:cs typeface="Cambria" pitchFamily="34" charset="-120"/>
              </a:rPr>
              <a:t>Conectores MCP</a:t>
            </a:r>
            <a:endParaRPr lang="en-US" sz="2700" dirty="0"/>
          </a:p>
        </p:txBody>
      </p:sp>
      <p:sp>
        <p:nvSpPr>
          <p:cNvPr id="3" name="Text 1"/>
          <p:cNvSpPr/>
          <p:nvPr/>
        </p:nvSpPr>
        <p:spPr>
          <a:xfrm>
            <a:off x="457200" y="822960"/>
            <a:ext cx="8229600" cy="320040"/>
          </a:xfrm>
          <a:prstGeom prst="rect">
            <a:avLst/>
          </a:prstGeom>
          <a:noFill/>
          <a:ln/>
        </p:spPr>
        <p:txBody>
          <a:bodyPr wrap="square" lIns="0" tIns="0" rIns="0" bIns="0" rtlCol="0" anchor="ctr"/>
          <a:lstStyle/>
          <a:p>
            <a:pPr marL="0" indent="0">
              <a:buNone/>
            </a:pPr>
            <a:r>
              <a:rPr lang="en-US" sz="1300" i="1" dirty="0">
                <a:solidFill>
                  <a:srgbClr val="5F5E5A"/>
                </a:solidFill>
                <a:latin typeface="Calibri" pitchFamily="34" charset="0"/>
                <a:ea typeface="Calibri" pitchFamily="34" charset="-122"/>
                <a:cs typeface="Calibri" pitchFamily="34" charset="-120"/>
              </a:rPr>
              <a:t>Cómo conectar Claude Code a fuentes de datos externas</a:t>
            </a:r>
            <a:endParaRPr lang="en-US" sz="1300" dirty="0"/>
          </a:p>
        </p:txBody>
      </p:sp>
      <p:sp>
        <p:nvSpPr>
          <p:cNvPr id="4" name="Shape 2"/>
          <p:cNvSpPr/>
          <p:nvPr/>
        </p:nvSpPr>
        <p:spPr>
          <a:xfrm>
            <a:off x="365760" y="1298448"/>
            <a:ext cx="8412480" cy="594360"/>
          </a:xfrm>
          <a:prstGeom prst="roundRect">
            <a:avLst>
              <a:gd name="adj" fmla="val 15385"/>
            </a:avLst>
          </a:prstGeom>
          <a:solidFill>
            <a:srgbClr val="EEEDFE"/>
          </a:solidFill>
          <a:ln w="6350">
            <a:solidFill>
              <a:srgbClr val="534AB7"/>
            </a:solidFill>
            <a:prstDash val="solid"/>
          </a:ln>
        </p:spPr>
        <p:txBody>
          <a:bodyPr/>
          <a:lstStyle/>
          <a:p>
            <a:endParaRPr lang="es-ES_tradnl"/>
          </a:p>
        </p:txBody>
      </p:sp>
      <p:sp>
        <p:nvSpPr>
          <p:cNvPr id="5" name="Text 3"/>
          <p:cNvSpPr/>
          <p:nvPr/>
        </p:nvSpPr>
        <p:spPr>
          <a:xfrm>
            <a:off x="548640" y="1371600"/>
            <a:ext cx="8046720" cy="457200"/>
          </a:xfrm>
          <a:prstGeom prst="rect">
            <a:avLst/>
          </a:prstGeom>
          <a:noFill/>
          <a:ln/>
        </p:spPr>
        <p:txBody>
          <a:bodyPr wrap="square" lIns="0" tIns="0" rIns="0" bIns="0" rtlCol="0" anchor="ctr"/>
          <a:lstStyle/>
          <a:p>
            <a:pPr marL="0" indent="0">
              <a:buNone/>
            </a:pPr>
            <a:r>
              <a:rPr lang="en-US" sz="1150" i="1" dirty="0">
                <a:solidFill>
                  <a:srgbClr val="534AB7"/>
                </a:solidFill>
                <a:latin typeface="Calibri" pitchFamily="34" charset="0"/>
                <a:ea typeface="Calibri" pitchFamily="34" charset="-122"/>
                <a:cs typeface="Calibri" pitchFamily="34" charset="-120"/>
              </a:rPr>
              <a:t>MCP (Model Context Protocol) permite conectar Claude Code a sistemas externos sin copiar y pegar datos manualmente.</a:t>
            </a:r>
            <a:endParaRPr lang="en-US" sz="1150" dirty="0"/>
          </a:p>
        </p:txBody>
      </p:sp>
      <p:sp>
        <p:nvSpPr>
          <p:cNvPr id="6" name="Shape 4"/>
          <p:cNvSpPr/>
          <p:nvPr/>
        </p:nvSpPr>
        <p:spPr>
          <a:xfrm>
            <a:off x="320040" y="2029968"/>
            <a:ext cx="2834640" cy="3090672"/>
          </a:xfrm>
          <a:prstGeom prst="roundRect">
            <a:avLst>
              <a:gd name="adj" fmla="val 3226"/>
            </a:avLst>
          </a:prstGeom>
          <a:solidFill>
            <a:srgbClr val="E1F5EE"/>
          </a:solidFill>
          <a:ln w="10160">
            <a:solidFill>
              <a:srgbClr val="1D9E75"/>
            </a:solidFill>
            <a:prstDash val="solid"/>
          </a:ln>
        </p:spPr>
        <p:txBody>
          <a:bodyPr/>
          <a:lstStyle/>
          <a:p>
            <a:endParaRPr lang="es-ES_tradnl"/>
          </a:p>
        </p:txBody>
      </p:sp>
      <p:sp>
        <p:nvSpPr>
          <p:cNvPr id="7" name="Text 5"/>
          <p:cNvSpPr/>
          <p:nvPr/>
        </p:nvSpPr>
        <p:spPr>
          <a:xfrm>
            <a:off x="457200" y="2121408"/>
            <a:ext cx="2560320" cy="411480"/>
          </a:xfrm>
          <a:prstGeom prst="rect">
            <a:avLst/>
          </a:prstGeom>
          <a:noFill/>
          <a:ln/>
        </p:spPr>
        <p:txBody>
          <a:bodyPr wrap="square" lIns="0" tIns="0" rIns="0" bIns="0" rtlCol="0" anchor="ctr"/>
          <a:lstStyle/>
          <a:p>
            <a:pPr marL="0" indent="0">
              <a:buNone/>
            </a:pPr>
            <a:r>
              <a:rPr lang="en-US" sz="1050" b="1" dirty="0">
                <a:solidFill>
                  <a:srgbClr val="1D9E75"/>
                </a:solidFill>
                <a:latin typeface="Calibri" pitchFamily="34" charset="0"/>
                <a:ea typeface="Calibri" pitchFamily="34" charset="-122"/>
                <a:cs typeface="Calibri" pitchFamily="34" charset="-120"/>
              </a:rPr>
              <a:t>Lo que ya funciona hoy</a:t>
            </a:r>
            <a:endParaRPr lang="en-US" sz="1050" dirty="0"/>
          </a:p>
        </p:txBody>
      </p:sp>
      <p:sp>
        <p:nvSpPr>
          <p:cNvPr id="8" name="Text 6"/>
          <p:cNvSpPr/>
          <p:nvPr/>
        </p:nvSpPr>
        <p:spPr>
          <a:xfrm>
            <a:off x="457200" y="2606040"/>
            <a:ext cx="2560320" cy="2377440"/>
          </a:xfrm>
          <a:prstGeom prst="rect">
            <a:avLst/>
          </a:prstGeom>
          <a:noFill/>
          <a:ln/>
        </p:spPr>
        <p:txBody>
          <a:bodyPr wrap="square" rtlCol="0" anchor="ctr"/>
          <a:lstStyle/>
          <a:p>
            <a:pPr marL="342900" indent="-342900">
              <a:spcAft>
                <a:spcPts val="500"/>
              </a:spcAft>
              <a:buSzPct val="100000"/>
              <a:buChar char="•"/>
            </a:pPr>
            <a:r>
              <a:rPr lang="en-US" sz="1000" dirty="0">
                <a:solidFill>
                  <a:srgbClr val="5F5E5A"/>
                </a:solidFill>
                <a:latin typeface="Calibri" pitchFamily="34" charset="0"/>
                <a:ea typeface="Calibri" pitchFamily="34" charset="-122"/>
                <a:cs typeface="Calibri" pitchFamily="34" charset="-120"/>
              </a:rPr>
              <a:t>Leer repositorios de GitHub directamente</a:t>
            </a:r>
            <a:endParaRPr lang="en-US" sz="1000" dirty="0"/>
          </a:p>
          <a:p>
            <a:pPr marL="342900" indent="-342900">
              <a:spcAft>
                <a:spcPts val="500"/>
              </a:spcAft>
              <a:buSzPct val="100000"/>
              <a:buChar char="•"/>
            </a:pPr>
            <a:r>
              <a:rPr lang="en-US" sz="1000" dirty="0">
                <a:solidFill>
                  <a:srgbClr val="5F5E5A"/>
                </a:solidFill>
                <a:latin typeface="Calibri" pitchFamily="34" charset="0"/>
                <a:ea typeface="Calibri" pitchFamily="34" charset="-122"/>
                <a:cs typeface="Calibri" pitchFamily="34" charset="-120"/>
              </a:rPr>
              <a:t>Acceder a documentación online en tiempo real</a:t>
            </a:r>
            <a:endParaRPr lang="en-US" sz="1000" dirty="0"/>
          </a:p>
          <a:p>
            <a:pPr marL="342900" indent="-342900">
              <a:spcAft>
                <a:spcPts val="500"/>
              </a:spcAft>
              <a:buSzPct val="100000"/>
              <a:buChar char="•"/>
            </a:pPr>
            <a:r>
              <a:rPr lang="en-US" sz="1000" dirty="0">
                <a:solidFill>
                  <a:srgbClr val="5F5E5A"/>
                </a:solidFill>
                <a:latin typeface="Calibri" pitchFamily="34" charset="0"/>
                <a:ea typeface="Calibri" pitchFamily="34" charset="-122"/>
                <a:cs typeface="Calibri" pitchFamily="34" charset="-120"/>
              </a:rPr>
              <a:t>Conectarse a sistemas internos de laboratorio</a:t>
            </a:r>
            <a:endParaRPr lang="en-US" sz="1000" dirty="0"/>
          </a:p>
        </p:txBody>
      </p:sp>
      <p:sp>
        <p:nvSpPr>
          <p:cNvPr id="9" name="Shape 7"/>
          <p:cNvSpPr/>
          <p:nvPr/>
        </p:nvSpPr>
        <p:spPr>
          <a:xfrm>
            <a:off x="3291840" y="2029968"/>
            <a:ext cx="2834640" cy="3090672"/>
          </a:xfrm>
          <a:prstGeom prst="roundRect">
            <a:avLst>
              <a:gd name="adj" fmla="val 3226"/>
            </a:avLst>
          </a:prstGeom>
          <a:solidFill>
            <a:srgbClr val="EEEDFE"/>
          </a:solidFill>
          <a:ln w="10160">
            <a:solidFill>
              <a:srgbClr val="534AB7"/>
            </a:solidFill>
            <a:prstDash val="solid"/>
          </a:ln>
        </p:spPr>
        <p:txBody>
          <a:bodyPr/>
          <a:lstStyle/>
          <a:p>
            <a:endParaRPr lang="es-ES_tradnl"/>
          </a:p>
        </p:txBody>
      </p:sp>
      <p:sp>
        <p:nvSpPr>
          <p:cNvPr id="10" name="Text 8"/>
          <p:cNvSpPr/>
          <p:nvPr/>
        </p:nvSpPr>
        <p:spPr>
          <a:xfrm>
            <a:off x="3429000" y="2121408"/>
            <a:ext cx="2560320" cy="411480"/>
          </a:xfrm>
          <a:prstGeom prst="rect">
            <a:avLst/>
          </a:prstGeom>
          <a:noFill/>
          <a:ln/>
        </p:spPr>
        <p:txBody>
          <a:bodyPr wrap="square" lIns="0" tIns="0" rIns="0" bIns="0" rtlCol="0" anchor="ctr"/>
          <a:lstStyle/>
          <a:p>
            <a:pPr marL="0" indent="0">
              <a:buNone/>
            </a:pPr>
            <a:r>
              <a:rPr lang="en-US" sz="1050" b="1" dirty="0">
                <a:solidFill>
                  <a:srgbClr val="534AB7"/>
                </a:solidFill>
                <a:latin typeface="Calibri" pitchFamily="34" charset="0"/>
                <a:ea typeface="Calibri" pitchFamily="34" charset="-122"/>
                <a:cs typeface="Calibri" pitchFamily="34" charset="-120"/>
              </a:rPr>
              <a:t>Para bioinformática en el futuro</a:t>
            </a:r>
            <a:endParaRPr lang="en-US" sz="1050" dirty="0"/>
          </a:p>
        </p:txBody>
      </p:sp>
      <p:sp>
        <p:nvSpPr>
          <p:cNvPr id="11" name="Text 9"/>
          <p:cNvSpPr/>
          <p:nvPr/>
        </p:nvSpPr>
        <p:spPr>
          <a:xfrm>
            <a:off x="3429000" y="2606040"/>
            <a:ext cx="2560320" cy="2377440"/>
          </a:xfrm>
          <a:prstGeom prst="rect">
            <a:avLst/>
          </a:prstGeom>
          <a:noFill/>
          <a:ln/>
        </p:spPr>
        <p:txBody>
          <a:bodyPr wrap="square" rtlCol="0" anchor="ctr"/>
          <a:lstStyle/>
          <a:p>
            <a:pPr marL="342900" indent="-342900">
              <a:spcAft>
                <a:spcPts val="500"/>
              </a:spcAft>
              <a:buSzPct val="100000"/>
              <a:buChar char="•"/>
            </a:pPr>
            <a:r>
              <a:rPr lang="en-US" sz="1000" dirty="0">
                <a:solidFill>
                  <a:srgbClr val="5F5E5A"/>
                </a:solidFill>
                <a:latin typeface="Calibri" pitchFamily="34" charset="0"/>
                <a:ea typeface="Calibri" pitchFamily="34" charset="-122"/>
                <a:cs typeface="Calibri" pitchFamily="34" charset="-120"/>
              </a:rPr>
              <a:t>Consultar NCBI y descargar por accession number</a:t>
            </a:r>
            <a:endParaRPr lang="en-US" sz="1000" dirty="0"/>
          </a:p>
          <a:p>
            <a:pPr marL="342900" indent="-342900">
              <a:spcAft>
                <a:spcPts val="500"/>
              </a:spcAft>
              <a:buSzPct val="100000"/>
              <a:buChar char="•"/>
            </a:pPr>
            <a:r>
              <a:rPr lang="en-US" sz="1000" dirty="0">
                <a:solidFill>
                  <a:srgbClr val="5F5E5A"/>
                </a:solidFill>
                <a:latin typeface="Calibri" pitchFamily="34" charset="0"/>
                <a:ea typeface="Calibri" pitchFamily="34" charset="-122"/>
                <a:cs typeface="Calibri" pitchFamily="34" charset="-120"/>
              </a:rPr>
              <a:t>Acceder a tablas de EBI o QIITA directamente</a:t>
            </a:r>
            <a:endParaRPr lang="en-US" sz="1000" dirty="0"/>
          </a:p>
          <a:p>
            <a:pPr marL="342900" indent="-342900">
              <a:spcAft>
                <a:spcPts val="500"/>
              </a:spcAft>
              <a:buSzPct val="100000"/>
              <a:buChar char="•"/>
            </a:pPr>
            <a:r>
              <a:rPr lang="en-US" sz="1000" dirty="0">
                <a:solidFill>
                  <a:srgbClr val="5F5E5A"/>
                </a:solidFill>
                <a:latin typeface="Calibri" pitchFamily="34" charset="0"/>
                <a:ea typeface="Calibri" pitchFamily="34" charset="-122"/>
                <a:cs typeface="Calibri" pitchFamily="34" charset="-120"/>
              </a:rPr>
              <a:t>Conectar a pipelines en la nube (AWS, Galaxy)</a:t>
            </a:r>
            <a:endParaRPr lang="en-US" sz="1000" dirty="0"/>
          </a:p>
        </p:txBody>
      </p:sp>
      <p:sp>
        <p:nvSpPr>
          <p:cNvPr id="12" name="Shape 10"/>
          <p:cNvSpPr/>
          <p:nvPr/>
        </p:nvSpPr>
        <p:spPr>
          <a:xfrm>
            <a:off x="6263640" y="2029968"/>
            <a:ext cx="2834640" cy="3090672"/>
          </a:xfrm>
          <a:prstGeom prst="roundRect">
            <a:avLst>
              <a:gd name="adj" fmla="val 3226"/>
            </a:avLst>
          </a:prstGeom>
          <a:solidFill>
            <a:srgbClr val="FAEEDA"/>
          </a:solidFill>
          <a:ln w="10160">
            <a:solidFill>
              <a:srgbClr val="C97B2A"/>
            </a:solidFill>
            <a:prstDash val="solid"/>
          </a:ln>
        </p:spPr>
        <p:txBody>
          <a:bodyPr/>
          <a:lstStyle/>
          <a:p>
            <a:endParaRPr lang="es-ES_tradnl"/>
          </a:p>
        </p:txBody>
      </p:sp>
      <p:sp>
        <p:nvSpPr>
          <p:cNvPr id="13" name="Text 11"/>
          <p:cNvSpPr/>
          <p:nvPr/>
        </p:nvSpPr>
        <p:spPr>
          <a:xfrm>
            <a:off x="6400800" y="2121408"/>
            <a:ext cx="2560320" cy="411480"/>
          </a:xfrm>
          <a:prstGeom prst="rect">
            <a:avLst/>
          </a:prstGeom>
          <a:noFill/>
          <a:ln/>
        </p:spPr>
        <p:txBody>
          <a:bodyPr wrap="square" lIns="0" tIns="0" rIns="0" bIns="0" rtlCol="0" anchor="ctr"/>
          <a:lstStyle/>
          <a:p>
            <a:pPr marL="0" indent="0">
              <a:buNone/>
            </a:pPr>
            <a:r>
              <a:rPr lang="en-US" sz="1050" b="1" dirty="0">
                <a:solidFill>
                  <a:srgbClr val="C97B2A"/>
                </a:solidFill>
                <a:latin typeface="Calibri" pitchFamily="34" charset="0"/>
                <a:ea typeface="Calibri" pitchFamily="34" charset="-122"/>
                <a:cs typeface="Calibri" pitchFamily="34" charset="-120"/>
              </a:rPr>
              <a:t>¿Por qué importa ahora?</a:t>
            </a:r>
            <a:endParaRPr lang="en-US" sz="1050" dirty="0"/>
          </a:p>
        </p:txBody>
      </p:sp>
      <p:sp>
        <p:nvSpPr>
          <p:cNvPr id="14" name="Text 12"/>
          <p:cNvSpPr/>
          <p:nvPr/>
        </p:nvSpPr>
        <p:spPr>
          <a:xfrm>
            <a:off x="6400800" y="2606040"/>
            <a:ext cx="2560320" cy="2377440"/>
          </a:xfrm>
          <a:prstGeom prst="rect">
            <a:avLst/>
          </a:prstGeom>
          <a:noFill/>
          <a:ln/>
        </p:spPr>
        <p:txBody>
          <a:bodyPr wrap="square" rtlCol="0" anchor="ctr"/>
          <a:lstStyle/>
          <a:p>
            <a:pPr marL="342900" indent="-342900">
              <a:spcAft>
                <a:spcPts val="500"/>
              </a:spcAft>
              <a:buSzPct val="100000"/>
              <a:buChar char="•"/>
            </a:pPr>
            <a:r>
              <a:rPr lang="en-US" sz="1000" dirty="0">
                <a:solidFill>
                  <a:srgbClr val="5F5E5A"/>
                </a:solidFill>
                <a:latin typeface="Calibri" pitchFamily="34" charset="0"/>
                <a:ea typeface="Calibri" pitchFamily="34" charset="-122"/>
                <a:cs typeface="Calibri" pitchFamily="34" charset="-120"/>
              </a:rPr>
              <a:t>Hoy lo usaremos conceptualmente con una demo</a:t>
            </a:r>
            <a:endParaRPr lang="en-US" sz="1000" dirty="0"/>
          </a:p>
          <a:p>
            <a:pPr marL="342900" indent="-342900">
              <a:spcAft>
                <a:spcPts val="500"/>
              </a:spcAft>
              <a:buSzPct val="100000"/>
              <a:buChar char="•"/>
            </a:pPr>
            <a:r>
              <a:rPr lang="en-US" sz="1000" dirty="0">
                <a:solidFill>
                  <a:srgbClr val="5F5E5A"/>
                </a:solidFill>
                <a:latin typeface="Calibri" pitchFamily="34" charset="0"/>
                <a:ea typeface="Calibri" pitchFamily="34" charset="-122"/>
                <a:cs typeface="Calibri" pitchFamily="34" charset="-120"/>
              </a:rPr>
              <a:t>El curso avanzado incluye configuración de MCPs propios</a:t>
            </a:r>
            <a:endParaRPr lang="en-US" sz="1000" dirty="0"/>
          </a:p>
          <a:p>
            <a:pPr marL="342900" indent="-342900">
              <a:spcAft>
                <a:spcPts val="500"/>
              </a:spcAft>
              <a:buSzPct val="100000"/>
              <a:buChar char="•"/>
            </a:pPr>
            <a:r>
              <a:rPr lang="en-US" sz="1000" dirty="0">
                <a:solidFill>
                  <a:srgbClr val="5F5E5A"/>
                </a:solidFill>
                <a:latin typeface="Calibri" pitchFamily="34" charset="0"/>
                <a:ea typeface="Calibri" pitchFamily="34" charset="-122"/>
                <a:cs typeface="Calibri" pitchFamily="34" charset="-120"/>
              </a:rPr>
              <a:t>Es la dirección hacia la que va toda la bioinformática con IA</a:t>
            </a:r>
            <a:endParaRPr lang="en-US" sz="1000" dirty="0"/>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32">
    <p:bg>
      <p:bgPr>
        <a:solidFill>
          <a:srgbClr val="F8F8F6"/>
        </a:solidFill>
        <a:effectLst/>
      </p:bgPr>
    </p:bg>
    <p:spTree>
      <p:nvGrpSpPr>
        <p:cNvPr id="1" name=""/>
        <p:cNvGrpSpPr/>
        <p:nvPr/>
      </p:nvGrpSpPr>
      <p:grpSpPr>
        <a:xfrm>
          <a:off x="0" y="0"/>
          <a:ext cx="0" cy="0"/>
          <a:chOff x="0" y="0"/>
          <a:chExt cx="0" cy="0"/>
        </a:xfrm>
      </p:grpSpPr>
      <p:sp>
        <p:nvSpPr>
          <p:cNvPr id="2" name="Text 0"/>
          <p:cNvSpPr/>
          <p:nvPr/>
        </p:nvSpPr>
        <p:spPr>
          <a:xfrm>
            <a:off x="457200" y="256032"/>
            <a:ext cx="8229600" cy="566928"/>
          </a:xfrm>
          <a:prstGeom prst="rect">
            <a:avLst/>
          </a:prstGeom>
          <a:noFill/>
          <a:ln/>
        </p:spPr>
        <p:txBody>
          <a:bodyPr wrap="square" lIns="0" tIns="0" rIns="0" bIns="0" rtlCol="0" anchor="ctr"/>
          <a:lstStyle/>
          <a:p>
            <a:pPr marL="0" indent="0">
              <a:buNone/>
            </a:pPr>
            <a:r>
              <a:rPr lang="en-US" sz="2700" b="1" dirty="0">
                <a:solidFill>
                  <a:srgbClr val="2C2C2A"/>
                </a:solidFill>
                <a:latin typeface="Cambria" pitchFamily="34" charset="0"/>
                <a:ea typeface="Cambria" pitchFamily="34" charset="-122"/>
                <a:cs typeface="Cambria" pitchFamily="34" charset="-120"/>
              </a:rPr>
              <a:t>Claude para ciencia: el ecosistema en crecimiento</a:t>
            </a:r>
            <a:endParaRPr lang="en-US" sz="2700" dirty="0"/>
          </a:p>
        </p:txBody>
      </p:sp>
      <p:sp>
        <p:nvSpPr>
          <p:cNvPr id="3" name="Text 1"/>
          <p:cNvSpPr/>
          <p:nvPr/>
        </p:nvSpPr>
        <p:spPr>
          <a:xfrm>
            <a:off x="457200" y="822960"/>
            <a:ext cx="8229600" cy="320040"/>
          </a:xfrm>
          <a:prstGeom prst="rect">
            <a:avLst/>
          </a:prstGeom>
          <a:noFill/>
          <a:ln/>
        </p:spPr>
        <p:txBody>
          <a:bodyPr wrap="square" lIns="0" tIns="0" rIns="0" bIns="0" rtlCol="0" anchor="ctr"/>
          <a:lstStyle/>
          <a:p>
            <a:pPr marL="0" indent="0">
              <a:buNone/>
            </a:pPr>
            <a:r>
              <a:rPr lang="en-US" sz="1300" i="1" dirty="0">
                <a:solidFill>
                  <a:srgbClr val="5F5E5A"/>
                </a:solidFill>
                <a:latin typeface="Calibri" pitchFamily="34" charset="0"/>
                <a:ea typeface="Calibri" pitchFamily="34" charset="-122"/>
                <a:cs typeface="Calibri" pitchFamily="34" charset="-120"/>
              </a:rPr>
              <a:t>MCPs y skills especializados para investigación científica</a:t>
            </a:r>
            <a:endParaRPr lang="en-US" sz="1300" dirty="0"/>
          </a:p>
        </p:txBody>
      </p:sp>
      <p:sp>
        <p:nvSpPr>
          <p:cNvPr id="4" name="Shape 2"/>
          <p:cNvSpPr/>
          <p:nvPr/>
        </p:nvSpPr>
        <p:spPr>
          <a:xfrm>
            <a:off x="365760" y="1261872"/>
            <a:ext cx="8412480" cy="594360"/>
          </a:xfrm>
          <a:prstGeom prst="roundRect">
            <a:avLst>
              <a:gd name="adj" fmla="val 12308"/>
            </a:avLst>
          </a:prstGeom>
          <a:solidFill>
            <a:srgbClr val="EEEDFE"/>
          </a:solidFill>
          <a:ln w="6350">
            <a:solidFill>
              <a:srgbClr val="534AB7"/>
            </a:solidFill>
            <a:prstDash val="solid"/>
          </a:ln>
        </p:spPr>
        <p:txBody>
          <a:bodyPr/>
          <a:lstStyle/>
          <a:p>
            <a:endParaRPr lang="es-ES_tradnl"/>
          </a:p>
        </p:txBody>
      </p:sp>
      <p:sp>
        <p:nvSpPr>
          <p:cNvPr id="5" name="Text 3"/>
          <p:cNvSpPr/>
          <p:nvPr/>
        </p:nvSpPr>
        <p:spPr>
          <a:xfrm>
            <a:off x="548640" y="1335024"/>
            <a:ext cx="8046720" cy="438912"/>
          </a:xfrm>
          <a:prstGeom prst="rect">
            <a:avLst/>
          </a:prstGeom>
          <a:noFill/>
          <a:ln/>
        </p:spPr>
        <p:txBody>
          <a:bodyPr wrap="square" lIns="0" tIns="0" rIns="0" bIns="0" rtlCol="0" anchor="ctr"/>
          <a:lstStyle/>
          <a:p>
            <a:pPr marL="0" indent="0">
              <a:buNone/>
            </a:pPr>
            <a:r>
              <a:rPr lang="en-US" sz="1100" i="1" dirty="0">
                <a:solidFill>
                  <a:srgbClr val="534AB7"/>
                </a:solidFill>
                <a:latin typeface="Calibri" pitchFamily="34" charset="0"/>
                <a:ea typeface="Calibri" pitchFamily="34" charset="-122"/>
                <a:cs typeface="Calibri" pitchFamily="34" charset="-120"/>
              </a:rPr>
              <a:t>Anthropic y la comunidad científica están construyendo un ecosistema de herramientas especializadas que convierten a Claude Code en un asistente de investigación completo.</a:t>
            </a:r>
            <a:endParaRPr lang="en-US" sz="1100" dirty="0"/>
          </a:p>
        </p:txBody>
      </p:sp>
      <p:sp>
        <p:nvSpPr>
          <p:cNvPr id="6" name="Shape 4"/>
          <p:cNvSpPr/>
          <p:nvPr/>
        </p:nvSpPr>
        <p:spPr>
          <a:xfrm>
            <a:off x="320040" y="1993392"/>
            <a:ext cx="2834640" cy="1417320"/>
          </a:xfrm>
          <a:prstGeom prst="roundRect">
            <a:avLst>
              <a:gd name="adj" fmla="val 6452"/>
            </a:avLst>
          </a:prstGeom>
          <a:solidFill>
            <a:srgbClr val="FFFFFF"/>
          </a:solidFill>
          <a:ln w="6350">
            <a:solidFill>
              <a:srgbClr val="D3D1C7"/>
            </a:solidFill>
            <a:prstDash val="solid"/>
          </a:ln>
          <a:effectLst>
            <a:outerShdw blurRad="88900" dist="25400" dir="2700000" algn="bl" rotWithShape="0">
              <a:srgbClr val="000000">
                <a:alpha val="11000"/>
              </a:srgbClr>
            </a:outerShdw>
          </a:effectLst>
        </p:spPr>
        <p:txBody>
          <a:bodyPr/>
          <a:lstStyle/>
          <a:p>
            <a:endParaRPr lang="es-ES_tradnl"/>
          </a:p>
        </p:txBody>
      </p:sp>
      <p:sp>
        <p:nvSpPr>
          <p:cNvPr id="7" name="Text 5"/>
          <p:cNvSpPr/>
          <p:nvPr/>
        </p:nvSpPr>
        <p:spPr>
          <a:xfrm>
            <a:off x="457200" y="2084832"/>
            <a:ext cx="2560320" cy="365760"/>
          </a:xfrm>
          <a:prstGeom prst="rect">
            <a:avLst/>
          </a:prstGeom>
          <a:noFill/>
          <a:ln/>
        </p:spPr>
        <p:txBody>
          <a:bodyPr wrap="square" lIns="0" tIns="0" rIns="0" bIns="0" rtlCol="0" anchor="ctr"/>
          <a:lstStyle/>
          <a:p>
            <a:pPr marL="0" indent="0">
              <a:buNone/>
            </a:pPr>
            <a:r>
              <a:rPr lang="en-US" sz="1000" b="1" dirty="0">
                <a:solidFill>
                  <a:srgbClr val="534AB7"/>
                </a:solidFill>
                <a:latin typeface="Calibri" pitchFamily="34" charset="0"/>
                <a:ea typeface="Calibri" pitchFamily="34" charset="-122"/>
                <a:cs typeface="Calibri" pitchFamily="34" charset="-120"/>
              </a:rPr>
              <a:t>📚  MCP · Literatura científica</a:t>
            </a:r>
            <a:endParaRPr lang="en-US" sz="1000" dirty="0"/>
          </a:p>
        </p:txBody>
      </p:sp>
      <p:sp>
        <p:nvSpPr>
          <p:cNvPr id="8" name="Text 6"/>
          <p:cNvSpPr/>
          <p:nvPr/>
        </p:nvSpPr>
        <p:spPr>
          <a:xfrm>
            <a:off x="457200" y="2468880"/>
            <a:ext cx="2560320" cy="841248"/>
          </a:xfrm>
          <a:prstGeom prst="rect">
            <a:avLst/>
          </a:prstGeom>
          <a:noFill/>
          <a:ln/>
        </p:spPr>
        <p:txBody>
          <a:bodyPr wrap="square" lIns="0" tIns="0" rIns="0" bIns="0" rtlCol="0" anchor="ctr"/>
          <a:lstStyle/>
          <a:p>
            <a:pPr marL="0" indent="0">
              <a:buNone/>
            </a:pPr>
            <a:r>
              <a:rPr lang="en-US" sz="950" dirty="0">
                <a:solidFill>
                  <a:srgbClr val="5F5E5A"/>
                </a:solidFill>
                <a:latin typeface="Calibri" pitchFamily="34" charset="0"/>
                <a:ea typeface="Calibri" pitchFamily="34" charset="-122"/>
                <a:cs typeface="Calibri" pitchFamily="34" charset="-120"/>
              </a:rPr>
              <a:t>PubMed, Semantic Scholar y arXiv: buscar papers por pregunta, descargar abstracts, extraer métodos y comparar resultados — sin salir de la terminal.</a:t>
            </a:r>
            <a:endParaRPr lang="en-US" sz="950" dirty="0"/>
          </a:p>
        </p:txBody>
      </p:sp>
      <p:sp>
        <p:nvSpPr>
          <p:cNvPr id="9" name="Shape 7"/>
          <p:cNvSpPr/>
          <p:nvPr/>
        </p:nvSpPr>
        <p:spPr>
          <a:xfrm>
            <a:off x="3291840" y="1993392"/>
            <a:ext cx="2834640" cy="1417320"/>
          </a:xfrm>
          <a:prstGeom prst="roundRect">
            <a:avLst>
              <a:gd name="adj" fmla="val 6452"/>
            </a:avLst>
          </a:prstGeom>
          <a:solidFill>
            <a:srgbClr val="FFFFFF"/>
          </a:solidFill>
          <a:ln w="6350">
            <a:solidFill>
              <a:srgbClr val="D3D1C7"/>
            </a:solidFill>
            <a:prstDash val="solid"/>
          </a:ln>
          <a:effectLst>
            <a:outerShdw blurRad="88900" dist="25400" dir="2700000" algn="bl" rotWithShape="0">
              <a:srgbClr val="000000">
                <a:alpha val="11000"/>
              </a:srgbClr>
            </a:outerShdw>
          </a:effectLst>
        </p:spPr>
        <p:txBody>
          <a:bodyPr/>
          <a:lstStyle/>
          <a:p>
            <a:endParaRPr lang="es-ES_tradnl"/>
          </a:p>
        </p:txBody>
      </p:sp>
      <p:sp>
        <p:nvSpPr>
          <p:cNvPr id="10" name="Text 8"/>
          <p:cNvSpPr/>
          <p:nvPr/>
        </p:nvSpPr>
        <p:spPr>
          <a:xfrm>
            <a:off x="3429000" y="2084832"/>
            <a:ext cx="2560320" cy="365760"/>
          </a:xfrm>
          <a:prstGeom prst="rect">
            <a:avLst/>
          </a:prstGeom>
          <a:noFill/>
          <a:ln/>
        </p:spPr>
        <p:txBody>
          <a:bodyPr wrap="square" lIns="0" tIns="0" rIns="0" bIns="0" rtlCol="0" anchor="ctr"/>
          <a:lstStyle/>
          <a:p>
            <a:pPr marL="0" indent="0">
              <a:buNone/>
            </a:pPr>
            <a:r>
              <a:rPr lang="en-US" sz="1000" b="1" dirty="0">
                <a:solidFill>
                  <a:srgbClr val="1D9E75"/>
                </a:solidFill>
                <a:latin typeface="Calibri" pitchFamily="34" charset="0"/>
                <a:ea typeface="Calibri" pitchFamily="34" charset="-122"/>
                <a:cs typeface="Calibri" pitchFamily="34" charset="-120"/>
              </a:rPr>
              <a:t>🧬  MCP · Bases de datos biológicas</a:t>
            </a:r>
            <a:endParaRPr lang="en-US" sz="1000" dirty="0"/>
          </a:p>
        </p:txBody>
      </p:sp>
      <p:sp>
        <p:nvSpPr>
          <p:cNvPr id="11" name="Text 9"/>
          <p:cNvSpPr/>
          <p:nvPr/>
        </p:nvSpPr>
        <p:spPr>
          <a:xfrm>
            <a:off x="3429000" y="2468880"/>
            <a:ext cx="2560320" cy="841248"/>
          </a:xfrm>
          <a:prstGeom prst="rect">
            <a:avLst/>
          </a:prstGeom>
          <a:noFill/>
          <a:ln/>
        </p:spPr>
        <p:txBody>
          <a:bodyPr wrap="square" lIns="0" tIns="0" rIns="0" bIns="0" rtlCol="0" anchor="ctr"/>
          <a:lstStyle/>
          <a:p>
            <a:pPr marL="0" indent="0">
              <a:buNone/>
            </a:pPr>
            <a:r>
              <a:rPr lang="en-US" sz="950" dirty="0">
                <a:solidFill>
                  <a:srgbClr val="5F5E5A"/>
                </a:solidFill>
                <a:latin typeface="Calibri" pitchFamily="34" charset="0"/>
                <a:ea typeface="Calibri" pitchFamily="34" charset="-122"/>
                <a:cs typeface="Calibri" pitchFamily="34" charset="-120"/>
              </a:rPr>
              <a:t>NCBI (genes, secuencias, taxonomía), UniProt (proteínas), KEGG (rutas metabólicas). Consulta directa por accession number o término.</a:t>
            </a:r>
            <a:endParaRPr lang="en-US" sz="950" dirty="0"/>
          </a:p>
        </p:txBody>
      </p:sp>
      <p:sp>
        <p:nvSpPr>
          <p:cNvPr id="12" name="Shape 10"/>
          <p:cNvSpPr/>
          <p:nvPr/>
        </p:nvSpPr>
        <p:spPr>
          <a:xfrm>
            <a:off x="6263640" y="1993392"/>
            <a:ext cx="2834640" cy="1417320"/>
          </a:xfrm>
          <a:prstGeom prst="roundRect">
            <a:avLst>
              <a:gd name="adj" fmla="val 6452"/>
            </a:avLst>
          </a:prstGeom>
          <a:solidFill>
            <a:srgbClr val="FFFFFF"/>
          </a:solidFill>
          <a:ln w="6350">
            <a:solidFill>
              <a:srgbClr val="D3D1C7"/>
            </a:solidFill>
            <a:prstDash val="solid"/>
          </a:ln>
          <a:effectLst>
            <a:outerShdw blurRad="88900" dist="25400" dir="2700000" algn="bl" rotWithShape="0">
              <a:srgbClr val="000000">
                <a:alpha val="11000"/>
              </a:srgbClr>
            </a:outerShdw>
          </a:effectLst>
        </p:spPr>
        <p:txBody>
          <a:bodyPr/>
          <a:lstStyle/>
          <a:p>
            <a:endParaRPr lang="es-ES_tradnl"/>
          </a:p>
        </p:txBody>
      </p:sp>
      <p:sp>
        <p:nvSpPr>
          <p:cNvPr id="13" name="Text 11"/>
          <p:cNvSpPr/>
          <p:nvPr/>
        </p:nvSpPr>
        <p:spPr>
          <a:xfrm>
            <a:off x="6400800" y="2084832"/>
            <a:ext cx="2560320" cy="365760"/>
          </a:xfrm>
          <a:prstGeom prst="rect">
            <a:avLst/>
          </a:prstGeom>
          <a:noFill/>
          <a:ln/>
        </p:spPr>
        <p:txBody>
          <a:bodyPr wrap="square" lIns="0" tIns="0" rIns="0" bIns="0" rtlCol="0" anchor="ctr"/>
          <a:lstStyle/>
          <a:p>
            <a:pPr marL="0" indent="0">
              <a:buNone/>
            </a:pPr>
            <a:r>
              <a:rPr lang="en-US" sz="1000" b="1" dirty="0">
                <a:solidFill>
                  <a:srgbClr val="C97B2A"/>
                </a:solidFill>
                <a:latin typeface="Calibri" pitchFamily="34" charset="0"/>
                <a:ea typeface="Calibri" pitchFamily="34" charset="-122"/>
                <a:cs typeface="Calibri" pitchFamily="34" charset="-120"/>
              </a:rPr>
              <a:t>🔬  MCP · Herramientas de análisis</a:t>
            </a:r>
            <a:endParaRPr lang="en-US" sz="1000" dirty="0"/>
          </a:p>
        </p:txBody>
      </p:sp>
      <p:sp>
        <p:nvSpPr>
          <p:cNvPr id="14" name="Text 12"/>
          <p:cNvSpPr/>
          <p:nvPr/>
        </p:nvSpPr>
        <p:spPr>
          <a:xfrm>
            <a:off x="6400800" y="2468880"/>
            <a:ext cx="2560320" cy="841248"/>
          </a:xfrm>
          <a:prstGeom prst="rect">
            <a:avLst/>
          </a:prstGeom>
          <a:noFill/>
          <a:ln/>
        </p:spPr>
        <p:txBody>
          <a:bodyPr wrap="square" lIns="0" tIns="0" rIns="0" bIns="0" rtlCol="0" anchor="ctr"/>
          <a:lstStyle/>
          <a:p>
            <a:pPr marL="0" indent="0">
              <a:buNone/>
            </a:pPr>
            <a:r>
              <a:rPr lang="en-US" sz="950" dirty="0">
                <a:solidFill>
                  <a:srgbClr val="5F5E5A"/>
                </a:solidFill>
                <a:latin typeface="Calibri" pitchFamily="34" charset="0"/>
                <a:ea typeface="Calibri" pitchFamily="34" charset="-122"/>
                <a:cs typeface="Calibri" pitchFamily="34" charset="-120"/>
              </a:rPr>
              <a:t>Conexión a R/Bioconductor, Galaxy, Snakemake. Ejecutar pipelines completos desde Claude Code y recibir los resultados de vuelta.</a:t>
            </a:r>
            <a:endParaRPr lang="en-US" sz="950" dirty="0"/>
          </a:p>
        </p:txBody>
      </p:sp>
      <p:sp>
        <p:nvSpPr>
          <p:cNvPr id="15" name="Shape 13"/>
          <p:cNvSpPr/>
          <p:nvPr/>
        </p:nvSpPr>
        <p:spPr>
          <a:xfrm>
            <a:off x="320040" y="3547872"/>
            <a:ext cx="2834640" cy="1417320"/>
          </a:xfrm>
          <a:prstGeom prst="roundRect">
            <a:avLst>
              <a:gd name="adj" fmla="val 6452"/>
            </a:avLst>
          </a:prstGeom>
          <a:solidFill>
            <a:srgbClr val="FFFFFF"/>
          </a:solidFill>
          <a:ln w="6350">
            <a:solidFill>
              <a:srgbClr val="D3D1C7"/>
            </a:solidFill>
            <a:prstDash val="solid"/>
          </a:ln>
          <a:effectLst>
            <a:outerShdw blurRad="88900" dist="25400" dir="2700000" algn="bl" rotWithShape="0">
              <a:srgbClr val="000000">
                <a:alpha val="11000"/>
              </a:srgbClr>
            </a:outerShdw>
          </a:effectLst>
        </p:spPr>
        <p:txBody>
          <a:bodyPr/>
          <a:lstStyle/>
          <a:p>
            <a:endParaRPr lang="es-ES_tradnl"/>
          </a:p>
        </p:txBody>
      </p:sp>
      <p:sp>
        <p:nvSpPr>
          <p:cNvPr id="16" name="Text 14"/>
          <p:cNvSpPr/>
          <p:nvPr/>
        </p:nvSpPr>
        <p:spPr>
          <a:xfrm>
            <a:off x="457200" y="3639312"/>
            <a:ext cx="2560320" cy="365760"/>
          </a:xfrm>
          <a:prstGeom prst="rect">
            <a:avLst/>
          </a:prstGeom>
          <a:noFill/>
          <a:ln/>
        </p:spPr>
        <p:txBody>
          <a:bodyPr wrap="square" lIns="0" tIns="0" rIns="0" bIns="0" rtlCol="0" anchor="ctr"/>
          <a:lstStyle/>
          <a:p>
            <a:pPr marL="0" indent="0">
              <a:buNone/>
            </a:pPr>
            <a:r>
              <a:rPr lang="en-US" sz="1000" b="1" dirty="0">
                <a:solidFill>
                  <a:srgbClr val="534AB7"/>
                </a:solidFill>
                <a:latin typeface="Calibri" pitchFamily="34" charset="0"/>
                <a:ea typeface="Calibri" pitchFamily="34" charset="-122"/>
                <a:cs typeface="Calibri" pitchFamily="34" charset="-120"/>
              </a:rPr>
              <a:t>📊  Skill · Análisis de microbioma</a:t>
            </a:r>
            <a:endParaRPr lang="en-US" sz="1000" dirty="0"/>
          </a:p>
        </p:txBody>
      </p:sp>
      <p:sp>
        <p:nvSpPr>
          <p:cNvPr id="17" name="Text 15"/>
          <p:cNvSpPr/>
          <p:nvPr/>
        </p:nvSpPr>
        <p:spPr>
          <a:xfrm>
            <a:off x="457200" y="4023360"/>
            <a:ext cx="2560320" cy="841248"/>
          </a:xfrm>
          <a:prstGeom prst="rect">
            <a:avLst/>
          </a:prstGeom>
          <a:noFill/>
          <a:ln/>
        </p:spPr>
        <p:txBody>
          <a:bodyPr wrap="square" lIns="0" tIns="0" rIns="0" bIns="0" rtlCol="0" anchor="ctr"/>
          <a:lstStyle/>
          <a:p>
            <a:pPr marL="0" indent="0">
              <a:buNone/>
            </a:pPr>
            <a:r>
              <a:rPr lang="en-US" sz="950" dirty="0">
                <a:solidFill>
                  <a:srgbClr val="5F5E5A"/>
                </a:solidFill>
                <a:latin typeface="Calibri" pitchFamily="34" charset="0"/>
                <a:ea typeface="Calibri" pitchFamily="34" charset="-122"/>
                <a:cs typeface="Calibri" pitchFamily="34" charset="-120"/>
              </a:rPr>
              <a:t>Flujo completo: carga de OTU table → rarefacción → diversidad alfa/beta → visualización → exportación. Activado con una sola instrucción.</a:t>
            </a:r>
            <a:endParaRPr lang="en-US" sz="950" dirty="0"/>
          </a:p>
        </p:txBody>
      </p:sp>
      <p:sp>
        <p:nvSpPr>
          <p:cNvPr id="18" name="Shape 16"/>
          <p:cNvSpPr/>
          <p:nvPr/>
        </p:nvSpPr>
        <p:spPr>
          <a:xfrm>
            <a:off x="3291840" y="3547872"/>
            <a:ext cx="2834640" cy="1417320"/>
          </a:xfrm>
          <a:prstGeom prst="roundRect">
            <a:avLst>
              <a:gd name="adj" fmla="val 6452"/>
            </a:avLst>
          </a:prstGeom>
          <a:solidFill>
            <a:srgbClr val="FFFFFF"/>
          </a:solidFill>
          <a:ln w="6350">
            <a:solidFill>
              <a:srgbClr val="D3D1C7"/>
            </a:solidFill>
            <a:prstDash val="solid"/>
          </a:ln>
          <a:effectLst>
            <a:outerShdw blurRad="88900" dist="25400" dir="2700000" algn="bl" rotWithShape="0">
              <a:srgbClr val="000000">
                <a:alpha val="11000"/>
              </a:srgbClr>
            </a:outerShdw>
          </a:effectLst>
        </p:spPr>
        <p:txBody>
          <a:bodyPr/>
          <a:lstStyle/>
          <a:p>
            <a:endParaRPr lang="es-ES_tradnl"/>
          </a:p>
        </p:txBody>
      </p:sp>
      <p:sp>
        <p:nvSpPr>
          <p:cNvPr id="19" name="Text 17"/>
          <p:cNvSpPr/>
          <p:nvPr/>
        </p:nvSpPr>
        <p:spPr>
          <a:xfrm>
            <a:off x="3429000" y="3639312"/>
            <a:ext cx="2560320" cy="365760"/>
          </a:xfrm>
          <a:prstGeom prst="rect">
            <a:avLst/>
          </a:prstGeom>
          <a:noFill/>
          <a:ln/>
        </p:spPr>
        <p:txBody>
          <a:bodyPr wrap="square" lIns="0" tIns="0" rIns="0" bIns="0" rtlCol="0" anchor="ctr"/>
          <a:lstStyle/>
          <a:p>
            <a:pPr marL="0" indent="0">
              <a:buNone/>
            </a:pPr>
            <a:r>
              <a:rPr lang="en-US" sz="1000" b="1" dirty="0">
                <a:solidFill>
                  <a:srgbClr val="1D9E75"/>
                </a:solidFill>
                <a:latin typeface="Calibri" pitchFamily="34" charset="0"/>
                <a:ea typeface="Calibri" pitchFamily="34" charset="-122"/>
                <a:cs typeface="Calibri" pitchFamily="34" charset="-120"/>
              </a:rPr>
              <a:t>🧪  Skill · Modelado metabólico</a:t>
            </a:r>
            <a:endParaRPr lang="en-US" sz="1000" dirty="0"/>
          </a:p>
        </p:txBody>
      </p:sp>
      <p:sp>
        <p:nvSpPr>
          <p:cNvPr id="20" name="Text 18"/>
          <p:cNvSpPr/>
          <p:nvPr/>
        </p:nvSpPr>
        <p:spPr>
          <a:xfrm>
            <a:off x="3429000" y="4023360"/>
            <a:ext cx="2560320" cy="841248"/>
          </a:xfrm>
          <a:prstGeom prst="rect">
            <a:avLst/>
          </a:prstGeom>
          <a:noFill/>
          <a:ln/>
        </p:spPr>
        <p:txBody>
          <a:bodyPr wrap="square" lIns="0" tIns="0" rIns="0" bIns="0" rtlCol="0" anchor="ctr"/>
          <a:lstStyle/>
          <a:p>
            <a:pPr marL="0" indent="0">
              <a:buNone/>
            </a:pPr>
            <a:r>
              <a:rPr lang="en-US" sz="950" dirty="0">
                <a:solidFill>
                  <a:srgbClr val="5F5E5A"/>
                </a:solidFill>
                <a:latin typeface="Calibri" pitchFamily="34" charset="0"/>
                <a:ea typeface="Calibri" pitchFamily="34" charset="-122"/>
                <a:cs typeface="Calibri" pitchFamily="34" charset="-120"/>
              </a:rPr>
              <a:t>TFA/FBA sobre modelos SBML: carga, validación termodinámica, análisis de flujos, exportación de resultados. Directamente relevante para el paper pyTFA.</a:t>
            </a:r>
            <a:endParaRPr lang="en-US" sz="950" dirty="0"/>
          </a:p>
        </p:txBody>
      </p:sp>
      <p:sp>
        <p:nvSpPr>
          <p:cNvPr id="21" name="Shape 19"/>
          <p:cNvSpPr/>
          <p:nvPr/>
        </p:nvSpPr>
        <p:spPr>
          <a:xfrm>
            <a:off x="6263640" y="3547872"/>
            <a:ext cx="2834640" cy="1417320"/>
          </a:xfrm>
          <a:prstGeom prst="roundRect">
            <a:avLst>
              <a:gd name="adj" fmla="val 6452"/>
            </a:avLst>
          </a:prstGeom>
          <a:solidFill>
            <a:srgbClr val="FFFFFF"/>
          </a:solidFill>
          <a:ln w="6350">
            <a:solidFill>
              <a:srgbClr val="D3D1C7"/>
            </a:solidFill>
            <a:prstDash val="solid"/>
          </a:ln>
          <a:effectLst>
            <a:outerShdw blurRad="88900" dist="25400" dir="2700000" algn="bl" rotWithShape="0">
              <a:srgbClr val="000000">
                <a:alpha val="11000"/>
              </a:srgbClr>
            </a:outerShdw>
          </a:effectLst>
        </p:spPr>
        <p:txBody>
          <a:bodyPr/>
          <a:lstStyle/>
          <a:p>
            <a:endParaRPr lang="es-ES_tradnl"/>
          </a:p>
        </p:txBody>
      </p:sp>
      <p:sp>
        <p:nvSpPr>
          <p:cNvPr id="22" name="Text 20"/>
          <p:cNvSpPr/>
          <p:nvPr/>
        </p:nvSpPr>
        <p:spPr>
          <a:xfrm>
            <a:off x="6400800" y="3639312"/>
            <a:ext cx="2560320" cy="365760"/>
          </a:xfrm>
          <a:prstGeom prst="rect">
            <a:avLst/>
          </a:prstGeom>
          <a:noFill/>
          <a:ln/>
        </p:spPr>
        <p:txBody>
          <a:bodyPr wrap="square" lIns="0" tIns="0" rIns="0" bIns="0" rtlCol="0" anchor="ctr"/>
          <a:lstStyle/>
          <a:p>
            <a:pPr marL="0" indent="0">
              <a:buNone/>
            </a:pPr>
            <a:r>
              <a:rPr lang="en-US" sz="1000" b="1" dirty="0">
                <a:solidFill>
                  <a:srgbClr val="C97B2A"/>
                </a:solidFill>
                <a:latin typeface="Calibri" pitchFamily="34" charset="0"/>
                <a:ea typeface="Calibri" pitchFamily="34" charset="-122"/>
                <a:cs typeface="Calibri" pitchFamily="34" charset="-120"/>
              </a:rPr>
              <a:t>📈  Skill · Estadística ecológica</a:t>
            </a:r>
            <a:endParaRPr lang="en-US" sz="1000" dirty="0"/>
          </a:p>
        </p:txBody>
      </p:sp>
      <p:sp>
        <p:nvSpPr>
          <p:cNvPr id="23" name="Text 21"/>
          <p:cNvSpPr/>
          <p:nvPr/>
        </p:nvSpPr>
        <p:spPr>
          <a:xfrm>
            <a:off x="6400800" y="4023360"/>
            <a:ext cx="2560320" cy="841248"/>
          </a:xfrm>
          <a:prstGeom prst="rect">
            <a:avLst/>
          </a:prstGeom>
          <a:noFill/>
          <a:ln/>
        </p:spPr>
        <p:txBody>
          <a:bodyPr wrap="square" lIns="0" tIns="0" rIns="0" bIns="0" rtlCol="0" anchor="ctr"/>
          <a:lstStyle/>
          <a:p>
            <a:pPr marL="0" indent="0">
              <a:buNone/>
            </a:pPr>
            <a:r>
              <a:rPr lang="en-US" sz="950" dirty="0">
                <a:solidFill>
                  <a:srgbClr val="5F5E5A"/>
                </a:solidFill>
                <a:latin typeface="Calibri" pitchFamily="34" charset="0"/>
                <a:ea typeface="Calibri" pitchFamily="34" charset="-122"/>
                <a:cs typeface="Calibri" pitchFamily="34" charset="-120"/>
              </a:rPr>
              <a:t>PERMANOVA, NMDS, regresiones de diversidad. Con outputs estandarizados y verificación automática de supuestos estadísticos.</a:t>
            </a:r>
            <a:endParaRPr lang="en-US" sz="950" dirty="0"/>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name="Slide 33">
    <p:bg>
      <p:bgPr>
        <a:solidFill>
          <a:srgbClr val="1A1A2E"/>
        </a:solidFill>
        <a:effectLst/>
      </p:bgPr>
    </p:bg>
    <p:spTree>
      <p:nvGrpSpPr>
        <p:cNvPr id="1" name=""/>
        <p:cNvGrpSpPr/>
        <p:nvPr/>
      </p:nvGrpSpPr>
      <p:grpSpPr>
        <a:xfrm>
          <a:off x="0" y="0"/>
          <a:ext cx="0" cy="0"/>
          <a:chOff x="0" y="0"/>
          <a:chExt cx="0" cy="0"/>
        </a:xfrm>
      </p:grpSpPr>
      <p:sp>
        <p:nvSpPr>
          <p:cNvPr id="2" name="Shape 0"/>
          <p:cNvSpPr/>
          <p:nvPr/>
        </p:nvSpPr>
        <p:spPr>
          <a:xfrm>
            <a:off x="6858000" y="-914400"/>
            <a:ext cx="4114800" cy="4114800"/>
          </a:xfrm>
          <a:prstGeom prst="ellipse">
            <a:avLst/>
          </a:prstGeom>
          <a:solidFill>
            <a:srgbClr val="1D9E75">
              <a:alpha val="18000"/>
            </a:srgbClr>
          </a:solidFill>
          <a:ln w="12700">
            <a:solidFill>
              <a:srgbClr val="1D9E75">
                <a:alpha val="18000"/>
              </a:srgbClr>
            </a:solidFill>
            <a:prstDash val="solid"/>
          </a:ln>
        </p:spPr>
        <p:txBody>
          <a:bodyPr/>
          <a:lstStyle/>
          <a:p>
            <a:endParaRPr lang="es-ES_tradnl"/>
          </a:p>
        </p:txBody>
      </p:sp>
      <p:sp>
        <p:nvSpPr>
          <p:cNvPr id="3" name="Text 1"/>
          <p:cNvSpPr/>
          <p:nvPr/>
        </p:nvSpPr>
        <p:spPr>
          <a:xfrm>
            <a:off x="640080" y="411480"/>
            <a:ext cx="7772400" cy="457200"/>
          </a:xfrm>
          <a:prstGeom prst="rect">
            <a:avLst/>
          </a:prstGeom>
          <a:noFill/>
          <a:ln/>
        </p:spPr>
        <p:txBody>
          <a:bodyPr wrap="square" lIns="0" tIns="0" rIns="0" bIns="0" rtlCol="0" anchor="ctr"/>
          <a:lstStyle/>
          <a:p>
            <a:pPr marL="0" indent="0">
              <a:buNone/>
            </a:pPr>
            <a:r>
              <a:rPr lang="en-US" sz="1400" b="1" kern="0" spc="200" dirty="0">
                <a:solidFill>
                  <a:srgbClr val="1D9E75"/>
                </a:solidFill>
                <a:latin typeface="Calibri" pitchFamily="34" charset="0"/>
                <a:ea typeface="Calibri" pitchFamily="34" charset="-122"/>
                <a:cs typeface="Calibri" pitchFamily="34" charset="-120"/>
              </a:rPr>
              <a:t>🧪  Ejercicio 5</a:t>
            </a:r>
            <a:endParaRPr lang="en-US" sz="1400" dirty="0"/>
          </a:p>
        </p:txBody>
      </p:sp>
      <p:sp>
        <p:nvSpPr>
          <p:cNvPr id="4" name="Text 2"/>
          <p:cNvSpPr/>
          <p:nvPr/>
        </p:nvSpPr>
        <p:spPr>
          <a:xfrm>
            <a:off x="640080" y="914400"/>
            <a:ext cx="7498080" cy="777240"/>
          </a:xfrm>
          <a:prstGeom prst="rect">
            <a:avLst/>
          </a:prstGeom>
          <a:noFill/>
          <a:ln/>
        </p:spPr>
        <p:txBody>
          <a:bodyPr wrap="square" lIns="0" tIns="0" rIns="0" bIns="0" rtlCol="0" anchor="ctr"/>
          <a:lstStyle/>
          <a:p>
            <a:pPr marL="0" indent="0">
              <a:buNone/>
            </a:pPr>
            <a:r>
              <a:rPr lang="en-US" sz="2800" b="1" dirty="0">
                <a:solidFill>
                  <a:srgbClr val="FFFFFF"/>
                </a:solidFill>
                <a:latin typeface="Cambria" pitchFamily="34" charset="0"/>
                <a:ea typeface="Cambria" pitchFamily="34" charset="-122"/>
                <a:cs typeface="Cambria" pitchFamily="34" charset="-120"/>
              </a:rPr>
              <a:t>Escribe tu CLAUDE.md personal</a:t>
            </a:r>
            <a:endParaRPr lang="en-US" sz="2800" dirty="0"/>
          </a:p>
        </p:txBody>
      </p:sp>
      <p:sp>
        <p:nvSpPr>
          <p:cNvPr id="5" name="Shape 3"/>
          <p:cNvSpPr/>
          <p:nvPr/>
        </p:nvSpPr>
        <p:spPr>
          <a:xfrm>
            <a:off x="640080" y="1828800"/>
            <a:ext cx="7863840" cy="1298448"/>
          </a:xfrm>
          <a:prstGeom prst="roundRect">
            <a:avLst>
              <a:gd name="adj" fmla="val 8451"/>
            </a:avLst>
          </a:prstGeom>
          <a:solidFill>
            <a:srgbClr val="1E1E35"/>
          </a:solidFill>
          <a:ln w="10160">
            <a:solidFill>
              <a:srgbClr val="534AB7"/>
            </a:solidFill>
            <a:prstDash val="solid"/>
          </a:ln>
        </p:spPr>
        <p:txBody>
          <a:bodyPr/>
          <a:lstStyle/>
          <a:p>
            <a:endParaRPr lang="es-ES_tradnl"/>
          </a:p>
        </p:txBody>
      </p:sp>
      <p:sp>
        <p:nvSpPr>
          <p:cNvPr id="6" name="Text 4"/>
          <p:cNvSpPr/>
          <p:nvPr/>
        </p:nvSpPr>
        <p:spPr>
          <a:xfrm>
            <a:off x="822960" y="1920240"/>
            <a:ext cx="7498080" cy="1115568"/>
          </a:xfrm>
          <a:prstGeom prst="rect">
            <a:avLst/>
          </a:prstGeom>
          <a:noFill/>
          <a:ln/>
        </p:spPr>
        <p:txBody>
          <a:bodyPr wrap="square" lIns="0" tIns="0" rIns="0" bIns="0" rtlCol="0" anchor="ctr"/>
          <a:lstStyle/>
          <a:p>
            <a:pPr marL="0" indent="0">
              <a:buNone/>
            </a:pPr>
            <a:r>
              <a:rPr lang="en-US" sz="1150" dirty="0">
                <a:solidFill>
                  <a:srgbClr val="7B74D4"/>
                </a:solidFill>
                <a:latin typeface="Calibri" pitchFamily="34" charset="0"/>
                <a:ea typeface="Calibri" pitchFamily="34" charset="-122"/>
                <a:cs typeface="Calibri" pitchFamily="34" charset="-120"/>
              </a:rPr>
              <a:t>Crea el archivo CLAUDE.md en la raíz de tu branch. Debe tener:</a:t>
            </a:r>
            <a:endParaRPr lang="en-US" sz="1150" dirty="0"/>
          </a:p>
          <a:p>
            <a:pPr marL="0" indent="0">
              <a:buNone/>
            </a:pPr>
            <a:r>
              <a:rPr lang="en-US" sz="1150" dirty="0">
                <a:solidFill>
                  <a:srgbClr val="7B74D4"/>
                </a:solidFill>
                <a:latin typeface="Calibri" pitchFamily="34" charset="0"/>
                <a:ea typeface="Calibri" pitchFamily="34" charset="-122"/>
                <a:cs typeface="Calibri" pitchFamily="34" charset="-120"/>
              </a:rPr>
              <a:t>Quién soy · El proyecto · Los datos · Reglas del agente · Al menos 1 skill</a:t>
            </a:r>
            <a:endParaRPr lang="en-US" sz="1150" dirty="0"/>
          </a:p>
        </p:txBody>
      </p:sp>
      <p:sp>
        <p:nvSpPr>
          <p:cNvPr id="7" name="Text 5"/>
          <p:cNvSpPr/>
          <p:nvPr/>
        </p:nvSpPr>
        <p:spPr>
          <a:xfrm>
            <a:off x="640080" y="3291840"/>
            <a:ext cx="7863840" cy="1325880"/>
          </a:xfrm>
          <a:prstGeom prst="rect">
            <a:avLst/>
          </a:prstGeom>
          <a:noFill/>
          <a:ln/>
        </p:spPr>
        <p:txBody>
          <a:bodyPr wrap="square" rtlCol="0" anchor="ctr"/>
          <a:lstStyle/>
          <a:p>
            <a:pPr marL="342900" indent="-342900">
              <a:spcAft>
                <a:spcPts val="400"/>
              </a:spcAft>
              <a:buSzPct val="100000"/>
              <a:buChar char="•"/>
            </a:pPr>
            <a:r>
              <a:rPr lang="en-US" sz="1150" dirty="0">
                <a:solidFill>
                  <a:srgbClr val="FFFFFF"/>
                </a:solidFill>
                <a:latin typeface="Calibri" pitchFamily="34" charset="0"/>
                <a:ea typeface="Calibri" pitchFamily="34" charset="-122"/>
                <a:cs typeface="Calibri" pitchFamily="34" charset="-120"/>
              </a:rPr>
              <a:t>Reinicia Claude Code y verifica: pregunta '¿Cuál es el objetivo de este proyecto?'</a:t>
            </a:r>
            <a:endParaRPr lang="en-US" sz="1150" dirty="0"/>
          </a:p>
          <a:p>
            <a:pPr marL="342900" indent="-342900">
              <a:spcAft>
                <a:spcPts val="400"/>
              </a:spcAft>
              <a:buSzPct val="100000"/>
              <a:buChar char="•"/>
            </a:pPr>
            <a:r>
              <a:rPr lang="en-US" sz="1150" dirty="0">
                <a:solidFill>
                  <a:srgbClr val="FFFFFF"/>
                </a:solidFill>
                <a:latin typeface="Calibri" pitchFamily="34" charset="0"/>
                <a:ea typeface="Calibri" pitchFamily="34" charset="-122"/>
                <a:cs typeface="Calibri" pitchFamily="34" charset="-120"/>
              </a:rPr>
              <a:t>El agente debe mencionar Neilson 2017, Atacama y la pregunta de aridez</a:t>
            </a:r>
            <a:endParaRPr lang="en-US" sz="1150" dirty="0"/>
          </a:p>
          <a:p>
            <a:pPr marL="342900" indent="-342900">
              <a:spcAft>
                <a:spcPts val="400"/>
              </a:spcAft>
              <a:buSzPct val="100000"/>
              <a:buChar char="•"/>
            </a:pPr>
            <a:r>
              <a:rPr lang="en-US" sz="1150" dirty="0">
                <a:solidFill>
                  <a:srgbClr val="FFFFFF"/>
                </a:solidFill>
                <a:latin typeface="Calibri" pitchFamily="34" charset="0"/>
                <a:ea typeface="Calibri" pitchFamily="34" charset="-122"/>
                <a:cs typeface="Calibri" pitchFamily="34" charset="-120"/>
              </a:rPr>
              <a:t>Añade el skill de figuras: PNG 300 dpi, guardar en outputs/, paleta viridis</a:t>
            </a:r>
            <a:endParaRPr lang="en-US" sz="1150" dirty="0"/>
          </a:p>
        </p:txBody>
      </p:sp>
      <p:sp>
        <p:nvSpPr>
          <p:cNvPr id="8" name="Text 6"/>
          <p:cNvSpPr/>
          <p:nvPr/>
        </p:nvSpPr>
        <p:spPr>
          <a:xfrm>
            <a:off x="640080" y="4736592"/>
            <a:ext cx="7772400" cy="274320"/>
          </a:xfrm>
          <a:prstGeom prst="rect">
            <a:avLst/>
          </a:prstGeom>
          <a:noFill/>
          <a:ln/>
        </p:spPr>
        <p:txBody>
          <a:bodyPr wrap="square" lIns="0" tIns="0" rIns="0" bIns="0" rtlCol="0" anchor="ctr"/>
          <a:lstStyle/>
          <a:p>
            <a:pPr marL="0" indent="0">
              <a:buNone/>
            </a:pPr>
            <a:r>
              <a:rPr lang="en-US" sz="1000" i="1" dirty="0">
                <a:solidFill>
                  <a:srgbClr val="1D9E75"/>
                </a:solidFill>
                <a:latin typeface="Calibri" pitchFamily="34" charset="0"/>
                <a:ea typeface="Calibri" pitchFamily="34" charset="-122"/>
                <a:cs typeface="Calibri" pitchFamily="34" charset="-120"/>
              </a:rPr>
              <a:t>15 min · el CLAUDE.md que escribas hoy es tu herramienta principal del día 2</a:t>
            </a:r>
            <a:endParaRPr lang="en-US" sz="1000" dirty="0"/>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name="Slide 34">
    <p:bg>
      <p:bgPr>
        <a:solidFill>
          <a:srgbClr val="1A1A2E"/>
        </a:solidFill>
        <a:effectLst/>
      </p:bgPr>
    </p:bg>
    <p:spTree>
      <p:nvGrpSpPr>
        <p:cNvPr id="1" name=""/>
        <p:cNvGrpSpPr/>
        <p:nvPr/>
      </p:nvGrpSpPr>
      <p:grpSpPr>
        <a:xfrm>
          <a:off x="0" y="0"/>
          <a:ext cx="0" cy="0"/>
          <a:chOff x="0" y="0"/>
          <a:chExt cx="0" cy="0"/>
        </a:xfrm>
      </p:grpSpPr>
      <p:sp>
        <p:nvSpPr>
          <p:cNvPr id="2" name="Shape 0"/>
          <p:cNvSpPr/>
          <p:nvPr/>
        </p:nvSpPr>
        <p:spPr>
          <a:xfrm>
            <a:off x="6858000" y="-914400"/>
            <a:ext cx="4572000" cy="4572000"/>
          </a:xfrm>
          <a:prstGeom prst="ellipse">
            <a:avLst/>
          </a:prstGeom>
          <a:solidFill>
            <a:srgbClr val="7B74D4">
              <a:alpha val="22000"/>
            </a:srgbClr>
          </a:solidFill>
          <a:ln w="12700">
            <a:solidFill>
              <a:srgbClr val="7B74D4">
                <a:alpha val="22000"/>
              </a:srgbClr>
            </a:solidFill>
            <a:prstDash val="solid"/>
          </a:ln>
        </p:spPr>
        <p:txBody>
          <a:bodyPr/>
          <a:lstStyle/>
          <a:p>
            <a:endParaRPr lang="es-ES_tradnl"/>
          </a:p>
        </p:txBody>
      </p:sp>
      <p:sp>
        <p:nvSpPr>
          <p:cNvPr id="3" name="Shape 1"/>
          <p:cNvSpPr/>
          <p:nvPr/>
        </p:nvSpPr>
        <p:spPr>
          <a:xfrm>
            <a:off x="-1371600" y="3200400"/>
            <a:ext cx="3200400" cy="3200400"/>
          </a:xfrm>
          <a:prstGeom prst="ellipse">
            <a:avLst/>
          </a:prstGeom>
          <a:solidFill>
            <a:srgbClr val="1D9E75">
              <a:alpha val="16000"/>
            </a:srgbClr>
          </a:solidFill>
          <a:ln w="12700">
            <a:solidFill>
              <a:srgbClr val="1D9E75">
                <a:alpha val="16000"/>
              </a:srgbClr>
            </a:solidFill>
            <a:prstDash val="solid"/>
          </a:ln>
        </p:spPr>
        <p:txBody>
          <a:bodyPr/>
          <a:lstStyle/>
          <a:p>
            <a:endParaRPr lang="es-ES_tradnl"/>
          </a:p>
        </p:txBody>
      </p:sp>
      <p:sp>
        <p:nvSpPr>
          <p:cNvPr id="4" name="Text 2"/>
          <p:cNvSpPr/>
          <p:nvPr/>
        </p:nvSpPr>
        <p:spPr>
          <a:xfrm>
            <a:off x="640080" y="822960"/>
            <a:ext cx="7772400" cy="411480"/>
          </a:xfrm>
          <a:prstGeom prst="rect">
            <a:avLst/>
          </a:prstGeom>
          <a:noFill/>
          <a:ln/>
        </p:spPr>
        <p:txBody>
          <a:bodyPr wrap="square" lIns="0" tIns="0" rIns="0" bIns="0" rtlCol="0" anchor="ctr"/>
          <a:lstStyle/>
          <a:p>
            <a:pPr marL="0" indent="0">
              <a:buNone/>
            </a:pPr>
            <a:r>
              <a:rPr lang="en-US" sz="1300" b="1" kern="0" spc="400" dirty="0">
                <a:solidFill>
                  <a:srgbClr val="7B74D4"/>
                </a:solidFill>
                <a:latin typeface="Calibri" pitchFamily="34" charset="0"/>
                <a:ea typeface="Calibri" pitchFamily="34" charset="-122"/>
                <a:cs typeface="Calibri" pitchFamily="34" charset="-120"/>
              </a:rPr>
              <a:t>Módulo 6</a:t>
            </a:r>
            <a:endParaRPr lang="en-US" sz="1300" dirty="0"/>
          </a:p>
        </p:txBody>
      </p:sp>
      <p:sp>
        <p:nvSpPr>
          <p:cNvPr id="5" name="Text 3"/>
          <p:cNvSpPr/>
          <p:nvPr/>
        </p:nvSpPr>
        <p:spPr>
          <a:xfrm>
            <a:off x="640080" y="1280160"/>
            <a:ext cx="7498080" cy="1005840"/>
          </a:xfrm>
          <a:prstGeom prst="rect">
            <a:avLst/>
          </a:prstGeom>
          <a:noFill/>
          <a:ln/>
        </p:spPr>
        <p:txBody>
          <a:bodyPr wrap="square" lIns="0" tIns="0" rIns="0" bIns="0" rtlCol="0" anchor="ctr"/>
          <a:lstStyle/>
          <a:p>
            <a:pPr marL="0" indent="0">
              <a:buNone/>
            </a:pPr>
            <a:r>
              <a:rPr lang="en-US" sz="3600" b="1" dirty="0">
                <a:solidFill>
                  <a:srgbClr val="FFFFFF"/>
                </a:solidFill>
                <a:latin typeface="Cambria" pitchFamily="34" charset="0"/>
                <a:ea typeface="Cambria" pitchFamily="34" charset="-122"/>
                <a:cs typeface="Cambria" pitchFamily="34" charset="-120"/>
              </a:rPr>
              <a:t>Buenas prácticas de prompting</a:t>
            </a:r>
            <a:endParaRPr lang="en-US" sz="3600" dirty="0"/>
          </a:p>
        </p:txBody>
      </p:sp>
      <p:sp>
        <p:nvSpPr>
          <p:cNvPr id="6" name="Text 4"/>
          <p:cNvSpPr/>
          <p:nvPr/>
        </p:nvSpPr>
        <p:spPr>
          <a:xfrm>
            <a:off x="640080" y="2377440"/>
            <a:ext cx="6858000" cy="594360"/>
          </a:xfrm>
          <a:prstGeom prst="rect">
            <a:avLst/>
          </a:prstGeom>
          <a:noFill/>
          <a:ln/>
        </p:spPr>
        <p:txBody>
          <a:bodyPr wrap="square" lIns="0" tIns="0" rIns="0" bIns="0" rtlCol="0" anchor="ctr"/>
          <a:lstStyle/>
          <a:p>
            <a:pPr marL="0" indent="0">
              <a:buNone/>
            </a:pPr>
            <a:r>
              <a:rPr lang="en-US" sz="1300" i="1" dirty="0">
                <a:solidFill>
                  <a:srgbClr val="7B74D4"/>
                </a:solidFill>
                <a:latin typeface="Calibri" pitchFamily="34" charset="0"/>
                <a:ea typeface="Calibri" pitchFamily="34" charset="-122"/>
                <a:cs typeface="Calibri" pitchFamily="34" charset="-120"/>
              </a:rPr>
              <a:t>Cómo dirigir al agente para obtener resultados precisos y reproducibles</a:t>
            </a:r>
            <a:endParaRPr lang="en-US" sz="1300" dirty="0"/>
          </a:p>
        </p:txBody>
      </p:sp>
      <p:sp>
        <p:nvSpPr>
          <p:cNvPr id="7" name="Shape 5"/>
          <p:cNvSpPr/>
          <p:nvPr/>
        </p:nvSpPr>
        <p:spPr>
          <a:xfrm>
            <a:off x="640080" y="3154680"/>
            <a:ext cx="2011680" cy="0"/>
          </a:xfrm>
          <a:prstGeom prst="line">
            <a:avLst/>
          </a:prstGeom>
          <a:noFill/>
          <a:ln w="31750">
            <a:solidFill>
              <a:srgbClr val="1D9E75"/>
            </a:solidFill>
            <a:prstDash val="solid"/>
          </a:ln>
        </p:spPr>
        <p:txBody>
          <a:bodyPr/>
          <a:lstStyle/>
          <a:p>
            <a:endParaRPr lang="es-ES_tradnl"/>
          </a:p>
        </p:txBody>
      </p:sp>
      <p:sp>
        <p:nvSpPr>
          <p:cNvPr id="8" name="Text 6"/>
          <p:cNvSpPr/>
          <p:nvPr/>
        </p:nvSpPr>
        <p:spPr>
          <a:xfrm>
            <a:off x="640080" y="4526280"/>
            <a:ext cx="7772400" cy="292608"/>
          </a:xfrm>
          <a:prstGeom prst="rect">
            <a:avLst/>
          </a:prstGeom>
          <a:noFill/>
          <a:ln/>
        </p:spPr>
        <p:txBody>
          <a:bodyPr wrap="square" lIns="0" tIns="0" rIns="0" bIns="0" rtlCol="0" anchor="ctr"/>
          <a:lstStyle/>
          <a:p>
            <a:pPr marL="0" indent="0">
              <a:buNone/>
            </a:pPr>
            <a:r>
              <a:rPr lang="en-US" sz="1000" dirty="0">
                <a:solidFill>
                  <a:srgbClr val="888780"/>
                </a:solidFill>
                <a:latin typeface="Calibri" pitchFamily="34" charset="0"/>
                <a:ea typeface="Calibri" pitchFamily="34" charset="-122"/>
                <a:cs typeface="Calibri" pitchFamily="34" charset="-120"/>
              </a:rPr>
              <a:t>12:30 – 13:00 · 30 minutos</a:t>
            </a:r>
            <a:endParaRPr lang="en-US" sz="1000" dirty="0"/>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name="Slide 35">
    <p:bg>
      <p:bgPr>
        <a:solidFill>
          <a:srgbClr val="F8F8F6"/>
        </a:solidFill>
        <a:effectLst/>
      </p:bgPr>
    </p:bg>
    <p:spTree>
      <p:nvGrpSpPr>
        <p:cNvPr id="1" name=""/>
        <p:cNvGrpSpPr/>
        <p:nvPr/>
      </p:nvGrpSpPr>
      <p:grpSpPr>
        <a:xfrm>
          <a:off x="0" y="0"/>
          <a:ext cx="0" cy="0"/>
          <a:chOff x="0" y="0"/>
          <a:chExt cx="0" cy="0"/>
        </a:xfrm>
      </p:grpSpPr>
      <p:sp>
        <p:nvSpPr>
          <p:cNvPr id="2" name="Text 0"/>
          <p:cNvSpPr/>
          <p:nvPr/>
        </p:nvSpPr>
        <p:spPr>
          <a:xfrm>
            <a:off x="457200" y="256032"/>
            <a:ext cx="8229600" cy="566928"/>
          </a:xfrm>
          <a:prstGeom prst="rect">
            <a:avLst/>
          </a:prstGeom>
          <a:noFill/>
          <a:ln/>
        </p:spPr>
        <p:txBody>
          <a:bodyPr wrap="square" lIns="0" tIns="0" rIns="0" bIns="0" rtlCol="0" anchor="ctr"/>
          <a:lstStyle/>
          <a:p>
            <a:pPr marL="0" indent="0">
              <a:buNone/>
            </a:pPr>
            <a:r>
              <a:rPr lang="en-US" sz="2700" b="1" dirty="0">
                <a:solidFill>
                  <a:srgbClr val="2C2C2A"/>
                </a:solidFill>
                <a:latin typeface="Cambria" pitchFamily="34" charset="0"/>
                <a:ea typeface="Cambria" pitchFamily="34" charset="-122"/>
                <a:cs typeface="Cambria" pitchFamily="34" charset="-120"/>
              </a:rPr>
              <a:t>Pedir plan antes de ejecutar</a:t>
            </a:r>
            <a:endParaRPr lang="en-US" sz="2700" dirty="0"/>
          </a:p>
        </p:txBody>
      </p:sp>
      <p:sp>
        <p:nvSpPr>
          <p:cNvPr id="3" name="Text 1"/>
          <p:cNvSpPr/>
          <p:nvPr/>
        </p:nvSpPr>
        <p:spPr>
          <a:xfrm>
            <a:off x="457200" y="822960"/>
            <a:ext cx="8229600" cy="320040"/>
          </a:xfrm>
          <a:prstGeom prst="rect">
            <a:avLst/>
          </a:prstGeom>
          <a:noFill/>
          <a:ln/>
        </p:spPr>
        <p:txBody>
          <a:bodyPr wrap="square" lIns="0" tIns="0" rIns="0" bIns="0" rtlCol="0" anchor="ctr"/>
          <a:lstStyle/>
          <a:p>
            <a:pPr marL="0" indent="0">
              <a:buNone/>
            </a:pPr>
            <a:r>
              <a:rPr lang="en-US" sz="1300" i="1" dirty="0">
                <a:solidFill>
                  <a:srgbClr val="5F5E5A"/>
                </a:solidFill>
                <a:latin typeface="Calibri" pitchFamily="34" charset="0"/>
                <a:ea typeface="Calibri" pitchFamily="34" charset="-122"/>
                <a:cs typeface="Calibri" pitchFamily="34" charset="-120"/>
              </a:rPr>
              <a:t>La instrucción más importante que puedes darle al agente</a:t>
            </a:r>
            <a:endParaRPr lang="en-US" sz="1300" dirty="0"/>
          </a:p>
        </p:txBody>
      </p:sp>
      <p:sp>
        <p:nvSpPr>
          <p:cNvPr id="4" name="Shape 2"/>
          <p:cNvSpPr/>
          <p:nvPr/>
        </p:nvSpPr>
        <p:spPr>
          <a:xfrm>
            <a:off x="365760" y="1298448"/>
            <a:ext cx="4114800" cy="2606040"/>
          </a:xfrm>
          <a:prstGeom prst="roundRect">
            <a:avLst>
              <a:gd name="adj" fmla="val 4211"/>
            </a:avLst>
          </a:prstGeom>
          <a:solidFill>
            <a:srgbClr val="FFF5F5"/>
          </a:solidFill>
          <a:ln w="12700">
            <a:solidFill>
              <a:srgbClr val="FFBBBB"/>
            </a:solidFill>
            <a:prstDash val="solid"/>
          </a:ln>
        </p:spPr>
        <p:txBody>
          <a:bodyPr/>
          <a:lstStyle/>
          <a:p>
            <a:endParaRPr lang="es-ES_tradnl"/>
          </a:p>
        </p:txBody>
      </p:sp>
      <p:sp>
        <p:nvSpPr>
          <p:cNvPr id="5" name="Text 3"/>
          <p:cNvSpPr/>
          <p:nvPr/>
        </p:nvSpPr>
        <p:spPr>
          <a:xfrm>
            <a:off x="548640" y="1389888"/>
            <a:ext cx="3749040" cy="365760"/>
          </a:xfrm>
          <a:prstGeom prst="rect">
            <a:avLst/>
          </a:prstGeom>
          <a:noFill/>
          <a:ln/>
        </p:spPr>
        <p:txBody>
          <a:bodyPr wrap="square" lIns="0" tIns="0" rIns="0" bIns="0" rtlCol="0" anchor="ctr"/>
          <a:lstStyle/>
          <a:p>
            <a:pPr marL="0" indent="0">
              <a:buNone/>
            </a:pPr>
            <a:r>
              <a:rPr lang="en-US" sz="1100" b="1" dirty="0">
                <a:solidFill>
                  <a:srgbClr val="C0392B"/>
                </a:solidFill>
                <a:latin typeface="Calibri" pitchFamily="34" charset="0"/>
                <a:ea typeface="Calibri" pitchFamily="34" charset="-122"/>
                <a:cs typeface="Calibri" pitchFamily="34" charset="-120"/>
              </a:rPr>
              <a:t>❌  Sin esta instrucción</a:t>
            </a:r>
            <a:endParaRPr lang="en-US" sz="1100" dirty="0"/>
          </a:p>
        </p:txBody>
      </p:sp>
      <p:sp>
        <p:nvSpPr>
          <p:cNvPr id="6" name="Shape 4"/>
          <p:cNvSpPr/>
          <p:nvPr/>
        </p:nvSpPr>
        <p:spPr>
          <a:xfrm>
            <a:off x="548640" y="1828800"/>
            <a:ext cx="3749040" cy="640080"/>
          </a:xfrm>
          <a:prstGeom prst="roundRect">
            <a:avLst>
              <a:gd name="adj" fmla="val 14286"/>
            </a:avLst>
          </a:prstGeom>
          <a:solidFill>
            <a:srgbClr val="1E1E2E"/>
          </a:solidFill>
          <a:ln w="6350">
            <a:solidFill>
              <a:srgbClr val="2A2A4A"/>
            </a:solidFill>
            <a:prstDash val="solid"/>
          </a:ln>
        </p:spPr>
        <p:txBody>
          <a:bodyPr/>
          <a:lstStyle/>
          <a:p>
            <a:endParaRPr lang="es-ES_tradnl"/>
          </a:p>
        </p:txBody>
      </p:sp>
      <p:sp>
        <p:nvSpPr>
          <p:cNvPr id="7" name="Text 5"/>
          <p:cNvSpPr/>
          <p:nvPr/>
        </p:nvSpPr>
        <p:spPr>
          <a:xfrm>
            <a:off x="713232" y="1956816"/>
            <a:ext cx="3429000" cy="256032"/>
          </a:xfrm>
          <a:prstGeom prst="rect">
            <a:avLst/>
          </a:prstGeom>
          <a:noFill/>
          <a:ln/>
        </p:spPr>
        <p:txBody>
          <a:bodyPr wrap="square" lIns="0" tIns="0" rIns="0" bIns="0" rtlCol="0" anchor="ctr"/>
          <a:lstStyle/>
          <a:p>
            <a:pPr marL="0" indent="0">
              <a:buNone/>
            </a:pPr>
            <a:r>
              <a:rPr lang="en-US" sz="950" dirty="0">
                <a:solidFill>
                  <a:srgbClr val="F9C74F"/>
                </a:solidFill>
                <a:latin typeface="Courier New" pitchFamily="34" charset="0"/>
                <a:ea typeface="Courier New" pitchFamily="34" charset="-122"/>
                <a:cs typeface="Courier New" pitchFamily="34" charset="-120"/>
              </a:rPr>
              <a:t>"Analiza la diversidad del dataset"</a:t>
            </a:r>
            <a:endParaRPr lang="en-US" sz="950" dirty="0"/>
          </a:p>
        </p:txBody>
      </p:sp>
      <p:sp>
        <p:nvSpPr>
          <p:cNvPr id="8" name="Text 6"/>
          <p:cNvSpPr/>
          <p:nvPr/>
        </p:nvSpPr>
        <p:spPr>
          <a:xfrm>
            <a:off x="548640" y="2578608"/>
            <a:ext cx="3749040" cy="1188720"/>
          </a:xfrm>
          <a:prstGeom prst="rect">
            <a:avLst/>
          </a:prstGeom>
          <a:noFill/>
          <a:ln/>
        </p:spPr>
        <p:txBody>
          <a:bodyPr wrap="square" lIns="0" tIns="0" rIns="0" bIns="0" rtlCol="0" anchor="ctr"/>
          <a:lstStyle/>
          <a:p>
            <a:pPr marL="0" indent="0">
              <a:buNone/>
            </a:pPr>
            <a:r>
              <a:rPr lang="en-US" sz="1000" dirty="0">
                <a:solidFill>
                  <a:srgbClr val="5F5E5A"/>
                </a:solidFill>
                <a:latin typeface="Calibri" pitchFamily="34" charset="0"/>
                <a:ea typeface="Calibri" pitchFamily="34" charset="-122"/>
                <a:cs typeface="Calibri" pitchFamily="34" charset="-120"/>
              </a:rPr>
              <a:t>El agente ejecuta inmediatamente. Instala paquetes, corre código, genera archivos — y cuando termina, puede haber hecho algo completamente diferente a lo que esperabas.</a:t>
            </a:r>
            <a:endParaRPr lang="en-US" sz="1000" dirty="0"/>
          </a:p>
        </p:txBody>
      </p:sp>
      <p:sp>
        <p:nvSpPr>
          <p:cNvPr id="9" name="Shape 7"/>
          <p:cNvSpPr/>
          <p:nvPr/>
        </p:nvSpPr>
        <p:spPr>
          <a:xfrm>
            <a:off x="4663440" y="1298448"/>
            <a:ext cx="4114800" cy="2606040"/>
          </a:xfrm>
          <a:prstGeom prst="roundRect">
            <a:avLst>
              <a:gd name="adj" fmla="val 4211"/>
            </a:avLst>
          </a:prstGeom>
          <a:solidFill>
            <a:srgbClr val="E1F5EE"/>
          </a:solidFill>
          <a:ln w="12700">
            <a:solidFill>
              <a:srgbClr val="1D9E75"/>
            </a:solidFill>
            <a:prstDash val="solid"/>
          </a:ln>
        </p:spPr>
        <p:txBody>
          <a:bodyPr/>
          <a:lstStyle/>
          <a:p>
            <a:endParaRPr lang="es-ES_tradnl"/>
          </a:p>
        </p:txBody>
      </p:sp>
      <p:sp>
        <p:nvSpPr>
          <p:cNvPr id="10" name="Text 8"/>
          <p:cNvSpPr/>
          <p:nvPr/>
        </p:nvSpPr>
        <p:spPr>
          <a:xfrm>
            <a:off x="4846320" y="1389888"/>
            <a:ext cx="3749040" cy="365760"/>
          </a:xfrm>
          <a:prstGeom prst="rect">
            <a:avLst/>
          </a:prstGeom>
          <a:noFill/>
          <a:ln/>
        </p:spPr>
        <p:txBody>
          <a:bodyPr wrap="square" lIns="0" tIns="0" rIns="0" bIns="0" rtlCol="0" anchor="ctr"/>
          <a:lstStyle/>
          <a:p>
            <a:pPr marL="0" indent="0">
              <a:buNone/>
            </a:pPr>
            <a:r>
              <a:rPr lang="en-US" sz="1100" b="1" dirty="0">
                <a:solidFill>
                  <a:srgbClr val="0F6E56"/>
                </a:solidFill>
                <a:latin typeface="Calibri" pitchFamily="34" charset="0"/>
                <a:ea typeface="Calibri" pitchFamily="34" charset="-122"/>
                <a:cs typeface="Calibri" pitchFamily="34" charset="-120"/>
              </a:rPr>
              <a:t>✅  Con la instrucción correcta</a:t>
            </a:r>
            <a:endParaRPr lang="en-US" sz="1100" dirty="0"/>
          </a:p>
        </p:txBody>
      </p:sp>
      <p:sp>
        <p:nvSpPr>
          <p:cNvPr id="11" name="Shape 9"/>
          <p:cNvSpPr/>
          <p:nvPr/>
        </p:nvSpPr>
        <p:spPr>
          <a:xfrm>
            <a:off x="4846320" y="1828800"/>
            <a:ext cx="3749040" cy="640080"/>
          </a:xfrm>
          <a:prstGeom prst="roundRect">
            <a:avLst>
              <a:gd name="adj" fmla="val 14286"/>
            </a:avLst>
          </a:prstGeom>
          <a:solidFill>
            <a:srgbClr val="1E1E2E"/>
          </a:solidFill>
          <a:ln w="6350">
            <a:solidFill>
              <a:srgbClr val="2A2A4A"/>
            </a:solidFill>
            <a:prstDash val="solid"/>
          </a:ln>
        </p:spPr>
        <p:txBody>
          <a:bodyPr/>
          <a:lstStyle/>
          <a:p>
            <a:endParaRPr lang="es-ES_tradnl"/>
          </a:p>
        </p:txBody>
      </p:sp>
      <p:sp>
        <p:nvSpPr>
          <p:cNvPr id="12" name="Text 10"/>
          <p:cNvSpPr/>
          <p:nvPr/>
        </p:nvSpPr>
        <p:spPr>
          <a:xfrm>
            <a:off x="5010912" y="1956816"/>
            <a:ext cx="3429000" cy="256032"/>
          </a:xfrm>
          <a:prstGeom prst="rect">
            <a:avLst/>
          </a:prstGeom>
          <a:noFill/>
          <a:ln/>
        </p:spPr>
        <p:txBody>
          <a:bodyPr wrap="square" lIns="0" tIns="0" rIns="0" bIns="0" rtlCol="0" anchor="ctr"/>
          <a:lstStyle/>
          <a:p>
            <a:pPr marL="0" indent="0">
              <a:buNone/>
            </a:pPr>
            <a:r>
              <a:rPr lang="en-US" sz="950" dirty="0">
                <a:solidFill>
                  <a:srgbClr val="F9C74F"/>
                </a:solidFill>
                <a:latin typeface="Courier New" pitchFamily="34" charset="0"/>
                <a:ea typeface="Courier New" pitchFamily="34" charset="-122"/>
                <a:cs typeface="Courier New" pitchFamily="34" charset="-120"/>
              </a:rPr>
              <a:t>"Analiza la diversidad. PRIMERO hazme</a:t>
            </a:r>
            <a:endParaRPr lang="en-US" sz="950" dirty="0"/>
          </a:p>
        </p:txBody>
      </p:sp>
      <p:sp>
        <p:nvSpPr>
          <p:cNvPr id="13" name="Text 11"/>
          <p:cNvSpPr/>
          <p:nvPr/>
        </p:nvSpPr>
        <p:spPr>
          <a:xfrm>
            <a:off x="5010912" y="2231136"/>
            <a:ext cx="3429000" cy="256032"/>
          </a:xfrm>
          <a:prstGeom prst="rect">
            <a:avLst/>
          </a:prstGeom>
          <a:noFill/>
          <a:ln/>
        </p:spPr>
        <p:txBody>
          <a:bodyPr wrap="square" lIns="0" tIns="0" rIns="0" bIns="0" rtlCol="0" anchor="ctr"/>
          <a:lstStyle/>
          <a:p>
            <a:pPr marL="0" indent="0">
              <a:buNone/>
            </a:pPr>
            <a:r>
              <a:rPr lang="en-US" sz="950" dirty="0">
                <a:solidFill>
                  <a:srgbClr val="F9C74F"/>
                </a:solidFill>
                <a:latin typeface="Courier New" pitchFamily="34" charset="0"/>
                <a:ea typeface="Courier New" pitchFamily="34" charset="-122"/>
                <a:cs typeface="Courier New" pitchFamily="34" charset="-120"/>
              </a:rPr>
              <a:t>un plan y espera mi confirmación."</a:t>
            </a:r>
            <a:endParaRPr lang="en-US" sz="950" dirty="0"/>
          </a:p>
        </p:txBody>
      </p:sp>
      <p:sp>
        <p:nvSpPr>
          <p:cNvPr id="14" name="Text 12"/>
          <p:cNvSpPr/>
          <p:nvPr/>
        </p:nvSpPr>
        <p:spPr>
          <a:xfrm>
            <a:off x="4846320" y="2578608"/>
            <a:ext cx="3749040" cy="1188720"/>
          </a:xfrm>
          <a:prstGeom prst="rect">
            <a:avLst/>
          </a:prstGeom>
          <a:noFill/>
          <a:ln/>
        </p:spPr>
        <p:txBody>
          <a:bodyPr wrap="square" lIns="0" tIns="0" rIns="0" bIns="0" rtlCol="0" anchor="ctr"/>
          <a:lstStyle/>
          <a:p>
            <a:pPr marL="0" indent="0">
              <a:buNone/>
            </a:pPr>
            <a:r>
              <a:rPr lang="en-US" sz="1000" dirty="0">
                <a:solidFill>
                  <a:srgbClr val="5F5E5A"/>
                </a:solidFill>
                <a:latin typeface="Calibri" pitchFamily="34" charset="0"/>
                <a:ea typeface="Calibri" pitchFamily="34" charset="-122"/>
                <a:cs typeface="Calibri" pitchFamily="34" charset="-120"/>
              </a:rPr>
              <a:t>El agente describe qué va a hacer, qué paquetes necesita, qué archivos va a crear. Tú apruebas, corriges o rediriges antes de que ejecute una sola línea de código.</a:t>
            </a:r>
            <a:endParaRPr lang="en-US" sz="1000" dirty="0"/>
          </a:p>
        </p:txBody>
      </p:sp>
      <p:sp>
        <p:nvSpPr>
          <p:cNvPr id="15" name="Shape 13"/>
          <p:cNvSpPr/>
          <p:nvPr/>
        </p:nvSpPr>
        <p:spPr>
          <a:xfrm>
            <a:off x="365760" y="4023360"/>
            <a:ext cx="8412480" cy="749808"/>
          </a:xfrm>
          <a:prstGeom prst="roundRect">
            <a:avLst>
              <a:gd name="adj" fmla="val 12195"/>
            </a:avLst>
          </a:prstGeom>
          <a:solidFill>
            <a:srgbClr val="EEEDFE"/>
          </a:solidFill>
          <a:ln w="6350">
            <a:solidFill>
              <a:srgbClr val="534AB7"/>
            </a:solidFill>
            <a:prstDash val="solid"/>
          </a:ln>
        </p:spPr>
        <p:txBody>
          <a:bodyPr/>
          <a:lstStyle/>
          <a:p>
            <a:endParaRPr lang="es-ES_tradnl"/>
          </a:p>
        </p:txBody>
      </p:sp>
      <p:sp>
        <p:nvSpPr>
          <p:cNvPr id="16" name="Text 14"/>
          <p:cNvSpPr/>
          <p:nvPr/>
        </p:nvSpPr>
        <p:spPr>
          <a:xfrm>
            <a:off x="548640" y="4114800"/>
            <a:ext cx="8046720" cy="566928"/>
          </a:xfrm>
          <a:prstGeom prst="rect">
            <a:avLst/>
          </a:prstGeom>
          <a:noFill/>
          <a:ln/>
        </p:spPr>
        <p:txBody>
          <a:bodyPr wrap="square" lIns="0" tIns="0" rIns="0" bIns="0" rtlCol="0" anchor="ctr"/>
          <a:lstStyle/>
          <a:p>
            <a:pPr marL="0" indent="0">
              <a:buNone/>
            </a:pPr>
            <a:r>
              <a:rPr lang="en-US" sz="1100" i="1" dirty="0">
                <a:solidFill>
                  <a:srgbClr val="534AB7"/>
                </a:solidFill>
                <a:latin typeface="Calibri" pitchFamily="34" charset="0"/>
                <a:ea typeface="Calibri" pitchFamily="34" charset="-122"/>
                <a:cs typeface="Calibri" pitchFamily="34" charset="-120"/>
              </a:rPr>
              <a:t>Añade esta instrucción a tu CLAUDE.md: Antes de ejecutar cualquier análisis, hazme un plan detallado y espera mi confirmación.</a:t>
            </a:r>
            <a:endParaRPr lang="en-US" sz="1100" dirty="0"/>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name="Slide 36">
    <p:bg>
      <p:bgPr>
        <a:solidFill>
          <a:srgbClr val="F8F8F6"/>
        </a:solidFill>
        <a:effectLst/>
      </p:bgPr>
    </p:bg>
    <p:spTree>
      <p:nvGrpSpPr>
        <p:cNvPr id="1" name=""/>
        <p:cNvGrpSpPr/>
        <p:nvPr/>
      </p:nvGrpSpPr>
      <p:grpSpPr>
        <a:xfrm>
          <a:off x="0" y="0"/>
          <a:ext cx="0" cy="0"/>
          <a:chOff x="0" y="0"/>
          <a:chExt cx="0" cy="0"/>
        </a:xfrm>
      </p:grpSpPr>
      <p:sp>
        <p:nvSpPr>
          <p:cNvPr id="2" name="Text 0"/>
          <p:cNvSpPr/>
          <p:nvPr/>
        </p:nvSpPr>
        <p:spPr>
          <a:xfrm>
            <a:off x="457200" y="256032"/>
            <a:ext cx="8229600" cy="566928"/>
          </a:xfrm>
          <a:prstGeom prst="rect">
            <a:avLst/>
          </a:prstGeom>
          <a:noFill/>
          <a:ln/>
        </p:spPr>
        <p:txBody>
          <a:bodyPr wrap="square" lIns="0" tIns="0" rIns="0" bIns="0" rtlCol="0" anchor="ctr"/>
          <a:lstStyle/>
          <a:p>
            <a:pPr marL="0" indent="0">
              <a:buNone/>
            </a:pPr>
            <a:r>
              <a:rPr lang="en-US" sz="2700" b="1" dirty="0">
                <a:solidFill>
                  <a:srgbClr val="2C2C2A"/>
                </a:solidFill>
                <a:latin typeface="Cambria" pitchFamily="34" charset="0"/>
                <a:ea typeface="Cambria" pitchFamily="34" charset="-122"/>
                <a:cs typeface="Cambria" pitchFamily="34" charset="-120"/>
              </a:rPr>
              <a:t>Contexto científico y verificación</a:t>
            </a:r>
            <a:endParaRPr lang="en-US" sz="2700" dirty="0"/>
          </a:p>
        </p:txBody>
      </p:sp>
      <p:sp>
        <p:nvSpPr>
          <p:cNvPr id="3" name="Text 1"/>
          <p:cNvSpPr/>
          <p:nvPr/>
        </p:nvSpPr>
        <p:spPr>
          <a:xfrm>
            <a:off x="457200" y="822960"/>
            <a:ext cx="8229600" cy="320040"/>
          </a:xfrm>
          <a:prstGeom prst="rect">
            <a:avLst/>
          </a:prstGeom>
          <a:noFill/>
          <a:ln/>
        </p:spPr>
        <p:txBody>
          <a:bodyPr wrap="square" lIns="0" tIns="0" rIns="0" bIns="0" rtlCol="0" anchor="ctr"/>
          <a:lstStyle/>
          <a:p>
            <a:pPr marL="0" indent="0">
              <a:buNone/>
            </a:pPr>
            <a:r>
              <a:rPr lang="en-US" sz="1300" i="1" dirty="0">
                <a:solidFill>
                  <a:srgbClr val="5F5E5A"/>
                </a:solidFill>
                <a:latin typeface="Calibri" pitchFamily="34" charset="0"/>
                <a:ea typeface="Calibri" pitchFamily="34" charset="-122"/>
                <a:cs typeface="Calibri" pitchFamily="34" charset="-120"/>
              </a:rPr>
              <a:t>El agente ejecuta — tú decides si el resultado tiene sentido</a:t>
            </a:r>
            <a:endParaRPr lang="en-US" sz="1300" dirty="0"/>
          </a:p>
        </p:txBody>
      </p:sp>
      <p:sp>
        <p:nvSpPr>
          <p:cNvPr id="4" name="Shape 2"/>
          <p:cNvSpPr/>
          <p:nvPr/>
        </p:nvSpPr>
        <p:spPr>
          <a:xfrm>
            <a:off x="320040" y="1325880"/>
            <a:ext cx="8503920" cy="1188720"/>
          </a:xfrm>
          <a:prstGeom prst="roundRect">
            <a:avLst>
              <a:gd name="adj" fmla="val 7692"/>
            </a:avLst>
          </a:prstGeom>
          <a:solidFill>
            <a:srgbClr val="FFFFFF"/>
          </a:solidFill>
          <a:ln w="6350">
            <a:solidFill>
              <a:srgbClr val="D3D1C7"/>
            </a:solidFill>
            <a:prstDash val="solid"/>
          </a:ln>
          <a:effectLst>
            <a:outerShdw blurRad="88900" dist="25400" dir="2700000" algn="bl" rotWithShape="0">
              <a:srgbClr val="000000">
                <a:alpha val="11000"/>
              </a:srgbClr>
            </a:outerShdw>
          </a:effectLst>
        </p:spPr>
        <p:txBody>
          <a:bodyPr/>
          <a:lstStyle/>
          <a:p>
            <a:endParaRPr lang="es-ES_tradnl"/>
          </a:p>
        </p:txBody>
      </p:sp>
      <p:sp>
        <p:nvSpPr>
          <p:cNvPr id="5" name="Shape 3"/>
          <p:cNvSpPr/>
          <p:nvPr/>
        </p:nvSpPr>
        <p:spPr>
          <a:xfrm>
            <a:off x="320040" y="1325880"/>
            <a:ext cx="502920" cy="1188720"/>
          </a:xfrm>
          <a:prstGeom prst="roundRect">
            <a:avLst>
              <a:gd name="adj" fmla="val 18182"/>
            </a:avLst>
          </a:prstGeom>
          <a:solidFill>
            <a:srgbClr val="534AB7"/>
          </a:solidFill>
          <a:ln w="12700">
            <a:solidFill>
              <a:srgbClr val="534AB7"/>
            </a:solidFill>
            <a:prstDash val="solid"/>
          </a:ln>
        </p:spPr>
        <p:txBody>
          <a:bodyPr/>
          <a:lstStyle/>
          <a:p>
            <a:endParaRPr lang="es-ES_tradnl"/>
          </a:p>
        </p:txBody>
      </p:sp>
      <p:sp>
        <p:nvSpPr>
          <p:cNvPr id="6" name="Text 4"/>
          <p:cNvSpPr/>
          <p:nvPr/>
        </p:nvSpPr>
        <p:spPr>
          <a:xfrm>
            <a:off x="320040" y="1325880"/>
            <a:ext cx="502920" cy="1188720"/>
          </a:xfrm>
          <a:prstGeom prst="rect">
            <a:avLst/>
          </a:prstGeom>
          <a:noFill/>
          <a:ln/>
        </p:spPr>
        <p:txBody>
          <a:bodyPr wrap="square" lIns="0" tIns="0" rIns="0" bIns="0" rtlCol="0" anchor="ctr"/>
          <a:lstStyle/>
          <a:p>
            <a:pPr marL="0" indent="0" algn="ctr">
              <a:buNone/>
            </a:pPr>
            <a:r>
              <a:rPr lang="en-US" sz="1300" b="1" dirty="0">
                <a:solidFill>
                  <a:srgbClr val="FFFFFF"/>
                </a:solidFill>
                <a:latin typeface="Cambria" pitchFamily="34" charset="0"/>
                <a:ea typeface="Cambria" pitchFamily="34" charset="-122"/>
                <a:cs typeface="Cambria" pitchFamily="34" charset="-120"/>
              </a:rPr>
              <a:t>01</a:t>
            </a:r>
            <a:endParaRPr lang="en-US" sz="1300" dirty="0"/>
          </a:p>
        </p:txBody>
      </p:sp>
      <p:sp>
        <p:nvSpPr>
          <p:cNvPr id="7" name="Text 5"/>
          <p:cNvSpPr/>
          <p:nvPr/>
        </p:nvSpPr>
        <p:spPr>
          <a:xfrm>
            <a:off x="960120" y="1399032"/>
            <a:ext cx="2194560" cy="347472"/>
          </a:xfrm>
          <a:prstGeom prst="rect">
            <a:avLst/>
          </a:prstGeom>
          <a:noFill/>
          <a:ln/>
        </p:spPr>
        <p:txBody>
          <a:bodyPr wrap="square" lIns="0" tIns="0" rIns="0" bIns="0" rtlCol="0" anchor="ctr"/>
          <a:lstStyle/>
          <a:p>
            <a:pPr marL="0" indent="0">
              <a:buNone/>
            </a:pPr>
            <a:r>
              <a:rPr lang="en-US" sz="1050" b="1" dirty="0">
                <a:solidFill>
                  <a:srgbClr val="534AB7"/>
                </a:solidFill>
                <a:latin typeface="Calibri" pitchFamily="34" charset="0"/>
                <a:ea typeface="Calibri" pitchFamily="34" charset="-122"/>
                <a:cs typeface="Calibri" pitchFamily="34" charset="-120"/>
              </a:rPr>
              <a:t>Dar contexto del dominio</a:t>
            </a:r>
            <a:endParaRPr lang="en-US" sz="1050" dirty="0"/>
          </a:p>
        </p:txBody>
      </p:sp>
      <p:sp>
        <p:nvSpPr>
          <p:cNvPr id="8" name="Text 6"/>
          <p:cNvSpPr/>
          <p:nvPr/>
        </p:nvSpPr>
        <p:spPr>
          <a:xfrm>
            <a:off x="960120" y="1764792"/>
            <a:ext cx="2651760" cy="594360"/>
          </a:xfrm>
          <a:prstGeom prst="rect">
            <a:avLst/>
          </a:prstGeom>
          <a:noFill/>
          <a:ln/>
        </p:spPr>
        <p:txBody>
          <a:bodyPr wrap="square" lIns="0" tIns="0" rIns="0" bIns="0" rtlCol="0" anchor="ctr"/>
          <a:lstStyle/>
          <a:p>
            <a:pPr marL="0" indent="0">
              <a:buNone/>
            </a:pPr>
            <a:r>
              <a:rPr lang="en-US" sz="950" dirty="0">
                <a:solidFill>
                  <a:srgbClr val="C0392B"/>
                </a:solidFill>
                <a:latin typeface="Calibri" pitchFamily="34" charset="0"/>
                <a:ea typeface="Calibri" pitchFamily="34" charset="-122"/>
                <a:cs typeface="Calibri" pitchFamily="34" charset="-120"/>
              </a:rPr>
              <a:t>❌ Haz una regresión de diversidad</a:t>
            </a:r>
            <a:endParaRPr lang="en-US" sz="950" dirty="0"/>
          </a:p>
        </p:txBody>
      </p:sp>
      <p:sp>
        <p:nvSpPr>
          <p:cNvPr id="9" name="Text 7"/>
          <p:cNvSpPr/>
          <p:nvPr/>
        </p:nvSpPr>
        <p:spPr>
          <a:xfrm>
            <a:off x="3794760" y="1417320"/>
            <a:ext cx="4846320" cy="1005840"/>
          </a:xfrm>
          <a:prstGeom prst="rect">
            <a:avLst/>
          </a:prstGeom>
          <a:noFill/>
          <a:ln/>
        </p:spPr>
        <p:txBody>
          <a:bodyPr wrap="square" lIns="0" tIns="0" rIns="0" bIns="0" rtlCol="0" anchor="ctr"/>
          <a:lstStyle/>
          <a:p>
            <a:pPr marL="0" indent="0">
              <a:buNone/>
            </a:pPr>
            <a:r>
              <a:rPr lang="en-US" sz="950" dirty="0">
                <a:solidFill>
                  <a:srgbClr val="5F5E5A"/>
                </a:solidFill>
                <a:latin typeface="Calibri" pitchFamily="34" charset="0"/>
                <a:ea typeface="Calibri" pitchFamily="34" charset="-122"/>
                <a:cs typeface="Calibri" pitchFamily="34" charset="-120"/>
              </a:rPr>
              <a:t>✅ Haz una regresión de diversidad alfa (Shannon) vs. humedad relativa (AvgSoilRH). Hipótesis: a menor humedad, menor diversidad.</a:t>
            </a:r>
            <a:endParaRPr lang="en-US" sz="950" dirty="0"/>
          </a:p>
        </p:txBody>
      </p:sp>
      <p:sp>
        <p:nvSpPr>
          <p:cNvPr id="10" name="Shape 8"/>
          <p:cNvSpPr/>
          <p:nvPr/>
        </p:nvSpPr>
        <p:spPr>
          <a:xfrm>
            <a:off x="320040" y="2624328"/>
            <a:ext cx="8503920" cy="1188720"/>
          </a:xfrm>
          <a:prstGeom prst="roundRect">
            <a:avLst>
              <a:gd name="adj" fmla="val 7692"/>
            </a:avLst>
          </a:prstGeom>
          <a:solidFill>
            <a:srgbClr val="FFFFFF"/>
          </a:solidFill>
          <a:ln w="6350">
            <a:solidFill>
              <a:srgbClr val="D3D1C7"/>
            </a:solidFill>
            <a:prstDash val="solid"/>
          </a:ln>
          <a:effectLst>
            <a:outerShdw blurRad="88900" dist="25400" dir="2700000" algn="bl" rotWithShape="0">
              <a:srgbClr val="000000">
                <a:alpha val="11000"/>
              </a:srgbClr>
            </a:outerShdw>
          </a:effectLst>
        </p:spPr>
        <p:txBody>
          <a:bodyPr/>
          <a:lstStyle/>
          <a:p>
            <a:endParaRPr lang="es-ES_tradnl"/>
          </a:p>
        </p:txBody>
      </p:sp>
      <p:sp>
        <p:nvSpPr>
          <p:cNvPr id="11" name="Shape 9"/>
          <p:cNvSpPr/>
          <p:nvPr/>
        </p:nvSpPr>
        <p:spPr>
          <a:xfrm>
            <a:off x="320040" y="2624328"/>
            <a:ext cx="502920" cy="1188720"/>
          </a:xfrm>
          <a:prstGeom prst="roundRect">
            <a:avLst>
              <a:gd name="adj" fmla="val 18182"/>
            </a:avLst>
          </a:prstGeom>
          <a:solidFill>
            <a:srgbClr val="1D9E75"/>
          </a:solidFill>
          <a:ln w="12700">
            <a:solidFill>
              <a:srgbClr val="1D9E75"/>
            </a:solidFill>
            <a:prstDash val="solid"/>
          </a:ln>
        </p:spPr>
        <p:txBody>
          <a:bodyPr/>
          <a:lstStyle/>
          <a:p>
            <a:endParaRPr lang="es-ES_tradnl"/>
          </a:p>
        </p:txBody>
      </p:sp>
      <p:sp>
        <p:nvSpPr>
          <p:cNvPr id="12" name="Text 10"/>
          <p:cNvSpPr/>
          <p:nvPr/>
        </p:nvSpPr>
        <p:spPr>
          <a:xfrm>
            <a:off x="320040" y="2624328"/>
            <a:ext cx="502920" cy="1188720"/>
          </a:xfrm>
          <a:prstGeom prst="rect">
            <a:avLst/>
          </a:prstGeom>
          <a:noFill/>
          <a:ln/>
        </p:spPr>
        <p:txBody>
          <a:bodyPr wrap="square" lIns="0" tIns="0" rIns="0" bIns="0" rtlCol="0" anchor="ctr"/>
          <a:lstStyle/>
          <a:p>
            <a:pPr marL="0" indent="0" algn="ctr">
              <a:buNone/>
            </a:pPr>
            <a:r>
              <a:rPr lang="en-US" sz="1300" b="1" dirty="0">
                <a:solidFill>
                  <a:srgbClr val="FFFFFF"/>
                </a:solidFill>
                <a:latin typeface="Cambria" pitchFamily="34" charset="0"/>
                <a:ea typeface="Cambria" pitchFamily="34" charset="-122"/>
                <a:cs typeface="Cambria" pitchFamily="34" charset="-120"/>
              </a:rPr>
              <a:t>02</a:t>
            </a:r>
            <a:endParaRPr lang="en-US" sz="1300" dirty="0"/>
          </a:p>
        </p:txBody>
      </p:sp>
      <p:sp>
        <p:nvSpPr>
          <p:cNvPr id="13" name="Text 11"/>
          <p:cNvSpPr/>
          <p:nvPr/>
        </p:nvSpPr>
        <p:spPr>
          <a:xfrm>
            <a:off x="960120" y="2697480"/>
            <a:ext cx="2194560" cy="347472"/>
          </a:xfrm>
          <a:prstGeom prst="rect">
            <a:avLst/>
          </a:prstGeom>
          <a:noFill/>
          <a:ln/>
        </p:spPr>
        <p:txBody>
          <a:bodyPr wrap="square" lIns="0" tIns="0" rIns="0" bIns="0" rtlCol="0" anchor="ctr"/>
          <a:lstStyle/>
          <a:p>
            <a:pPr marL="0" indent="0">
              <a:buNone/>
            </a:pPr>
            <a:r>
              <a:rPr lang="en-US" sz="1050" b="1" dirty="0">
                <a:solidFill>
                  <a:srgbClr val="1D9E75"/>
                </a:solidFill>
                <a:latin typeface="Calibri" pitchFamily="34" charset="0"/>
                <a:ea typeface="Calibri" pitchFamily="34" charset="-122"/>
                <a:cs typeface="Calibri" pitchFamily="34" charset="-120"/>
              </a:rPr>
              <a:t>Pedir verificación científica</a:t>
            </a:r>
            <a:endParaRPr lang="en-US" sz="1050" dirty="0"/>
          </a:p>
        </p:txBody>
      </p:sp>
      <p:sp>
        <p:nvSpPr>
          <p:cNvPr id="14" name="Text 12"/>
          <p:cNvSpPr/>
          <p:nvPr/>
        </p:nvSpPr>
        <p:spPr>
          <a:xfrm>
            <a:off x="960120" y="3063240"/>
            <a:ext cx="2651760" cy="594360"/>
          </a:xfrm>
          <a:prstGeom prst="rect">
            <a:avLst/>
          </a:prstGeom>
          <a:noFill/>
          <a:ln/>
        </p:spPr>
        <p:txBody>
          <a:bodyPr wrap="square" lIns="0" tIns="0" rIns="0" bIns="0" rtlCol="0" anchor="ctr"/>
          <a:lstStyle/>
          <a:p>
            <a:pPr marL="0" indent="0">
              <a:buNone/>
            </a:pPr>
            <a:r>
              <a:rPr lang="en-US" sz="950" dirty="0">
                <a:solidFill>
                  <a:srgbClr val="C0392B"/>
                </a:solidFill>
                <a:latin typeface="Calibri" pitchFamily="34" charset="0"/>
                <a:ea typeface="Calibri" pitchFamily="34" charset="-122"/>
                <a:cs typeface="Calibri" pitchFamily="34" charset="-120"/>
              </a:rPr>
              <a:t>❌ ¿Listo?</a:t>
            </a:r>
            <a:endParaRPr lang="en-US" sz="950" dirty="0"/>
          </a:p>
        </p:txBody>
      </p:sp>
      <p:sp>
        <p:nvSpPr>
          <p:cNvPr id="15" name="Text 13"/>
          <p:cNvSpPr/>
          <p:nvPr/>
        </p:nvSpPr>
        <p:spPr>
          <a:xfrm>
            <a:off x="3794760" y="2715768"/>
            <a:ext cx="4846320" cy="1005840"/>
          </a:xfrm>
          <a:prstGeom prst="rect">
            <a:avLst/>
          </a:prstGeom>
          <a:noFill/>
          <a:ln/>
        </p:spPr>
        <p:txBody>
          <a:bodyPr wrap="square" lIns="0" tIns="0" rIns="0" bIns="0" rtlCol="0" anchor="ctr"/>
          <a:lstStyle/>
          <a:p>
            <a:pPr marL="0" indent="0">
              <a:buNone/>
            </a:pPr>
            <a:r>
              <a:rPr lang="en-US" sz="950" dirty="0">
                <a:solidFill>
                  <a:srgbClr val="5F5E5A"/>
                </a:solidFill>
                <a:latin typeface="Calibri" pitchFamily="34" charset="0"/>
                <a:ea typeface="Calibri" pitchFamily="34" charset="-122"/>
                <a:cs typeface="Calibri" pitchFamily="34" charset="-120"/>
              </a:rPr>
              <a:t>✅ ¿Tiene sentido biológico este resultado? Si la correlación es negativa (más humedad, más diversidad), es coherente con Neilson 2017.</a:t>
            </a:r>
            <a:endParaRPr lang="en-US" sz="950" dirty="0"/>
          </a:p>
        </p:txBody>
      </p:sp>
      <p:sp>
        <p:nvSpPr>
          <p:cNvPr id="16" name="Shape 14"/>
          <p:cNvSpPr/>
          <p:nvPr/>
        </p:nvSpPr>
        <p:spPr>
          <a:xfrm>
            <a:off x="320040" y="3922776"/>
            <a:ext cx="8503920" cy="1188720"/>
          </a:xfrm>
          <a:prstGeom prst="roundRect">
            <a:avLst>
              <a:gd name="adj" fmla="val 7692"/>
            </a:avLst>
          </a:prstGeom>
          <a:solidFill>
            <a:srgbClr val="FFFFFF"/>
          </a:solidFill>
          <a:ln w="6350">
            <a:solidFill>
              <a:srgbClr val="D3D1C7"/>
            </a:solidFill>
            <a:prstDash val="solid"/>
          </a:ln>
          <a:effectLst>
            <a:outerShdw blurRad="88900" dist="25400" dir="2700000" algn="bl" rotWithShape="0">
              <a:srgbClr val="000000">
                <a:alpha val="11000"/>
              </a:srgbClr>
            </a:outerShdw>
          </a:effectLst>
        </p:spPr>
        <p:txBody>
          <a:bodyPr/>
          <a:lstStyle/>
          <a:p>
            <a:endParaRPr lang="es-ES_tradnl"/>
          </a:p>
        </p:txBody>
      </p:sp>
      <p:sp>
        <p:nvSpPr>
          <p:cNvPr id="17" name="Shape 15"/>
          <p:cNvSpPr/>
          <p:nvPr/>
        </p:nvSpPr>
        <p:spPr>
          <a:xfrm>
            <a:off x="320040" y="3922776"/>
            <a:ext cx="502920" cy="1188720"/>
          </a:xfrm>
          <a:prstGeom prst="roundRect">
            <a:avLst>
              <a:gd name="adj" fmla="val 18182"/>
            </a:avLst>
          </a:prstGeom>
          <a:solidFill>
            <a:srgbClr val="C97B2A"/>
          </a:solidFill>
          <a:ln w="12700">
            <a:solidFill>
              <a:srgbClr val="C97B2A"/>
            </a:solidFill>
            <a:prstDash val="solid"/>
          </a:ln>
        </p:spPr>
        <p:txBody>
          <a:bodyPr/>
          <a:lstStyle/>
          <a:p>
            <a:endParaRPr lang="es-ES_tradnl"/>
          </a:p>
        </p:txBody>
      </p:sp>
      <p:sp>
        <p:nvSpPr>
          <p:cNvPr id="18" name="Text 16"/>
          <p:cNvSpPr/>
          <p:nvPr/>
        </p:nvSpPr>
        <p:spPr>
          <a:xfrm>
            <a:off x="320040" y="3922776"/>
            <a:ext cx="502920" cy="1188720"/>
          </a:xfrm>
          <a:prstGeom prst="rect">
            <a:avLst/>
          </a:prstGeom>
          <a:noFill/>
          <a:ln/>
        </p:spPr>
        <p:txBody>
          <a:bodyPr wrap="square" lIns="0" tIns="0" rIns="0" bIns="0" rtlCol="0" anchor="ctr"/>
          <a:lstStyle/>
          <a:p>
            <a:pPr marL="0" indent="0" algn="ctr">
              <a:buNone/>
            </a:pPr>
            <a:r>
              <a:rPr lang="en-US" sz="1300" b="1" dirty="0">
                <a:solidFill>
                  <a:srgbClr val="FFFFFF"/>
                </a:solidFill>
                <a:latin typeface="Cambria" pitchFamily="34" charset="0"/>
                <a:ea typeface="Cambria" pitchFamily="34" charset="-122"/>
                <a:cs typeface="Cambria" pitchFamily="34" charset="-120"/>
              </a:rPr>
              <a:t>03</a:t>
            </a:r>
            <a:endParaRPr lang="en-US" sz="1300" dirty="0"/>
          </a:p>
        </p:txBody>
      </p:sp>
      <p:sp>
        <p:nvSpPr>
          <p:cNvPr id="19" name="Text 17"/>
          <p:cNvSpPr/>
          <p:nvPr/>
        </p:nvSpPr>
        <p:spPr>
          <a:xfrm>
            <a:off x="960120" y="3995928"/>
            <a:ext cx="2194560" cy="347472"/>
          </a:xfrm>
          <a:prstGeom prst="rect">
            <a:avLst/>
          </a:prstGeom>
          <a:noFill/>
          <a:ln/>
        </p:spPr>
        <p:txBody>
          <a:bodyPr wrap="square" lIns="0" tIns="0" rIns="0" bIns="0" rtlCol="0" anchor="ctr"/>
          <a:lstStyle/>
          <a:p>
            <a:pPr marL="0" indent="0">
              <a:buNone/>
            </a:pPr>
            <a:r>
              <a:rPr lang="en-US" sz="1050" b="1" dirty="0">
                <a:solidFill>
                  <a:srgbClr val="C97B2A"/>
                </a:solidFill>
                <a:latin typeface="Calibri" pitchFamily="34" charset="0"/>
                <a:ea typeface="Calibri" pitchFamily="34" charset="-122"/>
                <a:cs typeface="Calibri" pitchFamily="34" charset="-120"/>
              </a:rPr>
              <a:t>Definir el formato del output</a:t>
            </a:r>
            <a:endParaRPr lang="en-US" sz="1050" dirty="0"/>
          </a:p>
        </p:txBody>
      </p:sp>
      <p:sp>
        <p:nvSpPr>
          <p:cNvPr id="20" name="Text 18"/>
          <p:cNvSpPr/>
          <p:nvPr/>
        </p:nvSpPr>
        <p:spPr>
          <a:xfrm>
            <a:off x="960120" y="4361688"/>
            <a:ext cx="2651760" cy="594360"/>
          </a:xfrm>
          <a:prstGeom prst="rect">
            <a:avLst/>
          </a:prstGeom>
          <a:noFill/>
          <a:ln/>
        </p:spPr>
        <p:txBody>
          <a:bodyPr wrap="square" lIns="0" tIns="0" rIns="0" bIns="0" rtlCol="0" anchor="ctr"/>
          <a:lstStyle/>
          <a:p>
            <a:pPr marL="0" indent="0">
              <a:buNone/>
            </a:pPr>
            <a:r>
              <a:rPr lang="en-US" sz="950" dirty="0">
                <a:solidFill>
                  <a:srgbClr val="C0392B"/>
                </a:solidFill>
                <a:latin typeface="Calibri" pitchFamily="34" charset="0"/>
                <a:ea typeface="Calibri" pitchFamily="34" charset="-122"/>
                <a:cs typeface="Calibri" pitchFamily="34" charset="-120"/>
              </a:rPr>
              <a:t>❌ Genera la figura</a:t>
            </a:r>
            <a:endParaRPr lang="en-US" sz="950" dirty="0"/>
          </a:p>
        </p:txBody>
      </p:sp>
      <p:sp>
        <p:nvSpPr>
          <p:cNvPr id="21" name="Text 19"/>
          <p:cNvSpPr/>
          <p:nvPr/>
        </p:nvSpPr>
        <p:spPr>
          <a:xfrm>
            <a:off x="3794760" y="4014216"/>
            <a:ext cx="4846320" cy="1005840"/>
          </a:xfrm>
          <a:prstGeom prst="rect">
            <a:avLst/>
          </a:prstGeom>
          <a:noFill/>
          <a:ln/>
        </p:spPr>
        <p:txBody>
          <a:bodyPr wrap="square" lIns="0" tIns="0" rIns="0" bIns="0" rtlCol="0" anchor="ctr"/>
          <a:lstStyle/>
          <a:p>
            <a:pPr marL="0" indent="0">
              <a:buNone/>
            </a:pPr>
            <a:r>
              <a:rPr lang="en-US" sz="950" dirty="0">
                <a:solidFill>
                  <a:srgbClr val="5F5E5A"/>
                </a:solidFill>
                <a:latin typeface="Calibri" pitchFamily="34" charset="0"/>
                <a:ea typeface="Calibri" pitchFamily="34" charset="-122"/>
                <a:cs typeface="Calibri" pitchFamily="34" charset="-120"/>
              </a:rPr>
              <a:t>✅ Scatter plot. Eje X: AvgSoilRH (%). Eje Y: Shannon. Color por transecto. Línea de regresión con banda de confianza 95%. PNG 300 dpi en outputs/.</a:t>
            </a:r>
            <a:endParaRPr lang="en-US" sz="950" dirty="0"/>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name="Slide 37">
    <p:bg>
      <p:bgPr>
        <a:solidFill>
          <a:srgbClr val="F8F8F6"/>
        </a:solidFill>
        <a:effectLst/>
      </p:bgPr>
    </p:bg>
    <p:spTree>
      <p:nvGrpSpPr>
        <p:cNvPr id="1" name=""/>
        <p:cNvGrpSpPr/>
        <p:nvPr/>
      </p:nvGrpSpPr>
      <p:grpSpPr>
        <a:xfrm>
          <a:off x="0" y="0"/>
          <a:ext cx="0" cy="0"/>
          <a:chOff x="0" y="0"/>
          <a:chExt cx="0" cy="0"/>
        </a:xfrm>
      </p:grpSpPr>
      <p:sp>
        <p:nvSpPr>
          <p:cNvPr id="2" name="Text 0"/>
          <p:cNvSpPr/>
          <p:nvPr/>
        </p:nvSpPr>
        <p:spPr>
          <a:xfrm>
            <a:off x="457200" y="256032"/>
            <a:ext cx="8229600" cy="566928"/>
          </a:xfrm>
          <a:prstGeom prst="rect">
            <a:avLst/>
          </a:prstGeom>
          <a:noFill/>
          <a:ln/>
        </p:spPr>
        <p:txBody>
          <a:bodyPr wrap="square" lIns="0" tIns="0" rIns="0" bIns="0" rtlCol="0" anchor="ctr"/>
          <a:lstStyle/>
          <a:p>
            <a:pPr marL="0" indent="0">
              <a:buNone/>
            </a:pPr>
            <a:r>
              <a:rPr lang="en-US" sz="2700" b="1" dirty="0">
                <a:solidFill>
                  <a:srgbClr val="2C2C2A"/>
                </a:solidFill>
                <a:latin typeface="Cambria" pitchFamily="34" charset="0"/>
                <a:ea typeface="Cambria" pitchFamily="34" charset="-122"/>
                <a:cs typeface="Cambria" pitchFamily="34" charset="-120"/>
              </a:rPr>
              <a:t>Cuando el agente falla</a:t>
            </a:r>
            <a:endParaRPr lang="en-US" sz="2700" dirty="0"/>
          </a:p>
        </p:txBody>
      </p:sp>
      <p:sp>
        <p:nvSpPr>
          <p:cNvPr id="3" name="Text 1"/>
          <p:cNvSpPr/>
          <p:nvPr/>
        </p:nvSpPr>
        <p:spPr>
          <a:xfrm>
            <a:off x="457200" y="822960"/>
            <a:ext cx="8229600" cy="320040"/>
          </a:xfrm>
          <a:prstGeom prst="rect">
            <a:avLst/>
          </a:prstGeom>
          <a:noFill/>
          <a:ln/>
        </p:spPr>
        <p:txBody>
          <a:bodyPr wrap="square" lIns="0" tIns="0" rIns="0" bIns="0" rtlCol="0" anchor="ctr"/>
          <a:lstStyle/>
          <a:p>
            <a:pPr marL="0" indent="0">
              <a:buNone/>
            </a:pPr>
            <a:r>
              <a:rPr lang="en-US" sz="1300" i="1" dirty="0">
                <a:solidFill>
                  <a:srgbClr val="5F5E5A"/>
                </a:solidFill>
                <a:latin typeface="Calibri" pitchFamily="34" charset="0"/>
                <a:ea typeface="Calibri" pitchFamily="34" charset="-122"/>
                <a:cs typeface="Calibri" pitchFamily="34" charset="-120"/>
              </a:rPr>
              <a:t>Cómo instruirlo para que reporte, no que silencie</a:t>
            </a:r>
            <a:endParaRPr lang="en-US" sz="1300" dirty="0"/>
          </a:p>
        </p:txBody>
      </p:sp>
      <p:sp>
        <p:nvSpPr>
          <p:cNvPr id="4" name="Shape 2"/>
          <p:cNvSpPr/>
          <p:nvPr/>
        </p:nvSpPr>
        <p:spPr>
          <a:xfrm>
            <a:off x="365760" y="1325880"/>
            <a:ext cx="8412480" cy="960120"/>
          </a:xfrm>
          <a:prstGeom prst="roundRect">
            <a:avLst>
              <a:gd name="adj" fmla="val 9524"/>
            </a:avLst>
          </a:prstGeom>
          <a:solidFill>
            <a:srgbClr val="1E1E2E"/>
          </a:solidFill>
          <a:ln w="6350">
            <a:solidFill>
              <a:srgbClr val="2A2A4A"/>
            </a:solidFill>
            <a:prstDash val="solid"/>
          </a:ln>
        </p:spPr>
        <p:txBody>
          <a:bodyPr/>
          <a:lstStyle/>
          <a:p>
            <a:endParaRPr lang="es-ES_tradnl"/>
          </a:p>
        </p:txBody>
      </p:sp>
      <p:sp>
        <p:nvSpPr>
          <p:cNvPr id="5" name="Text 3"/>
          <p:cNvSpPr/>
          <p:nvPr/>
        </p:nvSpPr>
        <p:spPr>
          <a:xfrm>
            <a:off x="530352" y="1453896"/>
            <a:ext cx="8092440" cy="256032"/>
          </a:xfrm>
          <a:prstGeom prst="rect">
            <a:avLst/>
          </a:prstGeom>
          <a:noFill/>
          <a:ln/>
        </p:spPr>
        <p:txBody>
          <a:bodyPr wrap="square" lIns="0" tIns="0" rIns="0" bIns="0" rtlCol="0" anchor="ctr"/>
          <a:lstStyle/>
          <a:p>
            <a:pPr marL="0" indent="0">
              <a:buNone/>
            </a:pPr>
            <a:r>
              <a:rPr lang="en-US" sz="950" dirty="0">
                <a:solidFill>
                  <a:srgbClr val="888780"/>
                </a:solidFill>
                <a:latin typeface="Courier New" pitchFamily="34" charset="0"/>
                <a:ea typeface="Courier New" pitchFamily="34" charset="-122"/>
                <a:cs typeface="Courier New" pitchFamily="34" charset="-120"/>
              </a:rPr>
              <a:t># Añadir a tu CLAUDE.md:</a:t>
            </a:r>
            <a:endParaRPr lang="en-US" sz="950" dirty="0"/>
          </a:p>
        </p:txBody>
      </p:sp>
      <p:sp>
        <p:nvSpPr>
          <p:cNvPr id="6" name="Text 4"/>
          <p:cNvSpPr/>
          <p:nvPr/>
        </p:nvSpPr>
        <p:spPr>
          <a:xfrm>
            <a:off x="530352" y="1728216"/>
            <a:ext cx="8092440" cy="256032"/>
          </a:xfrm>
          <a:prstGeom prst="rect">
            <a:avLst/>
          </a:prstGeom>
          <a:noFill/>
          <a:ln/>
        </p:spPr>
        <p:txBody>
          <a:bodyPr wrap="square" lIns="0" tIns="0" rIns="0" bIns="0" rtlCol="0" anchor="ctr"/>
          <a:lstStyle/>
          <a:p>
            <a:pPr marL="0" indent="0">
              <a:buNone/>
            </a:pPr>
            <a:r>
              <a:rPr lang="en-US" sz="950" dirty="0">
                <a:solidFill>
                  <a:srgbClr val="F9C74F"/>
                </a:solidFill>
                <a:latin typeface="Courier New" pitchFamily="34" charset="0"/>
                <a:ea typeface="Courier New" pitchFamily="34" charset="-122"/>
                <a:cs typeface="Courier New" pitchFamily="34" charset="-120"/>
              </a:rPr>
              <a:t>Si encuentras un error, muéstramelo completo y explícame en lenguaje simple qué significa.</a:t>
            </a:r>
            <a:endParaRPr lang="en-US" sz="950" dirty="0"/>
          </a:p>
        </p:txBody>
      </p:sp>
      <p:sp>
        <p:nvSpPr>
          <p:cNvPr id="7" name="Text 5"/>
          <p:cNvSpPr/>
          <p:nvPr/>
        </p:nvSpPr>
        <p:spPr>
          <a:xfrm>
            <a:off x="530352" y="2002536"/>
            <a:ext cx="8092440" cy="256032"/>
          </a:xfrm>
          <a:prstGeom prst="rect">
            <a:avLst/>
          </a:prstGeom>
          <a:noFill/>
          <a:ln/>
        </p:spPr>
        <p:txBody>
          <a:bodyPr wrap="square" lIns="0" tIns="0" rIns="0" bIns="0" rtlCol="0" anchor="ctr"/>
          <a:lstStyle/>
          <a:p>
            <a:pPr marL="0" indent="0">
              <a:buNone/>
            </a:pPr>
            <a:r>
              <a:rPr lang="en-US" sz="950" dirty="0">
                <a:solidFill>
                  <a:srgbClr val="F9C74F"/>
                </a:solidFill>
                <a:latin typeface="Courier New" pitchFamily="34" charset="0"/>
                <a:ea typeface="Courier New" pitchFamily="34" charset="-122"/>
                <a:cs typeface="Courier New" pitchFamily="34" charset="-120"/>
              </a:rPr>
              <a:t>No intentes corregirlo más de 2 veces sin preguntarme primero.</a:t>
            </a:r>
            <a:endParaRPr lang="en-US" sz="950" dirty="0"/>
          </a:p>
        </p:txBody>
      </p:sp>
      <p:sp>
        <p:nvSpPr>
          <p:cNvPr id="8" name="Shape 6"/>
          <p:cNvSpPr/>
          <p:nvPr/>
        </p:nvSpPr>
        <p:spPr>
          <a:xfrm>
            <a:off x="320040" y="2423160"/>
            <a:ext cx="2834640" cy="2560320"/>
          </a:xfrm>
          <a:prstGeom prst="roundRect">
            <a:avLst>
              <a:gd name="adj" fmla="val 3571"/>
            </a:avLst>
          </a:prstGeom>
          <a:solidFill>
            <a:srgbClr val="FFFFFF"/>
          </a:solidFill>
          <a:ln w="6350">
            <a:solidFill>
              <a:srgbClr val="D3D1C7"/>
            </a:solidFill>
            <a:prstDash val="solid"/>
          </a:ln>
          <a:effectLst>
            <a:outerShdw blurRad="88900" dist="25400" dir="2700000" algn="bl" rotWithShape="0">
              <a:srgbClr val="000000">
                <a:alpha val="11000"/>
              </a:srgbClr>
            </a:outerShdw>
          </a:effectLst>
        </p:spPr>
        <p:txBody>
          <a:bodyPr/>
          <a:lstStyle/>
          <a:p>
            <a:endParaRPr lang="es-ES_tradnl"/>
          </a:p>
        </p:txBody>
      </p:sp>
      <p:sp>
        <p:nvSpPr>
          <p:cNvPr id="9" name="Text 7"/>
          <p:cNvSpPr/>
          <p:nvPr/>
        </p:nvSpPr>
        <p:spPr>
          <a:xfrm>
            <a:off x="457200" y="2514600"/>
            <a:ext cx="2560320" cy="365760"/>
          </a:xfrm>
          <a:prstGeom prst="rect">
            <a:avLst/>
          </a:prstGeom>
          <a:noFill/>
          <a:ln/>
        </p:spPr>
        <p:txBody>
          <a:bodyPr wrap="square" lIns="0" tIns="0" rIns="0" bIns="0" rtlCol="0" anchor="ctr"/>
          <a:lstStyle/>
          <a:p>
            <a:pPr marL="0" indent="0">
              <a:buNone/>
            </a:pPr>
            <a:r>
              <a:rPr lang="en-US" sz="1050" b="1" dirty="0">
                <a:solidFill>
                  <a:srgbClr val="534AB7"/>
                </a:solidFill>
                <a:latin typeface="Calibri" pitchFamily="34" charset="0"/>
                <a:ea typeface="Calibri" pitchFamily="34" charset="-122"/>
                <a:cs typeface="Calibri" pitchFamily="34" charset="-120"/>
              </a:rPr>
              <a:t>Error de Python</a:t>
            </a:r>
            <a:endParaRPr lang="en-US" sz="1050" dirty="0"/>
          </a:p>
        </p:txBody>
      </p:sp>
      <p:sp>
        <p:nvSpPr>
          <p:cNvPr id="10" name="Text 8"/>
          <p:cNvSpPr/>
          <p:nvPr/>
        </p:nvSpPr>
        <p:spPr>
          <a:xfrm>
            <a:off x="457200" y="2926080"/>
            <a:ext cx="2560320" cy="685800"/>
          </a:xfrm>
          <a:prstGeom prst="rect">
            <a:avLst/>
          </a:prstGeom>
          <a:noFill/>
          <a:ln/>
        </p:spPr>
        <p:txBody>
          <a:bodyPr wrap="square" lIns="0" tIns="0" rIns="0" bIns="0" rtlCol="0" anchor="ctr"/>
          <a:lstStyle/>
          <a:p>
            <a:pPr marL="0" indent="0">
              <a:buNone/>
            </a:pPr>
            <a:r>
              <a:rPr lang="en-US" sz="950" dirty="0">
                <a:solidFill>
                  <a:srgbClr val="5F5E5A"/>
                </a:solidFill>
                <a:latin typeface="Calibri" pitchFamily="34" charset="0"/>
                <a:ea typeface="Calibri" pitchFamily="34" charset="-122"/>
                <a:cs typeface="Calibri" pitchFamily="34" charset="-120"/>
              </a:rPr>
              <a:t>Causa: Paquete no instalado, sintaxis incorrecta, nombre de columna mal escrito</a:t>
            </a:r>
            <a:endParaRPr lang="en-US" sz="950" dirty="0"/>
          </a:p>
        </p:txBody>
      </p:sp>
      <p:sp>
        <p:nvSpPr>
          <p:cNvPr id="11" name="Text 9"/>
          <p:cNvSpPr/>
          <p:nvPr/>
        </p:nvSpPr>
        <p:spPr>
          <a:xfrm>
            <a:off x="457200" y="3657600"/>
            <a:ext cx="2560320" cy="1170432"/>
          </a:xfrm>
          <a:prstGeom prst="rect">
            <a:avLst/>
          </a:prstGeom>
          <a:noFill/>
          <a:ln/>
        </p:spPr>
        <p:txBody>
          <a:bodyPr wrap="square" lIns="0" tIns="0" rIns="0" bIns="0" rtlCol="0" anchor="ctr"/>
          <a:lstStyle/>
          <a:p>
            <a:pPr marL="0" indent="0">
              <a:buNone/>
            </a:pPr>
            <a:r>
              <a:rPr lang="en-US" sz="950" dirty="0">
                <a:solidFill>
                  <a:srgbClr val="2C2C2A"/>
                </a:solidFill>
                <a:latin typeface="Calibri" pitchFamily="34" charset="0"/>
                <a:ea typeface="Calibri" pitchFamily="34" charset="-122"/>
                <a:cs typeface="Calibri" pitchFamily="34" charset="-120"/>
              </a:rPr>
              <a:t>Qué hacer: El agente lo muestra, explica la causa y propone instalación con conda install. Tú apruebas.</a:t>
            </a:r>
            <a:endParaRPr lang="en-US" sz="950" dirty="0"/>
          </a:p>
        </p:txBody>
      </p:sp>
      <p:sp>
        <p:nvSpPr>
          <p:cNvPr id="12" name="Shape 10"/>
          <p:cNvSpPr/>
          <p:nvPr/>
        </p:nvSpPr>
        <p:spPr>
          <a:xfrm>
            <a:off x="3291840" y="2423160"/>
            <a:ext cx="2834640" cy="2560320"/>
          </a:xfrm>
          <a:prstGeom prst="roundRect">
            <a:avLst>
              <a:gd name="adj" fmla="val 3571"/>
            </a:avLst>
          </a:prstGeom>
          <a:solidFill>
            <a:srgbClr val="FFFFFF"/>
          </a:solidFill>
          <a:ln w="6350">
            <a:solidFill>
              <a:srgbClr val="D3D1C7"/>
            </a:solidFill>
            <a:prstDash val="solid"/>
          </a:ln>
          <a:effectLst>
            <a:outerShdw blurRad="88900" dist="25400" dir="2700000" algn="bl" rotWithShape="0">
              <a:srgbClr val="000000">
                <a:alpha val="11000"/>
              </a:srgbClr>
            </a:outerShdw>
          </a:effectLst>
        </p:spPr>
        <p:txBody>
          <a:bodyPr/>
          <a:lstStyle/>
          <a:p>
            <a:endParaRPr lang="es-ES_tradnl"/>
          </a:p>
        </p:txBody>
      </p:sp>
      <p:sp>
        <p:nvSpPr>
          <p:cNvPr id="13" name="Text 11"/>
          <p:cNvSpPr/>
          <p:nvPr/>
        </p:nvSpPr>
        <p:spPr>
          <a:xfrm>
            <a:off x="3429000" y="2514600"/>
            <a:ext cx="2560320" cy="365760"/>
          </a:xfrm>
          <a:prstGeom prst="rect">
            <a:avLst/>
          </a:prstGeom>
          <a:noFill/>
          <a:ln/>
        </p:spPr>
        <p:txBody>
          <a:bodyPr wrap="square" lIns="0" tIns="0" rIns="0" bIns="0" rtlCol="0" anchor="ctr"/>
          <a:lstStyle/>
          <a:p>
            <a:pPr marL="0" indent="0">
              <a:buNone/>
            </a:pPr>
            <a:r>
              <a:rPr lang="en-US" sz="1050" b="1" dirty="0">
                <a:solidFill>
                  <a:srgbClr val="1D9E75"/>
                </a:solidFill>
                <a:latin typeface="Calibri" pitchFamily="34" charset="0"/>
                <a:ea typeface="Calibri" pitchFamily="34" charset="-122"/>
                <a:cs typeface="Calibri" pitchFamily="34" charset="-120"/>
              </a:rPr>
              <a:t>Resultado sin sentido</a:t>
            </a:r>
            <a:endParaRPr lang="en-US" sz="1050" dirty="0"/>
          </a:p>
        </p:txBody>
      </p:sp>
      <p:sp>
        <p:nvSpPr>
          <p:cNvPr id="14" name="Text 12"/>
          <p:cNvSpPr/>
          <p:nvPr/>
        </p:nvSpPr>
        <p:spPr>
          <a:xfrm>
            <a:off x="3429000" y="2926080"/>
            <a:ext cx="2560320" cy="685800"/>
          </a:xfrm>
          <a:prstGeom prst="rect">
            <a:avLst/>
          </a:prstGeom>
          <a:noFill/>
          <a:ln/>
        </p:spPr>
        <p:txBody>
          <a:bodyPr wrap="square" lIns="0" tIns="0" rIns="0" bIns="0" rtlCol="0" anchor="ctr"/>
          <a:lstStyle/>
          <a:p>
            <a:pPr marL="0" indent="0">
              <a:buNone/>
            </a:pPr>
            <a:r>
              <a:rPr lang="en-US" sz="950" dirty="0">
                <a:solidFill>
                  <a:srgbClr val="5F5E5A"/>
                </a:solidFill>
                <a:latin typeface="Calibri" pitchFamily="34" charset="0"/>
                <a:ea typeface="Calibri" pitchFamily="34" charset="-122"/>
                <a:cs typeface="Calibri" pitchFamily="34" charset="-120"/>
              </a:rPr>
              <a:t>Causa: El agente calculó algo correcto pero biológicamente absurdo (p. ej. R²=-0.3)</a:t>
            </a:r>
            <a:endParaRPr lang="en-US" sz="950" dirty="0"/>
          </a:p>
        </p:txBody>
      </p:sp>
      <p:sp>
        <p:nvSpPr>
          <p:cNvPr id="15" name="Text 13"/>
          <p:cNvSpPr/>
          <p:nvPr/>
        </p:nvSpPr>
        <p:spPr>
          <a:xfrm>
            <a:off x="3429000" y="3657600"/>
            <a:ext cx="2560320" cy="1170432"/>
          </a:xfrm>
          <a:prstGeom prst="rect">
            <a:avLst/>
          </a:prstGeom>
          <a:noFill/>
          <a:ln/>
        </p:spPr>
        <p:txBody>
          <a:bodyPr wrap="square" lIns="0" tIns="0" rIns="0" bIns="0" rtlCol="0" anchor="ctr"/>
          <a:lstStyle/>
          <a:p>
            <a:pPr marL="0" indent="0">
              <a:buNone/>
            </a:pPr>
            <a:r>
              <a:rPr lang="en-US" sz="950" dirty="0">
                <a:solidFill>
                  <a:srgbClr val="2C2C2A"/>
                </a:solidFill>
                <a:latin typeface="Calibri" pitchFamily="34" charset="0"/>
                <a:ea typeface="Calibri" pitchFamily="34" charset="-122"/>
                <a:cs typeface="Calibri" pitchFamily="34" charset="-120"/>
              </a:rPr>
              <a:t>Qué hacer: NO es un error de código — es señal de que el análisis necesita revisión. El agente no puede detectarlo solo: eres tú quien debe revisarlo.</a:t>
            </a:r>
            <a:endParaRPr lang="en-US" sz="950" dirty="0"/>
          </a:p>
        </p:txBody>
      </p:sp>
      <p:sp>
        <p:nvSpPr>
          <p:cNvPr id="16" name="Shape 14"/>
          <p:cNvSpPr/>
          <p:nvPr/>
        </p:nvSpPr>
        <p:spPr>
          <a:xfrm>
            <a:off x="6263640" y="2423160"/>
            <a:ext cx="2834640" cy="2560320"/>
          </a:xfrm>
          <a:prstGeom prst="roundRect">
            <a:avLst>
              <a:gd name="adj" fmla="val 3571"/>
            </a:avLst>
          </a:prstGeom>
          <a:solidFill>
            <a:srgbClr val="FFFFFF"/>
          </a:solidFill>
          <a:ln w="6350">
            <a:solidFill>
              <a:srgbClr val="D3D1C7"/>
            </a:solidFill>
            <a:prstDash val="solid"/>
          </a:ln>
          <a:effectLst>
            <a:outerShdw blurRad="88900" dist="25400" dir="2700000" algn="bl" rotWithShape="0">
              <a:srgbClr val="000000">
                <a:alpha val="11000"/>
              </a:srgbClr>
            </a:outerShdw>
          </a:effectLst>
        </p:spPr>
        <p:txBody>
          <a:bodyPr/>
          <a:lstStyle/>
          <a:p>
            <a:endParaRPr lang="es-ES_tradnl"/>
          </a:p>
        </p:txBody>
      </p:sp>
      <p:sp>
        <p:nvSpPr>
          <p:cNvPr id="17" name="Text 15"/>
          <p:cNvSpPr/>
          <p:nvPr/>
        </p:nvSpPr>
        <p:spPr>
          <a:xfrm>
            <a:off x="6400800" y="2514600"/>
            <a:ext cx="2560320" cy="365760"/>
          </a:xfrm>
          <a:prstGeom prst="rect">
            <a:avLst/>
          </a:prstGeom>
          <a:noFill/>
          <a:ln/>
        </p:spPr>
        <p:txBody>
          <a:bodyPr wrap="square" lIns="0" tIns="0" rIns="0" bIns="0" rtlCol="0" anchor="ctr"/>
          <a:lstStyle/>
          <a:p>
            <a:pPr marL="0" indent="0">
              <a:buNone/>
            </a:pPr>
            <a:r>
              <a:rPr lang="en-US" sz="1050" b="1" dirty="0">
                <a:solidFill>
                  <a:srgbClr val="C97B2A"/>
                </a:solidFill>
                <a:latin typeface="Calibri" pitchFamily="34" charset="0"/>
                <a:ea typeface="Calibri" pitchFamily="34" charset="-122"/>
                <a:cs typeface="Calibri" pitchFamily="34" charset="-120"/>
              </a:rPr>
              <a:t>Alucinación estadística</a:t>
            </a:r>
            <a:endParaRPr lang="en-US" sz="1050" dirty="0"/>
          </a:p>
        </p:txBody>
      </p:sp>
      <p:sp>
        <p:nvSpPr>
          <p:cNvPr id="18" name="Text 16"/>
          <p:cNvSpPr/>
          <p:nvPr/>
        </p:nvSpPr>
        <p:spPr>
          <a:xfrm>
            <a:off x="6400800" y="2926080"/>
            <a:ext cx="2560320" cy="685800"/>
          </a:xfrm>
          <a:prstGeom prst="rect">
            <a:avLst/>
          </a:prstGeom>
          <a:noFill/>
          <a:ln/>
        </p:spPr>
        <p:txBody>
          <a:bodyPr wrap="square" lIns="0" tIns="0" rIns="0" bIns="0" rtlCol="0" anchor="ctr"/>
          <a:lstStyle/>
          <a:p>
            <a:pPr marL="0" indent="0">
              <a:buNone/>
            </a:pPr>
            <a:r>
              <a:rPr lang="en-US" sz="950" dirty="0">
                <a:solidFill>
                  <a:srgbClr val="5F5E5A"/>
                </a:solidFill>
                <a:latin typeface="Calibri" pitchFamily="34" charset="0"/>
                <a:ea typeface="Calibri" pitchFamily="34" charset="-122"/>
                <a:cs typeface="Calibri" pitchFamily="34" charset="-120"/>
              </a:rPr>
              <a:t>Causa: El agente inventa un resultado o usa una función que no existe en Python</a:t>
            </a:r>
            <a:endParaRPr lang="en-US" sz="950" dirty="0"/>
          </a:p>
        </p:txBody>
      </p:sp>
      <p:sp>
        <p:nvSpPr>
          <p:cNvPr id="19" name="Text 17"/>
          <p:cNvSpPr/>
          <p:nvPr/>
        </p:nvSpPr>
        <p:spPr>
          <a:xfrm>
            <a:off x="6400800" y="3657600"/>
            <a:ext cx="2560320" cy="1170432"/>
          </a:xfrm>
          <a:prstGeom prst="rect">
            <a:avLst/>
          </a:prstGeom>
          <a:noFill/>
          <a:ln/>
        </p:spPr>
        <p:txBody>
          <a:bodyPr wrap="square" lIns="0" tIns="0" rIns="0" bIns="0" rtlCol="0" anchor="ctr"/>
          <a:lstStyle/>
          <a:p>
            <a:pPr marL="0" indent="0">
              <a:buNone/>
            </a:pPr>
            <a:r>
              <a:rPr lang="en-US" sz="950" dirty="0">
                <a:solidFill>
                  <a:srgbClr val="2C2C2A"/>
                </a:solidFill>
                <a:latin typeface="Calibri" pitchFamily="34" charset="0"/>
                <a:ea typeface="Calibri" pitchFamily="34" charset="-122"/>
                <a:cs typeface="Calibri" pitchFamily="34" charset="-120"/>
              </a:rPr>
              <a:t>Qué hacer: Verifica SIEMPRE los números contra expected_outputs/. Si algo no coincide, pide al agente que muestre el código exacto que usó.</a:t>
            </a:r>
            <a:endParaRPr lang="en-US" sz="950" dirty="0"/>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name="Slide 38">
    <p:bg>
      <p:bgPr>
        <a:solidFill>
          <a:srgbClr val="1A1A2E"/>
        </a:solidFill>
        <a:effectLst/>
      </p:bgPr>
    </p:bg>
    <p:spTree>
      <p:nvGrpSpPr>
        <p:cNvPr id="1" name=""/>
        <p:cNvGrpSpPr/>
        <p:nvPr/>
      </p:nvGrpSpPr>
      <p:grpSpPr>
        <a:xfrm>
          <a:off x="0" y="0"/>
          <a:ext cx="0" cy="0"/>
          <a:chOff x="0" y="0"/>
          <a:chExt cx="0" cy="0"/>
        </a:xfrm>
      </p:grpSpPr>
      <p:sp>
        <p:nvSpPr>
          <p:cNvPr id="2" name="Shape 0"/>
          <p:cNvSpPr/>
          <p:nvPr/>
        </p:nvSpPr>
        <p:spPr>
          <a:xfrm>
            <a:off x="6858000" y="-914400"/>
            <a:ext cx="4114800" cy="4114800"/>
          </a:xfrm>
          <a:prstGeom prst="ellipse">
            <a:avLst/>
          </a:prstGeom>
          <a:solidFill>
            <a:srgbClr val="1D9E75">
              <a:alpha val="18000"/>
            </a:srgbClr>
          </a:solidFill>
          <a:ln w="12700">
            <a:solidFill>
              <a:srgbClr val="1D9E75">
                <a:alpha val="18000"/>
              </a:srgbClr>
            </a:solidFill>
            <a:prstDash val="solid"/>
          </a:ln>
        </p:spPr>
        <p:txBody>
          <a:bodyPr/>
          <a:lstStyle/>
          <a:p>
            <a:endParaRPr lang="es-ES_tradnl"/>
          </a:p>
        </p:txBody>
      </p:sp>
      <p:sp>
        <p:nvSpPr>
          <p:cNvPr id="3" name="Text 1"/>
          <p:cNvSpPr/>
          <p:nvPr/>
        </p:nvSpPr>
        <p:spPr>
          <a:xfrm>
            <a:off x="640080" y="411480"/>
            <a:ext cx="7772400" cy="457200"/>
          </a:xfrm>
          <a:prstGeom prst="rect">
            <a:avLst/>
          </a:prstGeom>
          <a:noFill/>
          <a:ln/>
        </p:spPr>
        <p:txBody>
          <a:bodyPr wrap="square" lIns="0" tIns="0" rIns="0" bIns="0" rtlCol="0" anchor="ctr"/>
          <a:lstStyle/>
          <a:p>
            <a:pPr marL="0" indent="0">
              <a:buNone/>
            </a:pPr>
            <a:r>
              <a:rPr lang="en-US" sz="1400" b="1" kern="0" spc="200" dirty="0">
                <a:solidFill>
                  <a:srgbClr val="1D9E75"/>
                </a:solidFill>
                <a:latin typeface="Calibri" pitchFamily="34" charset="0"/>
                <a:ea typeface="Calibri" pitchFamily="34" charset="-122"/>
                <a:cs typeface="Calibri" pitchFamily="34" charset="-120"/>
              </a:rPr>
              <a:t>🧪  Ejercicio 6</a:t>
            </a:r>
            <a:endParaRPr lang="en-US" sz="1400" dirty="0"/>
          </a:p>
        </p:txBody>
      </p:sp>
      <p:sp>
        <p:nvSpPr>
          <p:cNvPr id="4" name="Text 2"/>
          <p:cNvSpPr/>
          <p:nvPr/>
        </p:nvSpPr>
        <p:spPr>
          <a:xfrm>
            <a:off x="640080" y="914400"/>
            <a:ext cx="7498080" cy="777240"/>
          </a:xfrm>
          <a:prstGeom prst="rect">
            <a:avLst/>
          </a:prstGeom>
          <a:noFill/>
          <a:ln/>
        </p:spPr>
        <p:txBody>
          <a:bodyPr wrap="square" lIns="0" tIns="0" rIns="0" bIns="0" rtlCol="0" anchor="ctr"/>
          <a:lstStyle/>
          <a:p>
            <a:pPr marL="0" indent="0">
              <a:buNone/>
            </a:pPr>
            <a:r>
              <a:rPr lang="en-US" sz="2800" b="1" dirty="0">
                <a:solidFill>
                  <a:srgbClr val="FFFFFF"/>
                </a:solidFill>
                <a:latin typeface="Cambria" pitchFamily="34" charset="0"/>
                <a:ea typeface="Cambria" pitchFamily="34" charset="-122"/>
                <a:cs typeface="Cambria" pitchFamily="34" charset="-120"/>
              </a:rPr>
              <a:t>Prompt vago vs. prompt estructurado</a:t>
            </a:r>
            <a:endParaRPr lang="en-US" sz="2800" dirty="0"/>
          </a:p>
        </p:txBody>
      </p:sp>
      <p:sp>
        <p:nvSpPr>
          <p:cNvPr id="5" name="Shape 3"/>
          <p:cNvSpPr/>
          <p:nvPr/>
        </p:nvSpPr>
        <p:spPr>
          <a:xfrm>
            <a:off x="640080" y="1828800"/>
            <a:ext cx="7863840" cy="1298448"/>
          </a:xfrm>
          <a:prstGeom prst="roundRect">
            <a:avLst>
              <a:gd name="adj" fmla="val 8451"/>
            </a:avLst>
          </a:prstGeom>
          <a:solidFill>
            <a:srgbClr val="1E1E35"/>
          </a:solidFill>
          <a:ln w="10160">
            <a:solidFill>
              <a:srgbClr val="534AB7"/>
            </a:solidFill>
            <a:prstDash val="solid"/>
          </a:ln>
        </p:spPr>
        <p:txBody>
          <a:bodyPr/>
          <a:lstStyle/>
          <a:p>
            <a:endParaRPr lang="es-ES_tradnl"/>
          </a:p>
        </p:txBody>
      </p:sp>
      <p:sp>
        <p:nvSpPr>
          <p:cNvPr id="6" name="Text 4"/>
          <p:cNvSpPr/>
          <p:nvPr/>
        </p:nvSpPr>
        <p:spPr>
          <a:xfrm>
            <a:off x="822960" y="1920240"/>
            <a:ext cx="7498080" cy="1115568"/>
          </a:xfrm>
          <a:prstGeom prst="rect">
            <a:avLst/>
          </a:prstGeom>
          <a:noFill/>
          <a:ln/>
        </p:spPr>
        <p:txBody>
          <a:bodyPr wrap="square" lIns="0" tIns="0" rIns="0" bIns="0" rtlCol="0" anchor="ctr"/>
          <a:lstStyle/>
          <a:p>
            <a:pPr marL="0" indent="0">
              <a:buNone/>
            </a:pPr>
            <a:r>
              <a:rPr lang="en-US" sz="1150" dirty="0">
                <a:solidFill>
                  <a:srgbClr val="7B74D4"/>
                </a:solidFill>
                <a:latin typeface="Calibri" pitchFamily="34" charset="0"/>
                <a:ea typeface="Calibri" pitchFamily="34" charset="-122"/>
                <a:cs typeface="Calibri" pitchFamily="34" charset="-120"/>
              </a:rPr>
              <a:t>Con el dataset de Atacama en contexto, haz la misma solicitud de dos formas:</a:t>
            </a:r>
            <a:endParaRPr lang="en-US" sz="1150" dirty="0"/>
          </a:p>
        </p:txBody>
      </p:sp>
      <p:sp>
        <p:nvSpPr>
          <p:cNvPr id="7" name="Text 5"/>
          <p:cNvSpPr/>
          <p:nvPr/>
        </p:nvSpPr>
        <p:spPr>
          <a:xfrm>
            <a:off x="640080" y="3291840"/>
            <a:ext cx="7863840" cy="1325880"/>
          </a:xfrm>
          <a:prstGeom prst="rect">
            <a:avLst/>
          </a:prstGeom>
          <a:noFill/>
          <a:ln/>
        </p:spPr>
        <p:txBody>
          <a:bodyPr wrap="square" rtlCol="0" anchor="ctr"/>
          <a:lstStyle/>
          <a:p>
            <a:pPr marL="342900" indent="-342900">
              <a:spcAft>
                <a:spcPts val="400"/>
              </a:spcAft>
              <a:buSzPct val="100000"/>
              <a:buChar char="•"/>
            </a:pPr>
            <a:r>
              <a:rPr lang="en-US" sz="1150" dirty="0">
                <a:solidFill>
                  <a:srgbClr val="FFFFFF"/>
                </a:solidFill>
                <a:latin typeface="Calibri" pitchFamily="34" charset="0"/>
                <a:ea typeface="Calibri" pitchFamily="34" charset="-122"/>
                <a:cs typeface="Calibri" pitchFamily="34" charset="-120"/>
              </a:rPr>
              <a:t>Versión A: 'Analiza la diversidad del dataset'</a:t>
            </a:r>
            <a:endParaRPr lang="en-US" sz="1150" dirty="0"/>
          </a:p>
          <a:p>
            <a:pPr marL="342900" indent="-342900">
              <a:spcAft>
                <a:spcPts val="400"/>
              </a:spcAft>
              <a:buSzPct val="100000"/>
              <a:buChar char="•"/>
            </a:pPr>
            <a:r>
              <a:rPr lang="en-US" sz="1150" dirty="0">
                <a:solidFill>
                  <a:srgbClr val="FFFFFF"/>
                </a:solidFill>
                <a:latin typeface="Calibri" pitchFamily="34" charset="0"/>
                <a:ea typeface="Calibri" pitchFamily="34" charset="-122"/>
                <a:cs typeface="Calibri" pitchFamily="34" charset="-120"/>
              </a:rPr>
              <a:t>Versión B: 'Antes de ejecutar, hazme un plan. Calcula Shannon por muestra. Regresiona Shannon vs. AvgSoilRH. Hipótesis: a menor humedad, menor diversidad.'</a:t>
            </a:r>
            <a:endParaRPr lang="en-US" sz="1150" dirty="0"/>
          </a:p>
          <a:p>
            <a:pPr marL="342900" indent="-342900">
              <a:spcAft>
                <a:spcPts val="400"/>
              </a:spcAft>
              <a:buSzPct val="100000"/>
              <a:buChar char="•"/>
            </a:pPr>
            <a:r>
              <a:rPr lang="en-US" sz="1150" dirty="0">
                <a:solidFill>
                  <a:srgbClr val="FFFFFF"/>
                </a:solidFill>
                <a:latin typeface="Calibri" pitchFamily="34" charset="0"/>
                <a:ea typeface="Calibri" pitchFamily="34" charset="-122"/>
                <a:cs typeface="Calibri" pitchFamily="34" charset="-120"/>
              </a:rPr>
              <a:t>¿Cuál requiere menos correcciones? ¿Cuál produjo un plan antes de ejecutar?</a:t>
            </a:r>
            <a:endParaRPr lang="en-US" sz="1150" dirty="0"/>
          </a:p>
        </p:txBody>
      </p:sp>
      <p:sp>
        <p:nvSpPr>
          <p:cNvPr id="8" name="Text 6"/>
          <p:cNvSpPr/>
          <p:nvPr/>
        </p:nvSpPr>
        <p:spPr>
          <a:xfrm>
            <a:off x="640080" y="4736592"/>
            <a:ext cx="7772400" cy="274320"/>
          </a:xfrm>
          <a:prstGeom prst="rect">
            <a:avLst/>
          </a:prstGeom>
          <a:noFill/>
          <a:ln/>
        </p:spPr>
        <p:txBody>
          <a:bodyPr wrap="square" lIns="0" tIns="0" rIns="0" bIns="0" rtlCol="0" anchor="ctr"/>
          <a:lstStyle/>
          <a:p>
            <a:pPr marL="0" indent="0">
              <a:buNone/>
            </a:pPr>
            <a:r>
              <a:rPr lang="en-US" sz="1000" i="1" dirty="0">
                <a:solidFill>
                  <a:srgbClr val="1D9E75"/>
                </a:solidFill>
                <a:latin typeface="Calibri" pitchFamily="34" charset="0"/>
                <a:ea typeface="Calibri" pitchFamily="34" charset="-122"/>
                <a:cs typeface="Calibri" pitchFamily="34" charset="-120"/>
              </a:rPr>
              <a:t>10 min · anota las diferencias para la discusión final</a:t>
            </a:r>
            <a:endParaRPr lang="en-US" sz="1000" dirty="0"/>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name="Slide 39">
    <p:bg>
      <p:bgPr>
        <a:solidFill>
          <a:srgbClr val="1A1A2E"/>
        </a:solidFill>
        <a:effectLst/>
      </p:bgPr>
    </p:bg>
    <p:spTree>
      <p:nvGrpSpPr>
        <p:cNvPr id="1" name=""/>
        <p:cNvGrpSpPr/>
        <p:nvPr/>
      </p:nvGrpSpPr>
      <p:grpSpPr>
        <a:xfrm>
          <a:off x="0" y="0"/>
          <a:ext cx="0" cy="0"/>
          <a:chOff x="0" y="0"/>
          <a:chExt cx="0" cy="0"/>
        </a:xfrm>
      </p:grpSpPr>
      <p:sp>
        <p:nvSpPr>
          <p:cNvPr id="2" name="Shape 0"/>
          <p:cNvSpPr/>
          <p:nvPr/>
        </p:nvSpPr>
        <p:spPr>
          <a:xfrm>
            <a:off x="5943600" y="-1097280"/>
            <a:ext cx="5029200" cy="5029200"/>
          </a:xfrm>
          <a:prstGeom prst="ellipse">
            <a:avLst/>
          </a:prstGeom>
          <a:solidFill>
            <a:srgbClr val="1D9E75">
              <a:alpha val="20000"/>
            </a:srgbClr>
          </a:solidFill>
          <a:ln w="12700">
            <a:solidFill>
              <a:srgbClr val="1D9E75">
                <a:alpha val="20000"/>
              </a:srgbClr>
            </a:solidFill>
            <a:prstDash val="solid"/>
          </a:ln>
        </p:spPr>
        <p:txBody>
          <a:bodyPr/>
          <a:lstStyle/>
          <a:p>
            <a:endParaRPr lang="es-ES_tradnl"/>
          </a:p>
        </p:txBody>
      </p:sp>
      <p:sp>
        <p:nvSpPr>
          <p:cNvPr id="3" name="Shape 1"/>
          <p:cNvSpPr/>
          <p:nvPr/>
        </p:nvSpPr>
        <p:spPr>
          <a:xfrm>
            <a:off x="-1371600" y="3474720"/>
            <a:ext cx="3657600" cy="3657600"/>
          </a:xfrm>
          <a:prstGeom prst="ellipse">
            <a:avLst/>
          </a:prstGeom>
          <a:solidFill>
            <a:srgbClr val="534AB7">
              <a:alpha val="18000"/>
            </a:srgbClr>
          </a:solidFill>
          <a:ln w="12700">
            <a:solidFill>
              <a:srgbClr val="534AB7">
                <a:alpha val="18000"/>
              </a:srgbClr>
            </a:solidFill>
            <a:prstDash val="solid"/>
          </a:ln>
        </p:spPr>
        <p:txBody>
          <a:bodyPr/>
          <a:lstStyle/>
          <a:p>
            <a:endParaRPr lang="es-ES_tradnl"/>
          </a:p>
        </p:txBody>
      </p:sp>
      <p:sp>
        <p:nvSpPr>
          <p:cNvPr id="4" name="Text 2"/>
          <p:cNvSpPr/>
          <p:nvPr/>
        </p:nvSpPr>
        <p:spPr>
          <a:xfrm>
            <a:off x="640080" y="731520"/>
            <a:ext cx="7772400" cy="457200"/>
          </a:xfrm>
          <a:prstGeom prst="rect">
            <a:avLst/>
          </a:prstGeom>
          <a:noFill/>
          <a:ln/>
        </p:spPr>
        <p:txBody>
          <a:bodyPr wrap="square" lIns="0" tIns="0" rIns="0" bIns="0" rtlCol="0" anchor="ctr"/>
          <a:lstStyle/>
          <a:p>
            <a:pPr marL="0" indent="0">
              <a:buNone/>
            </a:pPr>
            <a:r>
              <a:rPr lang="en-US" sz="1300" b="1" kern="0" spc="300" dirty="0">
                <a:solidFill>
                  <a:srgbClr val="7B74D4"/>
                </a:solidFill>
                <a:latin typeface="Calibri" pitchFamily="34" charset="0"/>
                <a:ea typeface="Calibri" pitchFamily="34" charset="-122"/>
                <a:cs typeface="Calibri" pitchFamily="34" charset="-120"/>
              </a:rPr>
              <a:t>Al cierre del día 1</a:t>
            </a:r>
            <a:endParaRPr lang="en-US" sz="1300" dirty="0"/>
          </a:p>
        </p:txBody>
      </p:sp>
      <p:sp>
        <p:nvSpPr>
          <p:cNvPr id="5" name="Text 3"/>
          <p:cNvSpPr/>
          <p:nvPr/>
        </p:nvSpPr>
        <p:spPr>
          <a:xfrm>
            <a:off x="640080" y="1234440"/>
            <a:ext cx="7772400" cy="777240"/>
          </a:xfrm>
          <a:prstGeom prst="rect">
            <a:avLst/>
          </a:prstGeom>
          <a:noFill/>
          <a:ln/>
        </p:spPr>
        <p:txBody>
          <a:bodyPr wrap="square" lIns="0" tIns="0" rIns="0" bIns="0" rtlCol="0" anchor="ctr"/>
          <a:lstStyle/>
          <a:p>
            <a:pPr marL="0" indent="0">
              <a:buNone/>
            </a:pPr>
            <a:r>
              <a:rPr lang="en-US" sz="3000" b="1" dirty="0">
                <a:solidFill>
                  <a:srgbClr val="FFFFFF"/>
                </a:solidFill>
                <a:latin typeface="Cambria" pitchFamily="34" charset="0"/>
                <a:ea typeface="Cambria" pitchFamily="34" charset="-122"/>
                <a:cs typeface="Cambria" pitchFamily="34" charset="-120"/>
              </a:rPr>
              <a:t>Tienes todo lo que necesitas para mañana</a:t>
            </a:r>
            <a:endParaRPr lang="en-US" sz="3000" dirty="0"/>
          </a:p>
        </p:txBody>
      </p:sp>
      <p:sp>
        <p:nvSpPr>
          <p:cNvPr id="6" name="Text 4"/>
          <p:cNvSpPr/>
          <p:nvPr/>
        </p:nvSpPr>
        <p:spPr>
          <a:xfrm>
            <a:off x="640080" y="2148840"/>
            <a:ext cx="5303520" cy="2743200"/>
          </a:xfrm>
          <a:prstGeom prst="rect">
            <a:avLst/>
          </a:prstGeom>
          <a:noFill/>
          <a:ln/>
        </p:spPr>
        <p:txBody>
          <a:bodyPr wrap="square" rtlCol="0" anchor="ctr"/>
          <a:lstStyle/>
          <a:p>
            <a:pPr marL="0" indent="0">
              <a:spcAft>
                <a:spcPts val="500"/>
              </a:spcAft>
              <a:buNone/>
            </a:pPr>
            <a:r>
              <a:rPr lang="en-US" sz="1150" dirty="0">
                <a:solidFill>
                  <a:srgbClr val="FFFFFF"/>
                </a:solidFill>
                <a:latin typeface="Calibri" pitchFamily="34" charset="0"/>
                <a:ea typeface="Calibri" pitchFamily="34" charset="-122"/>
                <a:cs typeface="Calibri" pitchFamily="34" charset="-120"/>
              </a:rPr>
              <a:t>✅  Entorno instalado, Claude Code autenticado y branch en GitHub</a:t>
            </a:r>
            <a:endParaRPr lang="en-US" sz="1150" dirty="0"/>
          </a:p>
          <a:p>
            <a:pPr marL="0" indent="0">
              <a:spcAft>
                <a:spcPts val="500"/>
              </a:spcAft>
              <a:buNone/>
            </a:pPr>
            <a:r>
              <a:rPr lang="en-US" sz="1150" dirty="0">
                <a:solidFill>
                  <a:srgbClr val="FFFFFF"/>
                </a:solidFill>
                <a:latin typeface="Calibri" pitchFamily="34" charset="0"/>
                <a:ea typeface="Calibri" pitchFamily="34" charset="-122"/>
                <a:cs typeface="Calibri" pitchFamily="34" charset="-120"/>
              </a:rPr>
              <a:t>✅  Sabes por qué GitHub es fundamental para ciencia reproducible con IA</a:t>
            </a:r>
            <a:endParaRPr lang="en-US" sz="1150" dirty="0"/>
          </a:p>
          <a:p>
            <a:pPr marL="0" indent="0">
              <a:spcAft>
                <a:spcPts val="500"/>
              </a:spcAft>
              <a:buNone/>
            </a:pPr>
            <a:r>
              <a:rPr lang="en-US" sz="1150" dirty="0">
                <a:solidFill>
                  <a:srgbClr val="FFFFFF"/>
                </a:solidFill>
                <a:latin typeface="Calibri" pitchFamily="34" charset="0"/>
                <a:ea typeface="Calibri" pitchFamily="34" charset="-122"/>
                <a:cs typeface="Calibri" pitchFamily="34" charset="-120"/>
              </a:rPr>
              <a:t>✅  Sabes cambiar de modelo con /model y economizar tokens</a:t>
            </a:r>
            <a:endParaRPr lang="en-US" sz="1150" dirty="0"/>
          </a:p>
          <a:p>
            <a:pPr marL="0" indent="0">
              <a:spcAft>
                <a:spcPts val="500"/>
              </a:spcAft>
              <a:buNone/>
            </a:pPr>
            <a:r>
              <a:rPr lang="en-US" sz="1150" dirty="0">
                <a:solidFill>
                  <a:srgbClr val="FFFFFF"/>
                </a:solidFill>
                <a:latin typeface="Calibri" pitchFamily="34" charset="0"/>
                <a:ea typeface="Calibri" pitchFamily="34" charset="-122"/>
                <a:cs typeface="Calibri" pitchFamily="34" charset="-120"/>
              </a:rPr>
              <a:t>✅  Entiendes el riesgo de contaminación de contexto entre proyectos</a:t>
            </a:r>
            <a:endParaRPr lang="en-US" sz="1150" dirty="0"/>
          </a:p>
          <a:p>
            <a:pPr marL="0" indent="0">
              <a:spcAft>
                <a:spcPts val="500"/>
              </a:spcAft>
              <a:buNone/>
            </a:pPr>
            <a:r>
              <a:rPr lang="en-US" sz="1150" dirty="0">
                <a:solidFill>
                  <a:srgbClr val="FFFFFF"/>
                </a:solidFill>
                <a:latin typeface="Calibri" pitchFamily="34" charset="0"/>
                <a:ea typeface="Calibri" pitchFamily="34" charset="-122"/>
                <a:cs typeface="Calibri" pitchFamily="34" charset="-120"/>
              </a:rPr>
              <a:t>✅  Sabes usar /add, /clear, /memory y claude init</a:t>
            </a:r>
            <a:endParaRPr lang="en-US" sz="1150" dirty="0"/>
          </a:p>
          <a:p>
            <a:pPr marL="0" indent="0">
              <a:spcAft>
                <a:spcPts val="500"/>
              </a:spcAft>
              <a:buNone/>
            </a:pPr>
            <a:r>
              <a:rPr lang="en-US" sz="1150" dirty="0">
                <a:solidFill>
                  <a:srgbClr val="FFFFFF"/>
                </a:solidFill>
                <a:latin typeface="Calibri" pitchFamily="34" charset="0"/>
                <a:ea typeface="Calibri" pitchFamily="34" charset="-122"/>
                <a:cs typeface="Calibri" pitchFamily="34" charset="-120"/>
              </a:rPr>
              <a:t>✅  Tu CLAUDE.md tiene contexto del proyecto Atacama con al menos 1 skill</a:t>
            </a:r>
            <a:endParaRPr lang="en-US" sz="1150" dirty="0"/>
          </a:p>
          <a:p>
            <a:pPr marL="0" indent="0">
              <a:spcAft>
                <a:spcPts val="500"/>
              </a:spcAft>
              <a:buNone/>
            </a:pPr>
            <a:r>
              <a:rPr lang="en-US" sz="1150" dirty="0">
                <a:solidFill>
                  <a:srgbClr val="FFFFFF"/>
                </a:solidFill>
                <a:latin typeface="Calibri" pitchFamily="34" charset="0"/>
                <a:ea typeface="Calibri" pitchFamily="34" charset="-122"/>
                <a:cs typeface="Calibri" pitchFamily="34" charset="-120"/>
              </a:rPr>
              <a:t>✅  Sabes pedir plan antes de ejecutar y verificar resultados</a:t>
            </a:r>
            <a:endParaRPr lang="en-US" sz="1150" dirty="0"/>
          </a:p>
        </p:txBody>
      </p:sp>
      <p:sp>
        <p:nvSpPr>
          <p:cNvPr id="7" name="Shape 5"/>
          <p:cNvSpPr/>
          <p:nvPr/>
        </p:nvSpPr>
        <p:spPr>
          <a:xfrm>
            <a:off x="6217920" y="2148840"/>
            <a:ext cx="2651760" cy="2743200"/>
          </a:xfrm>
          <a:prstGeom prst="roundRect">
            <a:avLst>
              <a:gd name="adj" fmla="val 4138"/>
            </a:avLst>
          </a:prstGeom>
          <a:solidFill>
            <a:srgbClr val="1E1E35"/>
          </a:solidFill>
          <a:ln w="12700">
            <a:solidFill>
              <a:srgbClr val="1D9E75"/>
            </a:solidFill>
            <a:prstDash val="solid"/>
          </a:ln>
        </p:spPr>
        <p:txBody>
          <a:bodyPr/>
          <a:lstStyle/>
          <a:p>
            <a:endParaRPr lang="es-ES_tradnl"/>
          </a:p>
        </p:txBody>
      </p:sp>
      <p:sp>
        <p:nvSpPr>
          <p:cNvPr id="8" name="Text 6"/>
          <p:cNvSpPr/>
          <p:nvPr/>
        </p:nvSpPr>
        <p:spPr>
          <a:xfrm>
            <a:off x="6382512" y="2267712"/>
            <a:ext cx="2331720" cy="365760"/>
          </a:xfrm>
          <a:prstGeom prst="rect">
            <a:avLst/>
          </a:prstGeom>
          <a:noFill/>
          <a:ln/>
        </p:spPr>
        <p:txBody>
          <a:bodyPr wrap="square" lIns="0" tIns="0" rIns="0" bIns="0" rtlCol="0" anchor="ctr"/>
          <a:lstStyle/>
          <a:p>
            <a:pPr marL="0" indent="0">
              <a:buNone/>
            </a:pPr>
            <a:r>
              <a:rPr lang="en-US" sz="1300" b="1" dirty="0">
                <a:solidFill>
                  <a:srgbClr val="1D9E75"/>
                </a:solidFill>
                <a:latin typeface="Cambria" pitchFamily="34" charset="0"/>
                <a:ea typeface="Cambria" pitchFamily="34" charset="-122"/>
                <a:cs typeface="Cambria" pitchFamily="34" charset="-120"/>
              </a:rPr>
              <a:t>Mañana</a:t>
            </a:r>
            <a:endParaRPr lang="en-US" sz="1300" dirty="0"/>
          </a:p>
        </p:txBody>
      </p:sp>
      <p:sp>
        <p:nvSpPr>
          <p:cNvPr id="9" name="Text 7"/>
          <p:cNvSpPr/>
          <p:nvPr/>
        </p:nvSpPr>
        <p:spPr>
          <a:xfrm>
            <a:off x="6382512" y="2724912"/>
            <a:ext cx="2331720" cy="2057400"/>
          </a:xfrm>
          <a:prstGeom prst="rect">
            <a:avLst/>
          </a:prstGeom>
          <a:noFill/>
          <a:ln/>
        </p:spPr>
        <p:txBody>
          <a:bodyPr wrap="square" lIns="0" tIns="0" rIns="0" bIns="0" rtlCol="0" anchor="ctr"/>
          <a:lstStyle/>
          <a:p>
            <a:pPr marL="0" indent="0">
              <a:buNone/>
            </a:pPr>
            <a:r>
              <a:rPr lang="en-US" sz="1050" dirty="0">
                <a:solidFill>
                  <a:srgbClr val="FFFFFF"/>
                </a:solidFill>
                <a:latin typeface="Calibri" pitchFamily="34" charset="0"/>
                <a:ea typeface="Calibri" pitchFamily="34" charset="-122"/>
                <a:cs typeface="Calibri" pitchFamily="34" charset="-120"/>
              </a:rPr>
              <a:t>Día 2 · 09:00</a:t>
            </a:r>
            <a:endParaRPr lang="en-US" sz="1050" dirty="0"/>
          </a:p>
          <a:p>
            <a:pPr marL="0" indent="0">
              <a:buNone/>
            </a:pPr>
            <a:endParaRPr lang="en-US" sz="1050" dirty="0"/>
          </a:p>
          <a:p>
            <a:pPr marL="0" indent="0">
              <a:buNone/>
            </a:pPr>
            <a:r>
              <a:rPr lang="en-US" sz="1050" dirty="0">
                <a:solidFill>
                  <a:srgbClr val="FFFFFF"/>
                </a:solidFill>
                <a:latin typeface="Calibri" pitchFamily="34" charset="0"/>
                <a:ea typeface="Calibri" pitchFamily="34" charset="-122"/>
                <a:cs typeface="Calibri" pitchFamily="34" charset="-120"/>
              </a:rPr>
              <a:t>El paper de Neilson, el dataset de Atacama, y la pregunta real:</a:t>
            </a:r>
            <a:endParaRPr lang="en-US" sz="1050" dirty="0"/>
          </a:p>
          <a:p>
            <a:pPr marL="0" indent="0">
              <a:buNone/>
            </a:pPr>
            <a:endParaRPr lang="en-US" sz="1050" dirty="0"/>
          </a:p>
          <a:p>
            <a:pPr marL="0" indent="0">
              <a:buNone/>
            </a:pPr>
            <a:r>
              <a:rPr lang="en-US" sz="1050" dirty="0">
                <a:solidFill>
                  <a:srgbClr val="FFFFFF"/>
                </a:solidFill>
                <a:latin typeface="Calibri" pitchFamily="34" charset="0"/>
                <a:ea typeface="Calibri" pitchFamily="34" charset="-122"/>
                <a:cs typeface="Calibri" pitchFamily="34" charset="-120"/>
              </a:rPr>
              <a:t>¿Cómo afecta la aridez a la comunidad microbiana del suelo?</a:t>
            </a:r>
            <a:endParaRPr lang="en-US" sz="105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616</TotalTime>
  <Words>5412</Words>
  <Application>Microsoft Macintosh PowerPoint</Application>
  <PresentationFormat>On-screen Show (16:9)</PresentationFormat>
  <Paragraphs>566</Paragraphs>
  <Slides>40</Slides>
  <Notes>40</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40</vt:i4>
      </vt:variant>
    </vt:vector>
  </HeadingPairs>
  <TitlesOfParts>
    <vt:vector size="45" baseType="lpstr">
      <vt:lpstr>Arial</vt:lpstr>
      <vt:lpstr>Calibri</vt:lpstr>
      <vt:lpstr>Cambria</vt:lpstr>
      <vt:lpstr>Courier New</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Curso — Dia 1 completo · M1 al M6</dc:title>
  <dc:subject>PptxGenJS Presentation</dc:subject>
  <dc:creator>PptxGenJS</dc:creator>
  <cp:lastModifiedBy>MUÑOZ REHBEIN CRISTINA ANDREA</cp:lastModifiedBy>
  <cp:revision>2</cp:revision>
  <dcterms:created xsi:type="dcterms:W3CDTF">2026-07-05T21:32:44Z</dcterms:created>
  <dcterms:modified xsi:type="dcterms:W3CDTF">2026-07-06T13:09:54Z</dcterms:modified>
</cp:coreProperties>
</file>